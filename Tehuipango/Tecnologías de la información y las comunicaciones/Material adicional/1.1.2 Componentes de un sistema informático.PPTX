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92" r:id="rId4"/>
    <p:sldId id="288" r:id="rId5"/>
    <p:sldId id="289" r:id="rId6"/>
    <p:sldId id="290" r:id="rId7"/>
    <p:sldId id="291" r:id="rId8"/>
    <p:sldId id="274" r:id="rId9"/>
    <p:sldId id="275" r:id="rId10"/>
    <p:sldId id="276" r:id="rId11"/>
    <p:sldId id="277" r:id="rId12"/>
    <p:sldId id="278" r:id="rId13"/>
    <p:sldId id="279" r:id="rId14"/>
    <p:sldId id="280" r:id="rId15"/>
    <p:sldId id="281" r:id="rId16"/>
    <p:sldId id="282" r:id="rId17"/>
    <p:sldId id="284" r:id="rId18"/>
    <p:sldId id="293" r:id="rId19"/>
    <p:sldId id="283" r:id="rId20"/>
    <p:sldId id="285" r:id="rId21"/>
    <p:sldId id="286" r:id="rId22"/>
    <p:sldId id="287" r:id="rId23"/>
    <p:sldId id="259" r:id="rId24"/>
    <p:sldId id="258" r:id="rId25"/>
    <p:sldId id="257" r:id="rId26"/>
    <p:sldId id="295" r:id="rId27"/>
    <p:sldId id="294" r:id="rId28"/>
  </p:sldIdLst>
  <p:sldSz cx="9144000" cy="6858000" type="screen4x3"/>
  <p:notesSz cx="6858000" cy="9144000"/>
  <p:defaultTextStyle>
    <a:defPPr>
      <a:defRPr lang="es-E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66"/>
    <a:srgbClr val="FEFDEC"/>
    <a:srgbClr val="9E930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60"/>
  </p:normalViewPr>
  <p:slideViewPr>
    <p:cSldViewPr>
      <p:cViewPr varScale="1">
        <p:scale>
          <a:sx n="72" d="100"/>
          <a:sy n="72" d="100"/>
        </p:scale>
        <p:origin x="132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143000" y="1122363"/>
            <a:ext cx="6858000" cy="2387600"/>
          </a:xfrm>
        </p:spPr>
        <p:txBody>
          <a:bodyPr anchor="b"/>
          <a:lstStyle>
            <a:lvl1pPr algn="ctr">
              <a:defRPr sz="6000"/>
            </a:lvl1pPr>
          </a:lstStyle>
          <a:p>
            <a:r>
              <a:rPr lang="es-ES"/>
              <a:t>Haga clic para modificar el estilo de título del patrón</a:t>
            </a:r>
            <a:endParaRPr lang="es-MX"/>
          </a:p>
        </p:txBody>
      </p:sp>
      <p:sp>
        <p:nvSpPr>
          <p:cNvPr id="3" name="Subtítulo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MX"/>
          </a:p>
        </p:txBody>
      </p:sp>
      <p:sp>
        <p:nvSpPr>
          <p:cNvPr id="4" name="Marcador de fecha 3"/>
          <p:cNvSpPr>
            <a:spLocks noGrp="1"/>
          </p:cNvSpPr>
          <p:nvPr>
            <p:ph type="dt" sz="half" idx="10"/>
          </p:nvPr>
        </p:nvSpPr>
        <p:spPr/>
        <p:txBody>
          <a:bodyPr/>
          <a:lstStyle>
            <a:lvl1pPr>
              <a:defRPr/>
            </a:lvl1pPr>
          </a:lstStyle>
          <a:p>
            <a:endParaRPr lang="es-ES" altLang="es-MX"/>
          </a:p>
        </p:txBody>
      </p:sp>
      <p:sp>
        <p:nvSpPr>
          <p:cNvPr id="5" name="Marcador de pie de página 4"/>
          <p:cNvSpPr>
            <a:spLocks noGrp="1"/>
          </p:cNvSpPr>
          <p:nvPr>
            <p:ph type="ftr" sz="quarter" idx="11"/>
          </p:nvPr>
        </p:nvSpPr>
        <p:spPr/>
        <p:txBody>
          <a:bodyPr/>
          <a:lstStyle>
            <a:lvl1pPr>
              <a:defRPr/>
            </a:lvl1pPr>
          </a:lstStyle>
          <a:p>
            <a:endParaRPr lang="es-ES" altLang="es-MX"/>
          </a:p>
        </p:txBody>
      </p:sp>
      <p:sp>
        <p:nvSpPr>
          <p:cNvPr id="6" name="Marcador de número de diapositiva 5"/>
          <p:cNvSpPr>
            <a:spLocks noGrp="1"/>
          </p:cNvSpPr>
          <p:nvPr>
            <p:ph type="sldNum" sz="quarter" idx="12"/>
          </p:nvPr>
        </p:nvSpPr>
        <p:spPr/>
        <p:txBody>
          <a:bodyPr/>
          <a:lstStyle>
            <a:lvl1pPr>
              <a:defRPr/>
            </a:lvl1pPr>
          </a:lstStyle>
          <a:p>
            <a:fld id="{73B0AA0C-8EC5-4965-AF06-D73D1F3EFE83}" type="slidenum">
              <a:rPr lang="es-ES" altLang="es-MX"/>
              <a:pPr/>
              <a:t>‹Nº›</a:t>
            </a:fld>
            <a:endParaRPr lang="es-ES" altLang="es-MX"/>
          </a:p>
        </p:txBody>
      </p:sp>
    </p:spTree>
    <p:extLst>
      <p:ext uri="{BB962C8B-B14F-4D97-AF65-F5344CB8AC3E}">
        <p14:creationId xmlns:p14="http://schemas.microsoft.com/office/powerpoint/2010/main" val="1699726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lvl1pPr>
              <a:defRPr/>
            </a:lvl1pPr>
          </a:lstStyle>
          <a:p>
            <a:endParaRPr lang="es-ES" altLang="es-MX"/>
          </a:p>
        </p:txBody>
      </p:sp>
      <p:sp>
        <p:nvSpPr>
          <p:cNvPr id="5" name="Marcador de pie de página 4"/>
          <p:cNvSpPr>
            <a:spLocks noGrp="1"/>
          </p:cNvSpPr>
          <p:nvPr>
            <p:ph type="ftr" sz="quarter" idx="11"/>
          </p:nvPr>
        </p:nvSpPr>
        <p:spPr/>
        <p:txBody>
          <a:bodyPr/>
          <a:lstStyle>
            <a:lvl1pPr>
              <a:defRPr/>
            </a:lvl1pPr>
          </a:lstStyle>
          <a:p>
            <a:endParaRPr lang="es-ES" altLang="es-MX"/>
          </a:p>
        </p:txBody>
      </p:sp>
      <p:sp>
        <p:nvSpPr>
          <p:cNvPr id="6" name="Marcador de número de diapositiva 5"/>
          <p:cNvSpPr>
            <a:spLocks noGrp="1"/>
          </p:cNvSpPr>
          <p:nvPr>
            <p:ph type="sldNum" sz="quarter" idx="12"/>
          </p:nvPr>
        </p:nvSpPr>
        <p:spPr/>
        <p:txBody>
          <a:bodyPr/>
          <a:lstStyle>
            <a:lvl1pPr>
              <a:defRPr/>
            </a:lvl1pPr>
          </a:lstStyle>
          <a:p>
            <a:fld id="{140B0177-3F25-40FF-9B0C-1832E8FE1D44}" type="slidenum">
              <a:rPr lang="es-ES" altLang="es-MX"/>
              <a:pPr/>
              <a:t>‹Nº›</a:t>
            </a:fld>
            <a:endParaRPr lang="es-ES" altLang="es-MX"/>
          </a:p>
        </p:txBody>
      </p:sp>
    </p:spTree>
    <p:extLst>
      <p:ext uri="{BB962C8B-B14F-4D97-AF65-F5344CB8AC3E}">
        <p14:creationId xmlns:p14="http://schemas.microsoft.com/office/powerpoint/2010/main" val="3449812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623888" y="1709738"/>
            <a:ext cx="7886700" cy="2852737"/>
          </a:xfrm>
        </p:spPr>
        <p:txBody>
          <a:bodyPr anchor="b"/>
          <a:lstStyle>
            <a:lvl1pPr>
              <a:defRPr sz="6000"/>
            </a:lvl1pPr>
          </a:lstStyle>
          <a:p>
            <a:r>
              <a:rPr lang="es-ES"/>
              <a:t>Haga clic para modificar el estilo de título del patrón</a:t>
            </a:r>
            <a:endParaRPr lang="es-MX"/>
          </a:p>
        </p:txBody>
      </p:sp>
      <p:sp>
        <p:nvSpPr>
          <p:cNvPr id="3" name="Marcador de texto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s-ES"/>
              <a:t>Editar el estilo de texto del patrón</a:t>
            </a:r>
          </a:p>
        </p:txBody>
      </p:sp>
      <p:sp>
        <p:nvSpPr>
          <p:cNvPr id="4" name="Marcador de fecha 3"/>
          <p:cNvSpPr>
            <a:spLocks noGrp="1"/>
          </p:cNvSpPr>
          <p:nvPr>
            <p:ph type="dt" sz="half" idx="10"/>
          </p:nvPr>
        </p:nvSpPr>
        <p:spPr/>
        <p:txBody>
          <a:bodyPr/>
          <a:lstStyle>
            <a:lvl1pPr>
              <a:defRPr/>
            </a:lvl1pPr>
          </a:lstStyle>
          <a:p>
            <a:endParaRPr lang="es-ES" altLang="es-MX"/>
          </a:p>
        </p:txBody>
      </p:sp>
      <p:sp>
        <p:nvSpPr>
          <p:cNvPr id="5" name="Marcador de pie de página 4"/>
          <p:cNvSpPr>
            <a:spLocks noGrp="1"/>
          </p:cNvSpPr>
          <p:nvPr>
            <p:ph type="ftr" sz="quarter" idx="11"/>
          </p:nvPr>
        </p:nvSpPr>
        <p:spPr/>
        <p:txBody>
          <a:bodyPr/>
          <a:lstStyle>
            <a:lvl1pPr>
              <a:defRPr/>
            </a:lvl1pPr>
          </a:lstStyle>
          <a:p>
            <a:endParaRPr lang="es-ES" altLang="es-MX"/>
          </a:p>
        </p:txBody>
      </p:sp>
      <p:sp>
        <p:nvSpPr>
          <p:cNvPr id="6" name="Marcador de número de diapositiva 5"/>
          <p:cNvSpPr>
            <a:spLocks noGrp="1"/>
          </p:cNvSpPr>
          <p:nvPr>
            <p:ph type="sldNum" sz="quarter" idx="12"/>
          </p:nvPr>
        </p:nvSpPr>
        <p:spPr/>
        <p:txBody>
          <a:bodyPr/>
          <a:lstStyle>
            <a:lvl1pPr>
              <a:defRPr/>
            </a:lvl1pPr>
          </a:lstStyle>
          <a:p>
            <a:fld id="{CFD1E723-D4CC-48B1-962B-7CA1AEA67972}" type="slidenum">
              <a:rPr lang="es-ES" altLang="es-MX"/>
              <a:pPr/>
              <a:t>‹Nº›</a:t>
            </a:fld>
            <a:endParaRPr lang="es-ES" altLang="es-MX"/>
          </a:p>
        </p:txBody>
      </p:sp>
    </p:spTree>
    <p:extLst>
      <p:ext uri="{BB962C8B-B14F-4D97-AF65-F5344CB8AC3E}">
        <p14:creationId xmlns:p14="http://schemas.microsoft.com/office/powerpoint/2010/main" val="182403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sz="half" idx="1"/>
          </p:nvPr>
        </p:nvSpPr>
        <p:spPr>
          <a:xfrm>
            <a:off x="685800" y="1981200"/>
            <a:ext cx="3810000" cy="4114800"/>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p:cNvSpPr>
            <a:spLocks noGrp="1"/>
          </p:cNvSpPr>
          <p:nvPr>
            <p:ph sz="half" idx="2"/>
          </p:nvPr>
        </p:nvSpPr>
        <p:spPr>
          <a:xfrm>
            <a:off x="4648200" y="1981200"/>
            <a:ext cx="3810000" cy="4114800"/>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p:cNvSpPr>
            <a:spLocks noGrp="1"/>
          </p:cNvSpPr>
          <p:nvPr>
            <p:ph type="dt" sz="half" idx="10"/>
          </p:nvPr>
        </p:nvSpPr>
        <p:spPr/>
        <p:txBody>
          <a:bodyPr/>
          <a:lstStyle>
            <a:lvl1pPr>
              <a:defRPr/>
            </a:lvl1pPr>
          </a:lstStyle>
          <a:p>
            <a:endParaRPr lang="es-ES" altLang="es-MX"/>
          </a:p>
        </p:txBody>
      </p:sp>
      <p:sp>
        <p:nvSpPr>
          <p:cNvPr id="6" name="Marcador de pie de página 5"/>
          <p:cNvSpPr>
            <a:spLocks noGrp="1"/>
          </p:cNvSpPr>
          <p:nvPr>
            <p:ph type="ftr" sz="quarter" idx="11"/>
          </p:nvPr>
        </p:nvSpPr>
        <p:spPr/>
        <p:txBody>
          <a:bodyPr/>
          <a:lstStyle>
            <a:lvl1pPr>
              <a:defRPr/>
            </a:lvl1pPr>
          </a:lstStyle>
          <a:p>
            <a:endParaRPr lang="es-ES" altLang="es-MX"/>
          </a:p>
        </p:txBody>
      </p:sp>
      <p:sp>
        <p:nvSpPr>
          <p:cNvPr id="7" name="Marcador de número de diapositiva 6"/>
          <p:cNvSpPr>
            <a:spLocks noGrp="1"/>
          </p:cNvSpPr>
          <p:nvPr>
            <p:ph type="sldNum" sz="quarter" idx="12"/>
          </p:nvPr>
        </p:nvSpPr>
        <p:spPr/>
        <p:txBody>
          <a:bodyPr/>
          <a:lstStyle>
            <a:lvl1pPr>
              <a:defRPr/>
            </a:lvl1pPr>
          </a:lstStyle>
          <a:p>
            <a:fld id="{5576D780-F7F6-46F1-9657-0AA5B8ED3130}" type="slidenum">
              <a:rPr lang="es-ES" altLang="es-MX"/>
              <a:pPr/>
              <a:t>‹Nº›</a:t>
            </a:fld>
            <a:endParaRPr lang="es-ES" altLang="es-MX"/>
          </a:p>
        </p:txBody>
      </p:sp>
    </p:spTree>
    <p:extLst>
      <p:ext uri="{BB962C8B-B14F-4D97-AF65-F5344CB8AC3E}">
        <p14:creationId xmlns:p14="http://schemas.microsoft.com/office/powerpoint/2010/main" val="2233277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630238" y="365125"/>
            <a:ext cx="7886700" cy="1325563"/>
          </a:xfrm>
        </p:spPr>
        <p:txBody>
          <a:bodyPr/>
          <a:lstStyle/>
          <a:p>
            <a:r>
              <a:rPr lang="es-ES"/>
              <a:t>Haga clic para modificar el estilo de título del patrón</a:t>
            </a:r>
            <a:endParaRPr lang="es-MX"/>
          </a:p>
        </p:txBody>
      </p:sp>
      <p:sp>
        <p:nvSpPr>
          <p:cNvPr id="3" name="Marcador de texto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630238" y="2505075"/>
            <a:ext cx="386873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4629150" y="2505075"/>
            <a:ext cx="38877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p:cNvSpPr>
            <a:spLocks noGrp="1"/>
          </p:cNvSpPr>
          <p:nvPr>
            <p:ph type="dt" sz="half" idx="10"/>
          </p:nvPr>
        </p:nvSpPr>
        <p:spPr/>
        <p:txBody>
          <a:bodyPr/>
          <a:lstStyle>
            <a:lvl1pPr>
              <a:defRPr/>
            </a:lvl1pPr>
          </a:lstStyle>
          <a:p>
            <a:endParaRPr lang="es-ES" altLang="es-MX"/>
          </a:p>
        </p:txBody>
      </p:sp>
      <p:sp>
        <p:nvSpPr>
          <p:cNvPr id="8" name="Marcador de pie de página 7"/>
          <p:cNvSpPr>
            <a:spLocks noGrp="1"/>
          </p:cNvSpPr>
          <p:nvPr>
            <p:ph type="ftr" sz="quarter" idx="11"/>
          </p:nvPr>
        </p:nvSpPr>
        <p:spPr/>
        <p:txBody>
          <a:bodyPr/>
          <a:lstStyle>
            <a:lvl1pPr>
              <a:defRPr/>
            </a:lvl1pPr>
          </a:lstStyle>
          <a:p>
            <a:endParaRPr lang="es-ES" altLang="es-MX"/>
          </a:p>
        </p:txBody>
      </p:sp>
      <p:sp>
        <p:nvSpPr>
          <p:cNvPr id="9" name="Marcador de número de diapositiva 8"/>
          <p:cNvSpPr>
            <a:spLocks noGrp="1"/>
          </p:cNvSpPr>
          <p:nvPr>
            <p:ph type="sldNum" sz="quarter" idx="12"/>
          </p:nvPr>
        </p:nvSpPr>
        <p:spPr/>
        <p:txBody>
          <a:bodyPr/>
          <a:lstStyle>
            <a:lvl1pPr>
              <a:defRPr/>
            </a:lvl1pPr>
          </a:lstStyle>
          <a:p>
            <a:fld id="{A57EC779-7BF0-42C8-9D8A-A33BEA8C1171}" type="slidenum">
              <a:rPr lang="es-ES" altLang="es-MX"/>
              <a:pPr/>
              <a:t>‹Nº›</a:t>
            </a:fld>
            <a:endParaRPr lang="es-ES" altLang="es-MX"/>
          </a:p>
        </p:txBody>
      </p:sp>
    </p:spTree>
    <p:extLst>
      <p:ext uri="{BB962C8B-B14F-4D97-AF65-F5344CB8AC3E}">
        <p14:creationId xmlns:p14="http://schemas.microsoft.com/office/powerpoint/2010/main" val="1449469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fecha 2"/>
          <p:cNvSpPr>
            <a:spLocks noGrp="1"/>
          </p:cNvSpPr>
          <p:nvPr>
            <p:ph type="dt" sz="half" idx="10"/>
          </p:nvPr>
        </p:nvSpPr>
        <p:spPr/>
        <p:txBody>
          <a:bodyPr/>
          <a:lstStyle>
            <a:lvl1pPr>
              <a:defRPr/>
            </a:lvl1pPr>
          </a:lstStyle>
          <a:p>
            <a:endParaRPr lang="es-ES" altLang="es-MX"/>
          </a:p>
        </p:txBody>
      </p:sp>
      <p:sp>
        <p:nvSpPr>
          <p:cNvPr id="4" name="Marcador de pie de página 3"/>
          <p:cNvSpPr>
            <a:spLocks noGrp="1"/>
          </p:cNvSpPr>
          <p:nvPr>
            <p:ph type="ftr" sz="quarter" idx="11"/>
          </p:nvPr>
        </p:nvSpPr>
        <p:spPr/>
        <p:txBody>
          <a:bodyPr/>
          <a:lstStyle>
            <a:lvl1pPr>
              <a:defRPr/>
            </a:lvl1pPr>
          </a:lstStyle>
          <a:p>
            <a:endParaRPr lang="es-ES" altLang="es-MX"/>
          </a:p>
        </p:txBody>
      </p:sp>
      <p:sp>
        <p:nvSpPr>
          <p:cNvPr id="5" name="Marcador de número de diapositiva 4"/>
          <p:cNvSpPr>
            <a:spLocks noGrp="1"/>
          </p:cNvSpPr>
          <p:nvPr>
            <p:ph type="sldNum" sz="quarter" idx="12"/>
          </p:nvPr>
        </p:nvSpPr>
        <p:spPr/>
        <p:txBody>
          <a:bodyPr/>
          <a:lstStyle>
            <a:lvl1pPr>
              <a:defRPr/>
            </a:lvl1pPr>
          </a:lstStyle>
          <a:p>
            <a:fld id="{52933B49-1C4C-4E78-AB40-1D7AA2E5FF41}" type="slidenum">
              <a:rPr lang="es-ES" altLang="es-MX"/>
              <a:pPr/>
              <a:t>‹Nº›</a:t>
            </a:fld>
            <a:endParaRPr lang="es-ES" altLang="es-MX"/>
          </a:p>
        </p:txBody>
      </p:sp>
    </p:spTree>
    <p:extLst>
      <p:ext uri="{BB962C8B-B14F-4D97-AF65-F5344CB8AC3E}">
        <p14:creationId xmlns:p14="http://schemas.microsoft.com/office/powerpoint/2010/main" val="3267679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lvl1pPr>
              <a:defRPr/>
            </a:lvl1pPr>
          </a:lstStyle>
          <a:p>
            <a:endParaRPr lang="es-ES" altLang="es-MX"/>
          </a:p>
        </p:txBody>
      </p:sp>
      <p:sp>
        <p:nvSpPr>
          <p:cNvPr id="3" name="Marcador de pie de página 2"/>
          <p:cNvSpPr>
            <a:spLocks noGrp="1"/>
          </p:cNvSpPr>
          <p:nvPr>
            <p:ph type="ftr" sz="quarter" idx="11"/>
          </p:nvPr>
        </p:nvSpPr>
        <p:spPr/>
        <p:txBody>
          <a:bodyPr/>
          <a:lstStyle>
            <a:lvl1pPr>
              <a:defRPr/>
            </a:lvl1pPr>
          </a:lstStyle>
          <a:p>
            <a:endParaRPr lang="es-ES" altLang="es-MX"/>
          </a:p>
        </p:txBody>
      </p:sp>
      <p:sp>
        <p:nvSpPr>
          <p:cNvPr id="4" name="Marcador de número de diapositiva 3"/>
          <p:cNvSpPr>
            <a:spLocks noGrp="1"/>
          </p:cNvSpPr>
          <p:nvPr>
            <p:ph type="sldNum" sz="quarter" idx="12"/>
          </p:nvPr>
        </p:nvSpPr>
        <p:spPr/>
        <p:txBody>
          <a:bodyPr/>
          <a:lstStyle>
            <a:lvl1pPr>
              <a:defRPr/>
            </a:lvl1pPr>
          </a:lstStyle>
          <a:p>
            <a:fld id="{809061D2-28FA-488C-AC8A-73AE61E1CE98}" type="slidenum">
              <a:rPr lang="es-ES" altLang="es-MX"/>
              <a:pPr/>
              <a:t>‹Nº›</a:t>
            </a:fld>
            <a:endParaRPr lang="es-ES" altLang="es-MX"/>
          </a:p>
        </p:txBody>
      </p:sp>
    </p:spTree>
    <p:extLst>
      <p:ext uri="{BB962C8B-B14F-4D97-AF65-F5344CB8AC3E}">
        <p14:creationId xmlns:p14="http://schemas.microsoft.com/office/powerpoint/2010/main" val="1246124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30238" y="457200"/>
            <a:ext cx="2949575" cy="1600200"/>
          </a:xfrm>
        </p:spPr>
        <p:txBody>
          <a:bodyPr anchor="b"/>
          <a:lstStyle>
            <a:lvl1pPr>
              <a:defRPr sz="3200"/>
            </a:lvl1pPr>
          </a:lstStyle>
          <a:p>
            <a:r>
              <a:rPr lang="es-ES"/>
              <a:t>Haga clic para modificar el estilo de título del patrón</a:t>
            </a:r>
            <a:endParaRPr lang="es-MX"/>
          </a:p>
        </p:txBody>
      </p:sp>
      <p:sp>
        <p:nvSpPr>
          <p:cNvPr id="3" name="Marcador de contenido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lvl1pPr>
              <a:defRPr/>
            </a:lvl1pPr>
          </a:lstStyle>
          <a:p>
            <a:endParaRPr lang="es-ES" altLang="es-MX"/>
          </a:p>
        </p:txBody>
      </p:sp>
      <p:sp>
        <p:nvSpPr>
          <p:cNvPr id="6" name="Marcador de pie de página 5"/>
          <p:cNvSpPr>
            <a:spLocks noGrp="1"/>
          </p:cNvSpPr>
          <p:nvPr>
            <p:ph type="ftr" sz="quarter" idx="11"/>
          </p:nvPr>
        </p:nvSpPr>
        <p:spPr/>
        <p:txBody>
          <a:bodyPr/>
          <a:lstStyle>
            <a:lvl1pPr>
              <a:defRPr/>
            </a:lvl1pPr>
          </a:lstStyle>
          <a:p>
            <a:endParaRPr lang="es-ES" altLang="es-MX"/>
          </a:p>
        </p:txBody>
      </p:sp>
      <p:sp>
        <p:nvSpPr>
          <p:cNvPr id="7" name="Marcador de número de diapositiva 6"/>
          <p:cNvSpPr>
            <a:spLocks noGrp="1"/>
          </p:cNvSpPr>
          <p:nvPr>
            <p:ph type="sldNum" sz="quarter" idx="12"/>
          </p:nvPr>
        </p:nvSpPr>
        <p:spPr/>
        <p:txBody>
          <a:bodyPr/>
          <a:lstStyle>
            <a:lvl1pPr>
              <a:defRPr/>
            </a:lvl1pPr>
          </a:lstStyle>
          <a:p>
            <a:fld id="{9FA92332-502B-49DA-A1B5-5739E098559E}" type="slidenum">
              <a:rPr lang="es-ES" altLang="es-MX"/>
              <a:pPr/>
              <a:t>‹Nº›</a:t>
            </a:fld>
            <a:endParaRPr lang="es-ES" altLang="es-MX"/>
          </a:p>
        </p:txBody>
      </p:sp>
    </p:spTree>
    <p:extLst>
      <p:ext uri="{BB962C8B-B14F-4D97-AF65-F5344CB8AC3E}">
        <p14:creationId xmlns:p14="http://schemas.microsoft.com/office/powerpoint/2010/main" val="3743947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30238" y="457200"/>
            <a:ext cx="2949575"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lvl1pPr>
              <a:defRPr/>
            </a:lvl1pPr>
          </a:lstStyle>
          <a:p>
            <a:endParaRPr lang="es-ES" altLang="es-MX"/>
          </a:p>
        </p:txBody>
      </p:sp>
      <p:sp>
        <p:nvSpPr>
          <p:cNvPr id="6" name="Marcador de pie de página 5"/>
          <p:cNvSpPr>
            <a:spLocks noGrp="1"/>
          </p:cNvSpPr>
          <p:nvPr>
            <p:ph type="ftr" sz="quarter" idx="11"/>
          </p:nvPr>
        </p:nvSpPr>
        <p:spPr/>
        <p:txBody>
          <a:bodyPr/>
          <a:lstStyle>
            <a:lvl1pPr>
              <a:defRPr/>
            </a:lvl1pPr>
          </a:lstStyle>
          <a:p>
            <a:endParaRPr lang="es-ES" altLang="es-MX"/>
          </a:p>
        </p:txBody>
      </p:sp>
      <p:sp>
        <p:nvSpPr>
          <p:cNvPr id="7" name="Marcador de número de diapositiva 6"/>
          <p:cNvSpPr>
            <a:spLocks noGrp="1"/>
          </p:cNvSpPr>
          <p:nvPr>
            <p:ph type="sldNum" sz="quarter" idx="12"/>
          </p:nvPr>
        </p:nvSpPr>
        <p:spPr/>
        <p:txBody>
          <a:bodyPr/>
          <a:lstStyle>
            <a:lvl1pPr>
              <a:defRPr/>
            </a:lvl1pPr>
          </a:lstStyle>
          <a:p>
            <a:fld id="{48B09055-2B69-4304-9F66-71385F33D03D}" type="slidenum">
              <a:rPr lang="es-ES" altLang="es-MX"/>
              <a:pPr/>
              <a:t>‹Nº›</a:t>
            </a:fld>
            <a:endParaRPr lang="es-ES" altLang="es-MX"/>
          </a:p>
        </p:txBody>
      </p:sp>
    </p:spTree>
    <p:extLst>
      <p:ext uri="{BB962C8B-B14F-4D97-AF65-F5344CB8AC3E}">
        <p14:creationId xmlns:p14="http://schemas.microsoft.com/office/powerpoint/2010/main" val="3536900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lvl1pPr>
              <a:defRPr/>
            </a:lvl1pPr>
          </a:lstStyle>
          <a:p>
            <a:endParaRPr lang="es-ES" altLang="es-MX"/>
          </a:p>
        </p:txBody>
      </p:sp>
      <p:sp>
        <p:nvSpPr>
          <p:cNvPr id="5" name="Marcador de pie de página 4"/>
          <p:cNvSpPr>
            <a:spLocks noGrp="1"/>
          </p:cNvSpPr>
          <p:nvPr>
            <p:ph type="ftr" sz="quarter" idx="11"/>
          </p:nvPr>
        </p:nvSpPr>
        <p:spPr/>
        <p:txBody>
          <a:bodyPr/>
          <a:lstStyle>
            <a:lvl1pPr>
              <a:defRPr/>
            </a:lvl1pPr>
          </a:lstStyle>
          <a:p>
            <a:endParaRPr lang="es-ES" altLang="es-MX"/>
          </a:p>
        </p:txBody>
      </p:sp>
      <p:sp>
        <p:nvSpPr>
          <p:cNvPr id="6" name="Marcador de número de diapositiva 5"/>
          <p:cNvSpPr>
            <a:spLocks noGrp="1"/>
          </p:cNvSpPr>
          <p:nvPr>
            <p:ph type="sldNum" sz="quarter" idx="12"/>
          </p:nvPr>
        </p:nvSpPr>
        <p:spPr/>
        <p:txBody>
          <a:bodyPr/>
          <a:lstStyle>
            <a:lvl1pPr>
              <a:defRPr/>
            </a:lvl1pPr>
          </a:lstStyle>
          <a:p>
            <a:fld id="{C39C8901-002F-47E6-A2A8-F4DF3D5CA3EB}" type="slidenum">
              <a:rPr lang="es-ES" altLang="es-MX"/>
              <a:pPr/>
              <a:t>‹Nº›</a:t>
            </a:fld>
            <a:endParaRPr lang="es-ES" altLang="es-MX"/>
          </a:p>
        </p:txBody>
      </p:sp>
    </p:spTree>
    <p:extLst>
      <p:ext uri="{BB962C8B-B14F-4D97-AF65-F5344CB8AC3E}">
        <p14:creationId xmlns:p14="http://schemas.microsoft.com/office/powerpoint/2010/main" val="2231218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515100" y="609600"/>
            <a:ext cx="1943100" cy="5486400"/>
          </a:xfrm>
        </p:spPr>
        <p:txBody>
          <a:bodyPr vert="eaVert"/>
          <a:lstStyle/>
          <a:p>
            <a:r>
              <a:rPr lang="es-ES"/>
              <a:t>Haga clic para modificar el estilo de título del patrón</a:t>
            </a:r>
            <a:endParaRPr lang="es-MX"/>
          </a:p>
        </p:txBody>
      </p:sp>
      <p:sp>
        <p:nvSpPr>
          <p:cNvPr id="3" name="Marcador de texto vertical 2"/>
          <p:cNvSpPr>
            <a:spLocks noGrp="1"/>
          </p:cNvSpPr>
          <p:nvPr>
            <p:ph type="body" orient="vert" idx="1"/>
          </p:nvPr>
        </p:nvSpPr>
        <p:spPr>
          <a:xfrm>
            <a:off x="685800" y="609600"/>
            <a:ext cx="5676900" cy="5486400"/>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lvl1pPr>
              <a:defRPr/>
            </a:lvl1pPr>
          </a:lstStyle>
          <a:p>
            <a:endParaRPr lang="es-ES" altLang="es-MX"/>
          </a:p>
        </p:txBody>
      </p:sp>
      <p:sp>
        <p:nvSpPr>
          <p:cNvPr id="5" name="Marcador de pie de página 4"/>
          <p:cNvSpPr>
            <a:spLocks noGrp="1"/>
          </p:cNvSpPr>
          <p:nvPr>
            <p:ph type="ftr" sz="quarter" idx="11"/>
          </p:nvPr>
        </p:nvSpPr>
        <p:spPr/>
        <p:txBody>
          <a:bodyPr/>
          <a:lstStyle>
            <a:lvl1pPr>
              <a:defRPr/>
            </a:lvl1pPr>
          </a:lstStyle>
          <a:p>
            <a:endParaRPr lang="es-ES" altLang="es-MX"/>
          </a:p>
        </p:txBody>
      </p:sp>
      <p:sp>
        <p:nvSpPr>
          <p:cNvPr id="6" name="Marcador de número de diapositiva 5"/>
          <p:cNvSpPr>
            <a:spLocks noGrp="1"/>
          </p:cNvSpPr>
          <p:nvPr>
            <p:ph type="sldNum" sz="quarter" idx="12"/>
          </p:nvPr>
        </p:nvSpPr>
        <p:spPr/>
        <p:txBody>
          <a:bodyPr/>
          <a:lstStyle>
            <a:lvl1pPr>
              <a:defRPr/>
            </a:lvl1pPr>
          </a:lstStyle>
          <a:p>
            <a:fld id="{B2053726-4348-4A8D-86A6-D8A7F1A0A6DE}" type="slidenum">
              <a:rPr lang="es-ES" altLang="es-MX"/>
              <a:pPr/>
              <a:t>‹Nº›</a:t>
            </a:fld>
            <a:endParaRPr lang="es-ES" altLang="es-MX"/>
          </a:p>
        </p:txBody>
      </p:sp>
    </p:spTree>
    <p:extLst>
      <p:ext uri="{BB962C8B-B14F-4D97-AF65-F5344CB8AC3E}">
        <p14:creationId xmlns:p14="http://schemas.microsoft.com/office/powerpoint/2010/main" val="732355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s-ES" altLang="es-MX"/>
              <a:t>Haga clic para modificar el estilo de título del patrón</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altLang="es-MX"/>
              <a:t>Haga clic para modificar el estilo de texto del patrón</a:t>
            </a:r>
          </a:p>
          <a:p>
            <a:pPr lvl="1"/>
            <a:r>
              <a:rPr lang="es-ES" altLang="es-MX"/>
              <a:t>Segundo nivel</a:t>
            </a:r>
          </a:p>
          <a:p>
            <a:pPr lvl="2"/>
            <a:r>
              <a:rPr lang="es-ES" altLang="es-MX"/>
              <a:t>Tercer nivel</a:t>
            </a:r>
          </a:p>
          <a:p>
            <a:pPr lvl="3"/>
            <a:r>
              <a:rPr lang="es-ES" altLang="es-MX"/>
              <a:t>Cuarto nivel</a:t>
            </a:r>
          </a:p>
          <a:p>
            <a:pPr lvl="4"/>
            <a:r>
              <a:rPr lang="es-ES" altLang="es-MX"/>
              <a:t>Quinto nivel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s-ES" altLang="es-MX"/>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s-ES" altLang="es-MX"/>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93A237FF-C646-483F-A467-A127C4102858}" type="slidenum">
              <a:rPr lang="es-ES" altLang="es-MX"/>
              <a:pPr/>
              <a:t>‹Nº›</a:t>
            </a:fld>
            <a:endParaRPr lang="es-ES" altLang="es-MX"/>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defRPr>
      </a:lvl2pPr>
      <a:lvl3pPr algn="ctr" rtl="0" fontAlgn="base">
        <a:spcBef>
          <a:spcPct val="0"/>
        </a:spcBef>
        <a:spcAft>
          <a:spcPct val="0"/>
        </a:spcAft>
        <a:defRPr sz="4400">
          <a:solidFill>
            <a:schemeClr val="tx2"/>
          </a:solidFill>
          <a:latin typeface="Times New Roman" panose="02020603050405020304" pitchFamily="18" charset="0"/>
        </a:defRPr>
      </a:lvl3pPr>
      <a:lvl4pPr algn="ctr" rtl="0" fontAlgn="base">
        <a:spcBef>
          <a:spcPct val="0"/>
        </a:spcBef>
        <a:spcAft>
          <a:spcPct val="0"/>
        </a:spcAft>
        <a:defRPr sz="4400">
          <a:solidFill>
            <a:schemeClr val="tx2"/>
          </a:solidFill>
          <a:latin typeface="Times New Roman" panose="02020603050405020304" pitchFamily="18" charset="0"/>
        </a:defRPr>
      </a:lvl4pPr>
      <a:lvl5pPr algn="ctr" rtl="0" fontAlgn="base">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2.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3.gif"/></Relationships>
</file>

<file path=ppt/slides/_rels/slide3.xml.rels><?xml version="1.0" encoding="UTF-8" standalone="yes"?>
<Relationships xmlns="http://schemas.openxmlformats.org/package/2006/relationships"><Relationship Id="rId8" Type="http://schemas.openxmlformats.org/officeDocument/2006/relationships/image" Target="../media/image13.jpeg"/><Relationship Id="rId13" Type="http://schemas.openxmlformats.org/officeDocument/2006/relationships/image" Target="../media/image18.jpeg"/><Relationship Id="rId18" Type="http://schemas.openxmlformats.org/officeDocument/2006/relationships/image" Target="../media/image23.jpeg"/><Relationship Id="rId3" Type="http://schemas.openxmlformats.org/officeDocument/2006/relationships/image" Target="../media/image8.jpeg"/><Relationship Id="rId7" Type="http://schemas.openxmlformats.org/officeDocument/2006/relationships/image" Target="../media/image12.jpeg"/><Relationship Id="rId12" Type="http://schemas.openxmlformats.org/officeDocument/2006/relationships/image" Target="../media/image17.jpeg"/><Relationship Id="rId17" Type="http://schemas.openxmlformats.org/officeDocument/2006/relationships/image" Target="../media/image22.gif"/><Relationship Id="rId2" Type="http://schemas.openxmlformats.org/officeDocument/2006/relationships/image" Target="../media/image6.jpeg"/><Relationship Id="rId16" Type="http://schemas.openxmlformats.org/officeDocument/2006/relationships/image" Target="../media/image21.gif"/><Relationship Id="rId1" Type="http://schemas.openxmlformats.org/officeDocument/2006/relationships/slideLayout" Target="../slideLayouts/slideLayout7.xml"/><Relationship Id="rId6" Type="http://schemas.openxmlformats.org/officeDocument/2006/relationships/image" Target="../media/image11.jpeg"/><Relationship Id="rId11" Type="http://schemas.openxmlformats.org/officeDocument/2006/relationships/image" Target="../media/image16.jpeg"/><Relationship Id="rId5" Type="http://schemas.openxmlformats.org/officeDocument/2006/relationships/image" Target="../media/image10.jpeg"/><Relationship Id="rId15" Type="http://schemas.openxmlformats.org/officeDocument/2006/relationships/image" Target="../media/image20.gif"/><Relationship Id="rId10" Type="http://schemas.openxmlformats.org/officeDocument/2006/relationships/image" Target="../media/image15.jpeg"/><Relationship Id="rId19" Type="http://schemas.openxmlformats.org/officeDocument/2006/relationships/image" Target="../media/image3.gif"/><Relationship Id="rId4" Type="http://schemas.openxmlformats.org/officeDocument/2006/relationships/image" Target="../media/image9.jpeg"/><Relationship Id="rId9" Type="http://schemas.openxmlformats.org/officeDocument/2006/relationships/image" Target="../media/image14.jpeg"/><Relationship Id="rId14" Type="http://schemas.openxmlformats.org/officeDocument/2006/relationships/image" Target="../media/image19.gif"/></Relationships>
</file>

<file path=ppt/slides/_rels/slide4.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3.gif"/><Relationship Id="rId5" Type="http://schemas.openxmlformats.org/officeDocument/2006/relationships/image" Target="../media/image24.jpeg"/><Relationship Id="rId4" Type="http://schemas.openxmlformats.org/officeDocument/2006/relationships/image" Target="../media/image20.gif"/></Relationships>
</file>

<file path=ppt/slides/_rels/slide5.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3.gif"/></Relationships>
</file>

<file path=ppt/slides/_rels/slide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3.gif"/><Relationship Id="rId5" Type="http://schemas.openxmlformats.org/officeDocument/2006/relationships/image" Target="../media/image24.jpeg"/><Relationship Id="rId4" Type="http://schemas.openxmlformats.org/officeDocument/2006/relationships/image" Target="../media/image20.gif"/></Relationships>
</file>

<file path=ppt/slides/_rels/slide7.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3.gif"/></Relationships>
</file>

<file path=ppt/slides/_rels/slide8.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3.gif"/><Relationship Id="rId5" Type="http://schemas.openxmlformats.org/officeDocument/2006/relationships/image" Target="../media/image25.jpeg"/><Relationship Id="rId4" Type="http://schemas.openxmlformats.org/officeDocument/2006/relationships/image" Target="../media/image20.gif"/></Relationships>
</file>

<file path=ppt/slides/_rels/slide9.xml.rels><?xml version="1.0" encoding="UTF-8" standalone="yes"?>
<Relationships xmlns="http://schemas.openxmlformats.org/package/2006/relationships"><Relationship Id="rId3" Type="http://schemas.openxmlformats.org/officeDocument/2006/relationships/image" Target="../media/image7.gif"/><Relationship Id="rId7" Type="http://schemas.openxmlformats.org/officeDocument/2006/relationships/image" Target="../media/image3.gif"/><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0.gif"/></Relationships>
</file>

<file path=ppt/slides/_rels/slide10.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image" Target="../media/image7.gif"/><Relationship Id="rId7" Type="http://schemas.openxmlformats.org/officeDocument/2006/relationships/image" Target="../media/image30.jpe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0.gif"/></Relationships>
</file>

<file path=ppt/slides/_rels/slide11.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gif"/></Relationships>
</file>

<file path=ppt/slides/_rels/slide12.xml.rels><?xml version="1.0" encoding="UTF-8" standalone="yes"?>
<Relationships xmlns="http://schemas.openxmlformats.org/package/2006/relationships"><Relationship Id="rId3" Type="http://schemas.openxmlformats.org/officeDocument/2006/relationships/image" Target="../media/image20.gif"/><Relationship Id="rId7" Type="http://schemas.openxmlformats.org/officeDocument/2006/relationships/image" Target="../media/image3.gif"/><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7.gif"/></Relationships>
</file>

<file path=ppt/slides/_rels/slide13.xml.rels><?xml version="1.0" encoding="UTF-8" standalone="yes"?>
<Relationships xmlns="http://schemas.openxmlformats.org/package/2006/relationships"><Relationship Id="rId3" Type="http://schemas.openxmlformats.org/officeDocument/2006/relationships/image" Target="../media/image20.gif"/><Relationship Id="rId7" Type="http://schemas.openxmlformats.org/officeDocument/2006/relationships/image" Target="../media/image3.gif"/><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7.gif"/></Relationships>
</file>

<file path=ppt/slides/_rels/slide14.xml.rels><?xml version="1.0" encoding="UTF-8" standalone="yes"?>
<Relationships xmlns="http://schemas.openxmlformats.org/package/2006/relationships"><Relationship Id="rId3" Type="http://schemas.openxmlformats.org/officeDocument/2006/relationships/image" Target="../media/image20.gif"/><Relationship Id="rId7" Type="http://schemas.openxmlformats.org/officeDocument/2006/relationships/image" Target="../media/image37.jpe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3.gif"/><Relationship Id="rId5" Type="http://schemas.openxmlformats.org/officeDocument/2006/relationships/image" Target="../media/image36.jpeg"/><Relationship Id="rId4" Type="http://schemas.openxmlformats.org/officeDocument/2006/relationships/image" Target="../media/image7.gif"/></Relationships>
</file>

<file path=ppt/slides/_rels/slide15.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3.gif"/><Relationship Id="rId5" Type="http://schemas.openxmlformats.org/officeDocument/2006/relationships/image" Target="../media/image38.jpeg"/><Relationship Id="rId4" Type="http://schemas.openxmlformats.org/officeDocument/2006/relationships/image" Target="../media/image20.gif"/></Relationships>
</file>

<file path=ppt/slides/_rels/slide16.xml.rels><?xml version="1.0" encoding="UTF-8" standalone="yes"?>
<Relationships xmlns="http://schemas.openxmlformats.org/package/2006/relationships"><Relationship Id="rId3" Type="http://schemas.openxmlformats.org/officeDocument/2006/relationships/image" Target="../media/image20.gif"/><Relationship Id="rId7" Type="http://schemas.openxmlformats.org/officeDocument/2006/relationships/image" Target="../media/image3.gif"/><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7.gif"/></Relationships>
</file>

<file path=ppt/slides/_rels/slide17.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41.jpeg"/><Relationship Id="rId5" Type="http://schemas.openxmlformats.org/officeDocument/2006/relationships/image" Target="../media/image20.gif"/><Relationship Id="rId4" Type="http://schemas.openxmlformats.org/officeDocument/2006/relationships/image" Target="../media/image3.gif"/></Relationships>
</file>

<file path=ppt/slides/_rels/slide18.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20.gif"/><Relationship Id="rId7" Type="http://schemas.openxmlformats.org/officeDocument/2006/relationships/image" Target="../media/image3.gif"/><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7.gif"/></Relationships>
</file>

<file path=ppt/slides/_rels/slide19.xml.rels><?xml version="1.0" encoding="UTF-8" standalone="yes"?>
<Relationships xmlns="http://schemas.openxmlformats.org/package/2006/relationships"><Relationship Id="rId3" Type="http://schemas.openxmlformats.org/officeDocument/2006/relationships/image" Target="../media/image7.gif"/><Relationship Id="rId7" Type="http://schemas.openxmlformats.org/officeDocument/2006/relationships/image" Target="../media/image3.gif"/><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20.gif"/></Relationships>
</file>

<file path=ppt/slides/_rels/slide20.xml.rels><?xml version="1.0" encoding="UTF-8" standalone="yes"?>
<Relationships xmlns="http://schemas.openxmlformats.org/package/2006/relationships"><Relationship Id="rId3" Type="http://schemas.openxmlformats.org/officeDocument/2006/relationships/image" Target="../media/image7.gif"/><Relationship Id="rId7" Type="http://schemas.openxmlformats.org/officeDocument/2006/relationships/image" Target="../media/image3.gif"/><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48.jpeg"/><Relationship Id="rId5" Type="http://schemas.openxmlformats.org/officeDocument/2006/relationships/image" Target="../media/image47.jpeg"/><Relationship Id="rId4" Type="http://schemas.openxmlformats.org/officeDocument/2006/relationships/image" Target="../media/image20.gif"/></Relationships>
</file>

<file path=ppt/slides/_rels/slide21.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3.gif"/><Relationship Id="rId5" Type="http://schemas.openxmlformats.org/officeDocument/2006/relationships/image" Target="../media/image49.jpeg"/><Relationship Id="rId4" Type="http://schemas.openxmlformats.org/officeDocument/2006/relationships/image" Target="../media/image7.gif"/></Relationships>
</file>

<file path=ppt/slides/_rels/slide22.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image" Target="../media/image7.gif"/><Relationship Id="rId7" Type="http://schemas.openxmlformats.org/officeDocument/2006/relationships/image" Target="../media/image52.jpe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20.gif"/></Relationships>
</file>

<file path=ppt/slides/_rels/slide2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3.gif"/></Relationships>
</file>

<file path=ppt/slides/_rels/slide2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3.gif"/><Relationship Id="rId4" Type="http://schemas.openxmlformats.org/officeDocument/2006/relationships/image" Target="../media/image55.jpeg"/></Relationships>
</file>

<file path=ppt/slides/_rels/slide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3.gif"/><Relationship Id="rId4" Type="http://schemas.openxmlformats.org/officeDocument/2006/relationships/image" Target="../media/image56.jpeg"/></Relationships>
</file>

<file path=ppt/slides/_rels/slide26.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3.gif"/><Relationship Id="rId5" Type="http://schemas.openxmlformats.org/officeDocument/2006/relationships/image" Target="../media/image58.jpeg"/><Relationship Id="rId4" Type="http://schemas.openxmlformats.org/officeDocument/2006/relationships/image" Target="../media/image57.jpeg"/></Relationships>
</file>

<file path=ppt/slides/_rels/slide2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56" name="WordArt 8"/>
          <p:cNvSpPr>
            <a:spLocks noChangeArrowheads="1" noChangeShapeType="1" noTextEdit="1"/>
          </p:cNvSpPr>
          <p:nvPr/>
        </p:nvSpPr>
        <p:spPr bwMode="auto">
          <a:xfrm>
            <a:off x="1908175" y="3573463"/>
            <a:ext cx="6696075" cy="360362"/>
          </a:xfrm>
          <a:prstGeom prst="rect">
            <a:avLst/>
          </a:prstGeom>
          <a:extLst>
            <a:ext uri="{91240B29-F687-4F45-9708-019B960494DF}">
              <a14:hiddenLine xmlns:a14="http://schemas.microsoft.com/office/drawing/2010/main" w="9525">
                <a:solidFill>
                  <a:srgbClr val="000066"/>
                </a:solidFill>
                <a:round/>
                <a:headEnd/>
                <a:tailEnd/>
              </a14:hiddenLine>
            </a:ext>
          </a:extLst>
        </p:spPr>
        <p:txBody>
          <a:bodyPr wrap="none" fromWordArt="1">
            <a:prstTxWarp prst="textPlain">
              <a:avLst>
                <a:gd name="adj" fmla="val 50000"/>
              </a:avLst>
            </a:prstTxWarp>
          </a:bodyPr>
          <a:lstStyle/>
          <a:p>
            <a:pPr algn="ctr"/>
            <a:r>
              <a:rPr lang="es-ES" sz="3600" kern="10">
                <a:solidFill>
                  <a:srgbClr val="000066"/>
                </a:solidFill>
                <a:effectLst>
                  <a:outerShdw dist="45791" dir="2021404" algn="ctr" rotWithShape="0">
                    <a:srgbClr val="C0C0C0"/>
                  </a:outerShdw>
                </a:effectLst>
                <a:latin typeface="Arial Rounded MT Bold" panose="020F0704030504030204" pitchFamily="34" charset="0"/>
              </a:rPr>
              <a:t>Conceptos y Elementos de la Informática</a:t>
            </a:r>
            <a:endParaRPr lang="es-MX" sz="3600" kern="10">
              <a:solidFill>
                <a:srgbClr val="000066"/>
              </a:solidFill>
              <a:effectLst>
                <a:outerShdw dist="45791" dir="2021404" algn="ctr" rotWithShape="0">
                  <a:srgbClr val="C0C0C0"/>
                </a:outerShdw>
              </a:effectLst>
              <a:latin typeface="Arial Rounded MT Bold" panose="020F0704030504030204" pitchFamily="34" charset="0"/>
            </a:endParaRPr>
          </a:p>
        </p:txBody>
      </p:sp>
      <p:pic>
        <p:nvPicPr>
          <p:cNvPr id="2059" name="Picture 11" descr="cable_data_transfer_md_wht"/>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6502400"/>
            <a:ext cx="792163" cy="284163"/>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pc2"/>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250825" y="908050"/>
            <a:ext cx="723900" cy="666750"/>
          </a:xfrm>
          <a:prstGeom prst="rect">
            <a:avLst/>
          </a:prstGeom>
          <a:noFill/>
          <a:extLst>
            <a:ext uri="{909E8E84-426E-40DD-AFC4-6F175D3DCCD1}">
              <a14:hiddenFill xmlns:a14="http://schemas.microsoft.com/office/drawing/2010/main">
                <a:solidFill>
                  <a:srgbClr val="FFFFFF"/>
                </a:solidFill>
              </a14:hiddenFill>
            </a:ext>
          </a:extLst>
        </p:spPr>
      </p:pic>
      <p:grpSp>
        <p:nvGrpSpPr>
          <p:cNvPr id="2087" name="Group 39"/>
          <p:cNvGrpSpPr>
            <a:grpSpLocks/>
          </p:cNvGrpSpPr>
          <p:nvPr/>
        </p:nvGrpSpPr>
        <p:grpSpPr bwMode="auto">
          <a:xfrm>
            <a:off x="1622425" y="5949950"/>
            <a:ext cx="7270750" cy="287338"/>
            <a:chOff x="840" y="3884"/>
            <a:chExt cx="4580" cy="181"/>
          </a:xfrm>
        </p:grpSpPr>
        <p:grpSp>
          <p:nvGrpSpPr>
            <p:cNvPr id="2073" name="Group 25"/>
            <p:cNvGrpSpPr>
              <a:grpSpLocks/>
            </p:cNvGrpSpPr>
            <p:nvPr/>
          </p:nvGrpSpPr>
          <p:grpSpPr bwMode="auto">
            <a:xfrm rot="16200000">
              <a:off x="1928" y="2796"/>
              <a:ext cx="181" cy="2358"/>
              <a:chOff x="204" y="511"/>
              <a:chExt cx="272" cy="3359"/>
            </a:xfrm>
          </p:grpSpPr>
          <p:pic>
            <p:nvPicPr>
              <p:cNvPr id="2061" name="Picture 13"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4" y="511"/>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196" y="807"/>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063" name="Picture 15"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4" y="1071"/>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196" y="1367"/>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4" y="1616"/>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196" y="1912"/>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4" y="2176"/>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196" y="2472"/>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069" name="Picture 21"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0800000">
                <a:off x="204" y="2734"/>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196" y="3030"/>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071" name="Picture 23"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0800000">
                <a:off x="204" y="3294"/>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196" y="3590"/>
                <a:ext cx="288" cy="27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74" name="Group 26"/>
            <p:cNvGrpSpPr>
              <a:grpSpLocks/>
            </p:cNvGrpSpPr>
            <p:nvPr/>
          </p:nvGrpSpPr>
          <p:grpSpPr bwMode="auto">
            <a:xfrm rot="5400000" flipH="1">
              <a:off x="4150" y="2795"/>
              <a:ext cx="181" cy="2359"/>
              <a:chOff x="204" y="511"/>
              <a:chExt cx="272" cy="3359"/>
            </a:xfrm>
          </p:grpSpPr>
          <p:pic>
            <p:nvPicPr>
              <p:cNvPr id="2075" name="Picture 27"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4" y="511"/>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76" name="Picture 28"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196" y="807"/>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077" name="Picture 29"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4" y="1071"/>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78" name="Picture 30"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196" y="1367"/>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079" name="Picture 31"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4" y="1616"/>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80" name="Picture 32"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196" y="1912"/>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081" name="Picture 33"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4" y="2176"/>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82" name="Picture 34"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196" y="2472"/>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083" name="Picture 35"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0800000">
                <a:off x="204" y="2734"/>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84" name="Picture 36"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196" y="3030"/>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085" name="Picture 37"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0800000">
                <a:off x="204" y="3294"/>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86" name="Picture 38"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196" y="3590"/>
                <a:ext cx="288" cy="272"/>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088" name="Group 40"/>
          <p:cNvGrpSpPr>
            <a:grpSpLocks/>
          </p:cNvGrpSpPr>
          <p:nvPr/>
        </p:nvGrpSpPr>
        <p:grpSpPr bwMode="auto">
          <a:xfrm>
            <a:off x="1622425" y="1196975"/>
            <a:ext cx="7270750" cy="287338"/>
            <a:chOff x="840" y="3884"/>
            <a:chExt cx="4580" cy="181"/>
          </a:xfrm>
        </p:grpSpPr>
        <p:grpSp>
          <p:nvGrpSpPr>
            <p:cNvPr id="2089" name="Group 41"/>
            <p:cNvGrpSpPr>
              <a:grpSpLocks/>
            </p:cNvGrpSpPr>
            <p:nvPr/>
          </p:nvGrpSpPr>
          <p:grpSpPr bwMode="auto">
            <a:xfrm rot="16200000">
              <a:off x="1928" y="2796"/>
              <a:ext cx="181" cy="2358"/>
              <a:chOff x="204" y="511"/>
              <a:chExt cx="272" cy="3359"/>
            </a:xfrm>
          </p:grpSpPr>
          <p:pic>
            <p:nvPicPr>
              <p:cNvPr id="2090" name="Picture 42"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4" y="511"/>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91" name="Picture 43"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196" y="807"/>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092" name="Picture 44"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4" y="1071"/>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93" name="Picture 45"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196" y="1367"/>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094" name="Picture 46"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4" y="1616"/>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95" name="Picture 47"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196" y="1912"/>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096" name="Picture 48"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4" y="2176"/>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97" name="Picture 49"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196" y="2472"/>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098" name="Picture 50"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0800000">
                <a:off x="204" y="2734"/>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099" name="Picture 51"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196" y="3030"/>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100" name="Picture 52"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0800000">
                <a:off x="204" y="3294"/>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101" name="Picture 53"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196" y="3590"/>
                <a:ext cx="288" cy="27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102" name="Group 54"/>
            <p:cNvGrpSpPr>
              <a:grpSpLocks/>
            </p:cNvGrpSpPr>
            <p:nvPr/>
          </p:nvGrpSpPr>
          <p:grpSpPr bwMode="auto">
            <a:xfrm rot="5400000" flipH="1">
              <a:off x="4150" y="2795"/>
              <a:ext cx="181" cy="2359"/>
              <a:chOff x="204" y="511"/>
              <a:chExt cx="272" cy="3359"/>
            </a:xfrm>
          </p:grpSpPr>
          <p:pic>
            <p:nvPicPr>
              <p:cNvPr id="2103" name="Picture 55"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4" y="511"/>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104" name="Picture 56"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196" y="807"/>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105" name="Picture 57"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4" y="1071"/>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106" name="Picture 58"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196" y="1367"/>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107" name="Picture 59"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4" y="1616"/>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108" name="Picture 60"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196" y="1912"/>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109" name="Picture 61"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4" y="2176"/>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110" name="Picture 62"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196" y="2472"/>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111" name="Picture 63"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0800000">
                <a:off x="204" y="2734"/>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112" name="Picture 64"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196" y="3030"/>
                <a:ext cx="288" cy="272"/>
              </a:xfrm>
              <a:prstGeom prst="rect">
                <a:avLst/>
              </a:prstGeom>
              <a:noFill/>
              <a:extLst>
                <a:ext uri="{909E8E84-426E-40DD-AFC4-6F175D3DCCD1}">
                  <a14:hiddenFill xmlns:a14="http://schemas.microsoft.com/office/drawing/2010/main">
                    <a:solidFill>
                      <a:srgbClr val="FFFFFF"/>
                    </a:solidFill>
                  </a14:hiddenFill>
                </a:ext>
              </a:extLst>
            </p:spPr>
          </p:pic>
          <p:pic>
            <p:nvPicPr>
              <p:cNvPr id="2113" name="Picture 65"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0800000">
                <a:off x="204" y="3294"/>
                <a:ext cx="272" cy="288"/>
              </a:xfrm>
              <a:prstGeom prst="rect">
                <a:avLst/>
              </a:prstGeom>
              <a:noFill/>
              <a:extLst>
                <a:ext uri="{909E8E84-426E-40DD-AFC4-6F175D3DCCD1}">
                  <a14:hiddenFill xmlns:a14="http://schemas.microsoft.com/office/drawing/2010/main">
                    <a:solidFill>
                      <a:srgbClr val="FFFFFF"/>
                    </a:solidFill>
                  </a14:hiddenFill>
                </a:ext>
              </a:extLst>
            </p:spPr>
          </p:pic>
          <p:pic>
            <p:nvPicPr>
              <p:cNvPr id="2114" name="Picture 66" descr="circui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196" y="3590"/>
                <a:ext cx="288" cy="272"/>
              </a:xfrm>
              <a:prstGeom prst="rect">
                <a:avLst/>
              </a:prstGeom>
              <a:noFill/>
              <a:extLst>
                <a:ext uri="{909E8E84-426E-40DD-AFC4-6F175D3DCCD1}">
                  <a14:hiddenFill xmlns:a14="http://schemas.microsoft.com/office/drawing/2010/main">
                    <a:solidFill>
                      <a:srgbClr val="FFFFFF"/>
                    </a:solidFill>
                  </a14:hiddenFill>
                </a:ext>
              </a:extLst>
            </p:spPr>
          </p:pic>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147" name="WordArt 3"/>
          <p:cNvSpPr>
            <a:spLocks noChangeArrowheads="1" noChangeShapeType="1" noTextEdit="1"/>
          </p:cNvSpPr>
          <p:nvPr/>
        </p:nvSpPr>
        <p:spPr bwMode="auto">
          <a:xfrm rot="5400000">
            <a:off x="-1261269" y="4004469"/>
            <a:ext cx="3241675" cy="217488"/>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Conceptos Básicos</a:t>
            </a:r>
          </a:p>
        </p:txBody>
      </p:sp>
      <p:sp>
        <p:nvSpPr>
          <p:cNvPr id="6151" name="Text Box 7"/>
          <p:cNvSpPr txBox="1">
            <a:spLocks noChangeArrowheads="1"/>
          </p:cNvSpPr>
          <p:nvPr/>
        </p:nvSpPr>
        <p:spPr bwMode="auto">
          <a:xfrm>
            <a:off x="2195513" y="1876425"/>
            <a:ext cx="59436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CL" altLang="es-MX" b="1">
                <a:solidFill>
                  <a:srgbClr val="000066"/>
                </a:solidFill>
                <a:latin typeface="Courier New" panose="02070309020205020404" pitchFamily="49" charset="0"/>
              </a:rPr>
              <a:t>  P</a:t>
            </a:r>
            <a:r>
              <a:rPr lang="es-ES" altLang="es-MX" b="1">
                <a:solidFill>
                  <a:srgbClr val="000066"/>
                </a:solidFill>
                <a:latin typeface="Courier New" panose="02070309020205020404" pitchFamily="49" charset="0"/>
              </a:rPr>
              <a:t>rogramas de computadoras. Son las instrucciones responsables de que el hardware (la máquina) realice su tarea.</a:t>
            </a:r>
          </a:p>
        </p:txBody>
      </p:sp>
      <p:grpSp>
        <p:nvGrpSpPr>
          <p:cNvPr id="6166" name="Group 22"/>
          <p:cNvGrpSpPr>
            <a:grpSpLocks/>
          </p:cNvGrpSpPr>
          <p:nvPr/>
        </p:nvGrpSpPr>
        <p:grpSpPr bwMode="auto">
          <a:xfrm>
            <a:off x="2057400" y="1235075"/>
            <a:ext cx="3352800" cy="609600"/>
            <a:chOff x="1296" y="528"/>
            <a:chExt cx="2112" cy="384"/>
          </a:xfrm>
        </p:grpSpPr>
        <p:sp>
          <p:nvSpPr>
            <p:cNvPr id="6149" name="AutoShape 5"/>
            <p:cNvSpPr>
              <a:spLocks noChangeArrowheads="1"/>
            </p:cNvSpPr>
            <p:nvPr/>
          </p:nvSpPr>
          <p:spPr bwMode="auto">
            <a:xfrm>
              <a:off x="1296" y="528"/>
              <a:ext cx="1584" cy="288"/>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6148" name="WordArt 4"/>
            <p:cNvSpPr>
              <a:spLocks noChangeArrowheads="1" noChangeShapeType="1" noTextEdit="1"/>
            </p:cNvSpPr>
            <p:nvPr/>
          </p:nvSpPr>
          <p:spPr bwMode="auto">
            <a:xfrm>
              <a:off x="1344" y="576"/>
              <a:ext cx="1440" cy="192"/>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Software</a:t>
              </a:r>
            </a:p>
          </p:txBody>
        </p:sp>
        <p:sp>
          <p:nvSpPr>
            <p:cNvPr id="6153" name="AutoShape 9"/>
            <p:cNvSpPr>
              <a:spLocks noChangeArrowheads="1"/>
            </p:cNvSpPr>
            <p:nvPr/>
          </p:nvSpPr>
          <p:spPr bwMode="auto">
            <a:xfrm flipV="1">
              <a:off x="3024" y="624"/>
              <a:ext cx="384" cy="288"/>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grpSp>
      <p:grpSp>
        <p:nvGrpSpPr>
          <p:cNvPr id="6165" name="Group 21"/>
          <p:cNvGrpSpPr>
            <a:grpSpLocks/>
          </p:cNvGrpSpPr>
          <p:nvPr/>
        </p:nvGrpSpPr>
        <p:grpSpPr bwMode="auto">
          <a:xfrm>
            <a:off x="2133600" y="3611563"/>
            <a:ext cx="3352800" cy="609600"/>
            <a:chOff x="1344" y="2064"/>
            <a:chExt cx="2112" cy="384"/>
          </a:xfrm>
        </p:grpSpPr>
        <p:sp>
          <p:nvSpPr>
            <p:cNvPr id="6154" name="AutoShape 10"/>
            <p:cNvSpPr>
              <a:spLocks noChangeArrowheads="1"/>
            </p:cNvSpPr>
            <p:nvPr/>
          </p:nvSpPr>
          <p:spPr bwMode="auto">
            <a:xfrm>
              <a:off x="1344" y="2064"/>
              <a:ext cx="1584" cy="288"/>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6155" name="WordArt 11"/>
            <p:cNvSpPr>
              <a:spLocks noChangeArrowheads="1" noChangeShapeType="1" noTextEdit="1"/>
            </p:cNvSpPr>
            <p:nvPr/>
          </p:nvSpPr>
          <p:spPr bwMode="auto">
            <a:xfrm>
              <a:off x="1392" y="2112"/>
              <a:ext cx="1440" cy="192"/>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Hardware</a:t>
              </a:r>
            </a:p>
          </p:txBody>
        </p:sp>
        <p:sp>
          <p:nvSpPr>
            <p:cNvPr id="6156" name="AutoShape 12"/>
            <p:cNvSpPr>
              <a:spLocks noChangeArrowheads="1"/>
            </p:cNvSpPr>
            <p:nvPr/>
          </p:nvSpPr>
          <p:spPr bwMode="auto">
            <a:xfrm flipV="1">
              <a:off x="3072" y="2160"/>
              <a:ext cx="384" cy="288"/>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grpSp>
      <p:sp>
        <p:nvSpPr>
          <p:cNvPr id="6157" name="Text Box 13"/>
          <p:cNvSpPr txBox="1">
            <a:spLocks noChangeArrowheads="1"/>
          </p:cNvSpPr>
          <p:nvPr/>
        </p:nvSpPr>
        <p:spPr bwMode="auto">
          <a:xfrm>
            <a:off x="2955925" y="476567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s-MX" altLang="es-MX"/>
          </a:p>
        </p:txBody>
      </p:sp>
      <p:sp>
        <p:nvSpPr>
          <p:cNvPr id="6161" name="Text Box 17"/>
          <p:cNvSpPr txBox="1">
            <a:spLocks noChangeArrowheads="1"/>
          </p:cNvSpPr>
          <p:nvPr/>
        </p:nvSpPr>
        <p:spPr bwMode="auto">
          <a:xfrm>
            <a:off x="1619250" y="4316413"/>
            <a:ext cx="72390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CL" altLang="es-MX" sz="2000" b="1">
                <a:solidFill>
                  <a:srgbClr val="000066"/>
                </a:solidFill>
                <a:latin typeface="Courier New" panose="02070309020205020404" pitchFamily="49" charset="0"/>
              </a:rPr>
              <a:t>   E</a:t>
            </a:r>
            <a:r>
              <a:rPr lang="es-ES" altLang="es-MX" sz="2000" b="1">
                <a:solidFill>
                  <a:srgbClr val="000066"/>
                </a:solidFill>
                <a:latin typeface="Courier New" panose="02070309020205020404" pitchFamily="49" charset="0"/>
              </a:rPr>
              <a:t>quipo utilizado para el funcionamiento de una computadora. El hardware se refiere a los componentes materiales de un sistema informático. La función de estos componentes suele dividirse en tres categorías principales: entrada, salida y almacenamiento.</a:t>
            </a:r>
          </a:p>
        </p:txBody>
      </p:sp>
      <p:pic>
        <p:nvPicPr>
          <p:cNvPr id="6162" name="Picture 18" descr="bulletsmall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401763" y="3787775"/>
            <a:ext cx="217487" cy="217488"/>
          </a:xfrm>
          <a:prstGeom prst="rect">
            <a:avLst/>
          </a:prstGeom>
          <a:noFill/>
          <a:extLst>
            <a:ext uri="{909E8E84-426E-40DD-AFC4-6F175D3DCCD1}">
              <a14:hiddenFill xmlns:a14="http://schemas.microsoft.com/office/drawing/2010/main">
                <a:solidFill>
                  <a:srgbClr val="FFFFFF"/>
                </a:solidFill>
              </a14:hiddenFill>
            </a:ext>
          </a:extLst>
        </p:spPr>
      </p:pic>
      <p:pic>
        <p:nvPicPr>
          <p:cNvPr id="6163" name="Picture 19" descr="bulletsmall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401763" y="1412875"/>
            <a:ext cx="217487" cy="217488"/>
          </a:xfrm>
          <a:prstGeom prst="rect">
            <a:avLst/>
          </a:prstGeom>
          <a:noFill/>
          <a:extLst>
            <a:ext uri="{909E8E84-426E-40DD-AFC4-6F175D3DCCD1}">
              <a14:hiddenFill xmlns:a14="http://schemas.microsoft.com/office/drawing/2010/main">
                <a:solidFill>
                  <a:srgbClr val="FFFFFF"/>
                </a:solidFill>
              </a14:hiddenFill>
            </a:ext>
          </a:extLst>
        </p:spPr>
      </p:pic>
      <p:pic>
        <p:nvPicPr>
          <p:cNvPr id="6167" name="Picture 23" descr="cable_data_transfer_md_wht"/>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8916" name="WordArt 4"/>
          <p:cNvSpPr>
            <a:spLocks noChangeArrowheads="1" noChangeShapeType="1" noTextEdit="1"/>
          </p:cNvSpPr>
          <p:nvPr/>
        </p:nvSpPr>
        <p:spPr bwMode="auto">
          <a:xfrm rot="5400000">
            <a:off x="-814387" y="3475038"/>
            <a:ext cx="2376487" cy="268287"/>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Software</a:t>
            </a:r>
          </a:p>
        </p:txBody>
      </p:sp>
      <p:pic>
        <p:nvPicPr>
          <p:cNvPr id="38919" name="Picture 7" descr="ABRAPALABR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5013325"/>
            <a:ext cx="647700" cy="647700"/>
          </a:xfrm>
          <a:prstGeom prst="rect">
            <a:avLst/>
          </a:prstGeom>
          <a:noFill/>
          <a:extLst>
            <a:ext uri="{909E8E84-426E-40DD-AFC4-6F175D3DCCD1}">
              <a14:hiddenFill xmlns:a14="http://schemas.microsoft.com/office/drawing/2010/main">
                <a:solidFill>
                  <a:srgbClr val="FFFFFF"/>
                </a:solidFill>
              </a14:hiddenFill>
            </a:ext>
          </a:extLst>
        </p:spPr>
      </p:pic>
      <p:grpSp>
        <p:nvGrpSpPr>
          <p:cNvPr id="38950" name="Group 38"/>
          <p:cNvGrpSpPr>
            <a:grpSpLocks/>
          </p:cNvGrpSpPr>
          <p:nvPr/>
        </p:nvGrpSpPr>
        <p:grpSpPr bwMode="auto">
          <a:xfrm>
            <a:off x="1692275" y="1630363"/>
            <a:ext cx="1871663" cy="4319587"/>
            <a:chOff x="884" y="663"/>
            <a:chExt cx="1179" cy="2721"/>
          </a:xfrm>
        </p:grpSpPr>
        <p:sp>
          <p:nvSpPr>
            <p:cNvPr id="38917" name="WordArt 5"/>
            <p:cNvSpPr>
              <a:spLocks noChangeArrowheads="1" noChangeShapeType="1" noTextEdit="1"/>
            </p:cNvSpPr>
            <p:nvPr/>
          </p:nvSpPr>
          <p:spPr bwMode="auto">
            <a:xfrm>
              <a:off x="1383" y="753"/>
              <a:ext cx="680" cy="136"/>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MS-WORD</a:t>
              </a:r>
            </a:p>
          </p:txBody>
        </p:sp>
        <p:pic>
          <p:nvPicPr>
            <p:cNvPr id="38922" name="Picture 10" descr="ENCAR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4" y="3021"/>
              <a:ext cx="363" cy="363"/>
            </a:xfrm>
            <a:prstGeom prst="rect">
              <a:avLst/>
            </a:prstGeom>
            <a:noFill/>
            <a:extLst>
              <a:ext uri="{909E8E84-426E-40DD-AFC4-6F175D3DCCD1}">
                <a14:hiddenFill xmlns:a14="http://schemas.microsoft.com/office/drawing/2010/main">
                  <a:solidFill>
                    <a:srgbClr val="FFFFFF"/>
                  </a:solidFill>
                </a14:hiddenFill>
              </a:ext>
            </a:extLst>
          </p:spPr>
        </p:pic>
        <p:pic>
          <p:nvPicPr>
            <p:cNvPr id="38923" name="Picture 11" descr="EXCE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4" y="1252"/>
              <a:ext cx="408" cy="408"/>
            </a:xfrm>
            <a:prstGeom prst="rect">
              <a:avLst/>
            </a:prstGeom>
            <a:noFill/>
            <a:extLst>
              <a:ext uri="{909E8E84-426E-40DD-AFC4-6F175D3DCCD1}">
                <a14:hiddenFill xmlns:a14="http://schemas.microsoft.com/office/drawing/2010/main">
                  <a:solidFill>
                    <a:srgbClr val="FFFFFF"/>
                  </a:solidFill>
                </a14:hiddenFill>
              </a:ext>
            </a:extLst>
          </p:spPr>
        </p:pic>
        <p:pic>
          <p:nvPicPr>
            <p:cNvPr id="38924" name="Picture 12" descr="EXPLORE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4" y="2432"/>
              <a:ext cx="363" cy="363"/>
            </a:xfrm>
            <a:prstGeom prst="rect">
              <a:avLst/>
            </a:prstGeom>
            <a:noFill/>
            <a:extLst>
              <a:ext uri="{909E8E84-426E-40DD-AFC4-6F175D3DCCD1}">
                <a14:hiddenFill xmlns:a14="http://schemas.microsoft.com/office/drawing/2010/main">
                  <a:solidFill>
                    <a:srgbClr val="FFFFFF"/>
                  </a:solidFill>
                </a14:hiddenFill>
              </a:ext>
            </a:extLst>
          </p:spPr>
        </p:pic>
        <p:pic>
          <p:nvPicPr>
            <p:cNvPr id="38926" name="Picture 14" descr="MS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4" y="1842"/>
              <a:ext cx="363" cy="363"/>
            </a:xfrm>
            <a:prstGeom prst="rect">
              <a:avLst/>
            </a:prstGeom>
            <a:noFill/>
            <a:extLst>
              <a:ext uri="{909E8E84-426E-40DD-AFC4-6F175D3DCCD1}">
                <a14:hiddenFill xmlns:a14="http://schemas.microsoft.com/office/drawing/2010/main">
                  <a:solidFill>
                    <a:srgbClr val="FFFFFF"/>
                  </a:solidFill>
                </a14:hiddenFill>
              </a:ext>
            </a:extLst>
          </p:spPr>
        </p:pic>
        <p:pic>
          <p:nvPicPr>
            <p:cNvPr id="38929" name="Picture 17" descr="WOR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4" y="663"/>
              <a:ext cx="408" cy="408"/>
            </a:xfrm>
            <a:prstGeom prst="rect">
              <a:avLst/>
            </a:prstGeom>
            <a:noFill/>
            <a:extLst>
              <a:ext uri="{909E8E84-426E-40DD-AFC4-6F175D3DCCD1}">
                <a14:hiddenFill xmlns:a14="http://schemas.microsoft.com/office/drawing/2010/main">
                  <a:solidFill>
                    <a:srgbClr val="FFFFFF"/>
                  </a:solidFill>
                </a14:hiddenFill>
              </a:ext>
            </a:extLst>
          </p:spPr>
        </p:pic>
        <p:sp>
          <p:nvSpPr>
            <p:cNvPr id="38936" name="WordArt 24"/>
            <p:cNvSpPr>
              <a:spLocks noChangeArrowheads="1" noChangeShapeType="1" noTextEdit="1"/>
            </p:cNvSpPr>
            <p:nvPr/>
          </p:nvSpPr>
          <p:spPr bwMode="auto">
            <a:xfrm>
              <a:off x="1383" y="1388"/>
              <a:ext cx="680" cy="136"/>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MS-EXCEL</a:t>
              </a:r>
            </a:p>
          </p:txBody>
        </p:sp>
        <p:sp>
          <p:nvSpPr>
            <p:cNvPr id="38937" name="WordArt 25"/>
            <p:cNvSpPr>
              <a:spLocks noChangeArrowheads="1" noChangeShapeType="1" noTextEdit="1"/>
            </p:cNvSpPr>
            <p:nvPr/>
          </p:nvSpPr>
          <p:spPr bwMode="auto">
            <a:xfrm>
              <a:off x="1383" y="1978"/>
              <a:ext cx="499" cy="136"/>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MSN</a:t>
              </a:r>
            </a:p>
          </p:txBody>
        </p:sp>
        <p:sp>
          <p:nvSpPr>
            <p:cNvPr id="38938" name="WordArt 26"/>
            <p:cNvSpPr>
              <a:spLocks noChangeArrowheads="1" noChangeShapeType="1" noTextEdit="1"/>
            </p:cNvSpPr>
            <p:nvPr/>
          </p:nvSpPr>
          <p:spPr bwMode="auto">
            <a:xfrm>
              <a:off x="1383" y="2568"/>
              <a:ext cx="680" cy="136"/>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I.EXPLORER</a:t>
              </a:r>
            </a:p>
          </p:txBody>
        </p:sp>
        <p:sp>
          <p:nvSpPr>
            <p:cNvPr id="38939" name="WordArt 27"/>
            <p:cNvSpPr>
              <a:spLocks noChangeArrowheads="1" noChangeShapeType="1" noTextEdit="1"/>
            </p:cNvSpPr>
            <p:nvPr/>
          </p:nvSpPr>
          <p:spPr bwMode="auto">
            <a:xfrm>
              <a:off x="1383" y="3157"/>
              <a:ext cx="680" cy="136"/>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MS-ENCARTA</a:t>
              </a:r>
            </a:p>
          </p:txBody>
        </p:sp>
      </p:grpSp>
      <p:sp>
        <p:nvSpPr>
          <p:cNvPr id="38940" name="WordArt 28"/>
          <p:cNvSpPr>
            <a:spLocks noChangeArrowheads="1" noChangeShapeType="1" noTextEdit="1"/>
          </p:cNvSpPr>
          <p:nvPr/>
        </p:nvSpPr>
        <p:spPr bwMode="auto">
          <a:xfrm>
            <a:off x="4500563" y="5876925"/>
            <a:ext cx="1295400" cy="215900"/>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ABRAPALABRA</a:t>
            </a:r>
          </a:p>
        </p:txBody>
      </p:sp>
      <p:grpSp>
        <p:nvGrpSpPr>
          <p:cNvPr id="38949" name="Group 37"/>
          <p:cNvGrpSpPr>
            <a:grpSpLocks/>
          </p:cNvGrpSpPr>
          <p:nvPr/>
        </p:nvGrpSpPr>
        <p:grpSpPr bwMode="auto">
          <a:xfrm>
            <a:off x="6732588" y="1557338"/>
            <a:ext cx="1966912" cy="4352925"/>
            <a:chOff x="4241" y="663"/>
            <a:chExt cx="1239" cy="2742"/>
          </a:xfrm>
        </p:grpSpPr>
        <p:pic>
          <p:nvPicPr>
            <p:cNvPr id="38920" name="Picture 8" descr="ACROBA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58" y="1751"/>
              <a:ext cx="408" cy="408"/>
            </a:xfrm>
            <a:prstGeom prst="rect">
              <a:avLst/>
            </a:prstGeom>
            <a:noFill/>
            <a:extLst>
              <a:ext uri="{909E8E84-426E-40DD-AFC4-6F175D3DCCD1}">
                <a14:hiddenFill xmlns:a14="http://schemas.microsoft.com/office/drawing/2010/main">
                  <a:solidFill>
                    <a:srgbClr val="FFFFFF"/>
                  </a:solidFill>
                </a14:hiddenFill>
              </a:ext>
            </a:extLst>
          </p:spPr>
        </p:pic>
        <p:pic>
          <p:nvPicPr>
            <p:cNvPr id="38921" name="Picture 9" descr="CORE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12" y="663"/>
              <a:ext cx="429" cy="429"/>
            </a:xfrm>
            <a:prstGeom prst="rect">
              <a:avLst/>
            </a:prstGeom>
            <a:noFill/>
            <a:extLst>
              <a:ext uri="{909E8E84-426E-40DD-AFC4-6F175D3DCCD1}">
                <a14:hiddenFill xmlns:a14="http://schemas.microsoft.com/office/drawing/2010/main">
                  <a:solidFill>
                    <a:srgbClr val="FFFFFF"/>
                  </a:solidFill>
                </a14:hiddenFill>
              </a:ext>
            </a:extLst>
          </p:spPr>
        </p:pic>
        <p:pic>
          <p:nvPicPr>
            <p:cNvPr id="38925" name="Picture 13" descr="FLASH"/>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58" y="2386"/>
              <a:ext cx="422" cy="422"/>
            </a:xfrm>
            <a:prstGeom prst="rect">
              <a:avLst/>
            </a:prstGeom>
            <a:noFill/>
            <a:extLst>
              <a:ext uri="{909E8E84-426E-40DD-AFC4-6F175D3DCCD1}">
                <a14:hiddenFill xmlns:a14="http://schemas.microsoft.com/office/drawing/2010/main">
                  <a:solidFill>
                    <a:srgbClr val="FFFFFF"/>
                  </a:solidFill>
                </a14:hiddenFill>
              </a:ext>
            </a:extLst>
          </p:spPr>
        </p:pic>
        <p:pic>
          <p:nvPicPr>
            <p:cNvPr id="38927" name="Picture 15" descr="NORTON"/>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58" y="1207"/>
              <a:ext cx="384" cy="384"/>
            </a:xfrm>
            <a:prstGeom prst="rect">
              <a:avLst/>
            </a:prstGeom>
            <a:noFill/>
            <a:extLst>
              <a:ext uri="{909E8E84-426E-40DD-AFC4-6F175D3DCCD1}">
                <a14:hiddenFill xmlns:a14="http://schemas.microsoft.com/office/drawing/2010/main">
                  <a:solidFill>
                    <a:srgbClr val="FFFFFF"/>
                  </a:solidFill>
                </a14:hiddenFill>
              </a:ext>
            </a:extLst>
          </p:spPr>
        </p:pic>
        <p:pic>
          <p:nvPicPr>
            <p:cNvPr id="38928" name="Picture 16" descr="PHOTOSHOP"/>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58" y="3021"/>
              <a:ext cx="384" cy="384"/>
            </a:xfrm>
            <a:prstGeom prst="rect">
              <a:avLst/>
            </a:prstGeom>
            <a:noFill/>
            <a:extLst>
              <a:ext uri="{909E8E84-426E-40DD-AFC4-6F175D3DCCD1}">
                <a14:hiddenFill xmlns:a14="http://schemas.microsoft.com/office/drawing/2010/main">
                  <a:solidFill>
                    <a:srgbClr val="FFFFFF"/>
                  </a:solidFill>
                </a14:hiddenFill>
              </a:ext>
            </a:extLst>
          </p:spPr>
        </p:pic>
        <p:sp>
          <p:nvSpPr>
            <p:cNvPr id="38941" name="WordArt 29"/>
            <p:cNvSpPr>
              <a:spLocks noChangeArrowheads="1" noChangeShapeType="1" noTextEdit="1"/>
            </p:cNvSpPr>
            <p:nvPr/>
          </p:nvSpPr>
          <p:spPr bwMode="auto">
            <a:xfrm>
              <a:off x="4241" y="753"/>
              <a:ext cx="680" cy="136"/>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COREL</a:t>
              </a:r>
            </a:p>
          </p:txBody>
        </p:sp>
        <p:sp>
          <p:nvSpPr>
            <p:cNvPr id="38942" name="WordArt 30"/>
            <p:cNvSpPr>
              <a:spLocks noChangeArrowheads="1" noChangeShapeType="1" noTextEdit="1"/>
            </p:cNvSpPr>
            <p:nvPr/>
          </p:nvSpPr>
          <p:spPr bwMode="auto">
            <a:xfrm>
              <a:off x="4241" y="1388"/>
              <a:ext cx="680" cy="136"/>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NORTON</a:t>
              </a:r>
            </a:p>
          </p:txBody>
        </p:sp>
        <p:sp>
          <p:nvSpPr>
            <p:cNvPr id="38943" name="WordArt 31"/>
            <p:cNvSpPr>
              <a:spLocks noChangeArrowheads="1" noChangeShapeType="1" noTextEdit="1"/>
            </p:cNvSpPr>
            <p:nvPr/>
          </p:nvSpPr>
          <p:spPr bwMode="auto">
            <a:xfrm>
              <a:off x="4241" y="1933"/>
              <a:ext cx="680" cy="136"/>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ACROBAT</a:t>
              </a:r>
            </a:p>
          </p:txBody>
        </p:sp>
        <p:sp>
          <p:nvSpPr>
            <p:cNvPr id="38944" name="WordArt 32"/>
            <p:cNvSpPr>
              <a:spLocks noChangeArrowheads="1" noChangeShapeType="1" noTextEdit="1"/>
            </p:cNvSpPr>
            <p:nvPr/>
          </p:nvSpPr>
          <p:spPr bwMode="auto">
            <a:xfrm>
              <a:off x="4287" y="2568"/>
              <a:ext cx="680" cy="136"/>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FLASH</a:t>
              </a:r>
            </a:p>
          </p:txBody>
        </p:sp>
        <p:sp>
          <p:nvSpPr>
            <p:cNvPr id="38945" name="WordArt 33"/>
            <p:cNvSpPr>
              <a:spLocks noChangeArrowheads="1" noChangeShapeType="1" noTextEdit="1"/>
            </p:cNvSpPr>
            <p:nvPr/>
          </p:nvSpPr>
          <p:spPr bwMode="auto">
            <a:xfrm>
              <a:off x="4287" y="3157"/>
              <a:ext cx="680" cy="136"/>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PHOTOSHOP</a:t>
              </a:r>
            </a:p>
          </p:txBody>
        </p:sp>
      </p:grpSp>
      <p:grpSp>
        <p:nvGrpSpPr>
          <p:cNvPr id="38951" name="Group 39"/>
          <p:cNvGrpSpPr>
            <a:grpSpLocks/>
          </p:cNvGrpSpPr>
          <p:nvPr/>
        </p:nvGrpSpPr>
        <p:grpSpPr bwMode="auto">
          <a:xfrm>
            <a:off x="3851275" y="1987550"/>
            <a:ext cx="2592388" cy="2592388"/>
            <a:chOff x="2290" y="1116"/>
            <a:chExt cx="1769" cy="1769"/>
          </a:xfrm>
        </p:grpSpPr>
        <p:pic>
          <p:nvPicPr>
            <p:cNvPr id="38935" name="Picture 23" descr="sinemision2"/>
            <p:cNvPicPr>
              <a:picLocks noChangeAspect="1" noChangeArrowheads="1" noCrop="1"/>
            </p:cNvPicPr>
            <p:nvPr/>
          </p:nvPicPr>
          <p:blipFill>
            <a:blip r:embed="rId14">
              <a:extLst>
                <a:ext uri="{28A0092B-C50C-407E-A947-70E740481C1C}">
                  <a14:useLocalDpi xmlns:a14="http://schemas.microsoft.com/office/drawing/2010/main" val="0"/>
                </a:ext>
              </a:extLst>
            </a:blip>
            <a:srcRect/>
            <a:stretch>
              <a:fillRect/>
            </a:stretch>
          </p:blipFill>
          <p:spPr bwMode="auto">
            <a:xfrm>
              <a:off x="2290" y="1116"/>
              <a:ext cx="1769" cy="1769"/>
            </a:xfrm>
            <a:prstGeom prst="rect">
              <a:avLst/>
            </a:prstGeom>
            <a:noFill/>
            <a:extLst>
              <a:ext uri="{909E8E84-426E-40DD-AFC4-6F175D3DCCD1}">
                <a14:hiddenFill xmlns:a14="http://schemas.microsoft.com/office/drawing/2010/main">
                  <a:solidFill>
                    <a:srgbClr val="FFFFFF"/>
                  </a:solidFill>
                </a14:hiddenFill>
              </a:ext>
            </a:extLst>
          </p:spPr>
        </p:pic>
        <p:pic>
          <p:nvPicPr>
            <p:cNvPr id="38934" name="Picture 22" descr="L5"/>
            <p:cNvPicPr>
              <a:picLocks noChangeAspect="1" noChangeArrowheads="1" noCrop="1"/>
            </p:cNvPicPr>
            <p:nvPr/>
          </p:nvPicPr>
          <p:blipFill>
            <a:blip r:embed="rId15">
              <a:extLst>
                <a:ext uri="{28A0092B-C50C-407E-A947-70E740481C1C}">
                  <a14:useLocalDpi xmlns:a14="http://schemas.microsoft.com/office/drawing/2010/main" val="0"/>
                </a:ext>
              </a:extLst>
            </a:blip>
            <a:srcRect/>
            <a:stretch>
              <a:fillRect/>
            </a:stretch>
          </p:blipFill>
          <p:spPr bwMode="auto">
            <a:xfrm>
              <a:off x="2370" y="1199"/>
              <a:ext cx="1609" cy="1614"/>
            </a:xfrm>
            <a:prstGeom prst="rect">
              <a:avLst/>
            </a:prstGeom>
            <a:noFill/>
            <a:extLst>
              <a:ext uri="{909E8E84-426E-40DD-AFC4-6F175D3DCCD1}">
                <a14:hiddenFill xmlns:a14="http://schemas.microsoft.com/office/drawing/2010/main">
                  <a:solidFill>
                    <a:srgbClr val="FFFFFF"/>
                  </a:solidFill>
                </a14:hiddenFill>
              </a:ext>
            </a:extLst>
          </p:spPr>
        </p:pic>
        <p:pic>
          <p:nvPicPr>
            <p:cNvPr id="38933" name="Picture 21" descr="L4"/>
            <p:cNvPicPr>
              <a:picLocks noChangeAspect="1" noChangeArrowheads="1" noCrop="1"/>
            </p:cNvPicPr>
            <p:nvPr/>
          </p:nvPicPr>
          <p:blipFill>
            <a:blip r:embed="rId16">
              <a:extLst>
                <a:ext uri="{28A0092B-C50C-407E-A947-70E740481C1C}">
                  <a14:useLocalDpi xmlns:a14="http://schemas.microsoft.com/office/drawing/2010/main" val="0"/>
                </a:ext>
              </a:extLst>
            </a:blip>
            <a:srcRect/>
            <a:stretch>
              <a:fillRect/>
            </a:stretch>
          </p:blipFill>
          <p:spPr bwMode="auto">
            <a:xfrm>
              <a:off x="2450" y="1282"/>
              <a:ext cx="1449" cy="1448"/>
            </a:xfrm>
            <a:prstGeom prst="rect">
              <a:avLst/>
            </a:prstGeom>
            <a:noFill/>
            <a:extLst>
              <a:ext uri="{909E8E84-426E-40DD-AFC4-6F175D3DCCD1}">
                <a14:hiddenFill xmlns:a14="http://schemas.microsoft.com/office/drawing/2010/main">
                  <a:solidFill>
                    <a:srgbClr val="FFFFFF"/>
                  </a:solidFill>
                </a14:hiddenFill>
              </a:ext>
            </a:extLst>
          </p:spPr>
        </p:pic>
        <p:pic>
          <p:nvPicPr>
            <p:cNvPr id="38932" name="Picture 20" descr="grass02-Daemon"/>
            <p:cNvPicPr>
              <a:picLocks noChangeAspect="1" noChangeArrowheads="1" noCrop="1"/>
            </p:cNvPicPr>
            <p:nvPr/>
          </p:nvPicPr>
          <p:blipFill>
            <a:blip r:embed="rId17">
              <a:extLst>
                <a:ext uri="{28A0092B-C50C-407E-A947-70E740481C1C}">
                  <a14:useLocalDpi xmlns:a14="http://schemas.microsoft.com/office/drawing/2010/main" val="0"/>
                </a:ext>
              </a:extLst>
            </a:blip>
            <a:srcRect/>
            <a:stretch>
              <a:fillRect/>
            </a:stretch>
          </p:blipFill>
          <p:spPr bwMode="auto">
            <a:xfrm>
              <a:off x="2531" y="1364"/>
              <a:ext cx="1287" cy="1284"/>
            </a:xfrm>
            <a:prstGeom prst="rect">
              <a:avLst/>
            </a:prstGeom>
            <a:noFill/>
            <a:extLst>
              <a:ext uri="{909E8E84-426E-40DD-AFC4-6F175D3DCCD1}">
                <a14:hiddenFill xmlns:a14="http://schemas.microsoft.com/office/drawing/2010/main">
                  <a:solidFill>
                    <a:srgbClr val="FFFFFF"/>
                  </a:solidFill>
                </a14:hiddenFill>
              </a:ext>
            </a:extLst>
          </p:spPr>
        </p:pic>
        <p:pic>
          <p:nvPicPr>
            <p:cNvPr id="38947" name="Picture 35" descr="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08" y="1479"/>
              <a:ext cx="1134" cy="1088"/>
            </a:xfrm>
            <a:prstGeom prst="rect">
              <a:avLst/>
            </a:prstGeom>
            <a:noFill/>
            <a:extLst>
              <a:ext uri="{909E8E84-426E-40DD-AFC4-6F175D3DCCD1}">
                <a14:hiddenFill xmlns:a14="http://schemas.microsoft.com/office/drawing/2010/main">
                  <a:solidFill>
                    <a:srgbClr val="FFFFFF"/>
                  </a:solidFill>
                </a14:hiddenFill>
              </a:ext>
            </a:extLst>
          </p:spPr>
        </p:pic>
      </p:grpSp>
      <p:pic>
        <p:nvPicPr>
          <p:cNvPr id="38952" name="Picture 40" descr="cable_data_transfer_md_wht"/>
          <p:cNvPicPr>
            <a:picLocks noChangeAspect="1" noChangeArrowheads="1" noCrop="1"/>
          </p:cNvPicPr>
          <p:nvPr/>
        </p:nvPicPr>
        <p:blipFill>
          <a:blip r:embed="rId19">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4820" name="Rectangle 4"/>
          <p:cNvSpPr>
            <a:spLocks noChangeArrowheads="1"/>
          </p:cNvSpPr>
          <p:nvPr/>
        </p:nvSpPr>
        <p:spPr bwMode="auto">
          <a:xfrm>
            <a:off x="1763713" y="2492375"/>
            <a:ext cx="5795962"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r>
              <a:rPr lang="es-MX" altLang="es-MX" sz="2000" b="1">
                <a:solidFill>
                  <a:srgbClr val="000066"/>
                </a:solidFill>
                <a:latin typeface="Courier New" panose="02070309020205020404" pitchFamily="49" charset="0"/>
              </a:rPr>
              <a:t> </a:t>
            </a:r>
            <a:endParaRPr lang="es-ES" altLang="es-MX" sz="2000" b="1">
              <a:solidFill>
                <a:srgbClr val="000066"/>
              </a:solidFill>
              <a:latin typeface="Courier New" panose="02070309020205020404" pitchFamily="49" charset="0"/>
            </a:endParaRPr>
          </a:p>
          <a:p>
            <a:r>
              <a:rPr lang="es-MX" altLang="es-MX" sz="2000" b="1">
                <a:solidFill>
                  <a:srgbClr val="000066"/>
                </a:solidFill>
                <a:latin typeface="Courier New" panose="02070309020205020404" pitchFamily="49" charset="0"/>
              </a:rPr>
              <a:t> </a:t>
            </a:r>
            <a:r>
              <a:rPr lang="es-MX" altLang="es-MX" b="1">
                <a:solidFill>
                  <a:srgbClr val="000066"/>
                </a:solidFill>
                <a:latin typeface="Courier New" panose="02070309020205020404" pitchFamily="49" charset="0"/>
              </a:rPr>
              <a:t>Está compuesto por las unidades más pequeñas , esta es el BIT; cada BIT  corresponde a un digito en forma binaria , es decir 1 ó 0 . El byte es una unidad de medición que  mide la capacidad de almacenamiento en un computador.</a:t>
            </a:r>
            <a:endParaRPr lang="es-ES" altLang="es-MX" b="1">
              <a:solidFill>
                <a:srgbClr val="000066"/>
              </a:solidFill>
              <a:latin typeface="Courier New" panose="02070309020205020404" pitchFamily="49" charset="0"/>
            </a:endParaRPr>
          </a:p>
          <a:p>
            <a:r>
              <a:rPr lang="es-ES" altLang="es-MX" b="1">
                <a:latin typeface="Courier New" panose="02070309020205020404" pitchFamily="49" charset="0"/>
              </a:rPr>
              <a:t> </a:t>
            </a:r>
          </a:p>
        </p:txBody>
      </p:sp>
      <p:sp>
        <p:nvSpPr>
          <p:cNvPr id="34821" name="AutoShape 5"/>
          <p:cNvSpPr>
            <a:spLocks noChangeArrowheads="1"/>
          </p:cNvSpPr>
          <p:nvPr/>
        </p:nvSpPr>
        <p:spPr bwMode="auto">
          <a:xfrm>
            <a:off x="2119313" y="1336675"/>
            <a:ext cx="2514600" cy="457200"/>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34822" name="WordArt 6"/>
          <p:cNvSpPr>
            <a:spLocks noChangeArrowheads="1" noChangeShapeType="1" noTextEdit="1"/>
          </p:cNvSpPr>
          <p:nvPr/>
        </p:nvSpPr>
        <p:spPr bwMode="auto">
          <a:xfrm>
            <a:off x="2195513" y="1412875"/>
            <a:ext cx="2286000" cy="304800"/>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El Byte</a:t>
            </a:r>
          </a:p>
        </p:txBody>
      </p:sp>
      <p:sp>
        <p:nvSpPr>
          <p:cNvPr id="34823" name="AutoShape 7"/>
          <p:cNvSpPr>
            <a:spLocks noChangeArrowheads="1"/>
          </p:cNvSpPr>
          <p:nvPr/>
        </p:nvSpPr>
        <p:spPr bwMode="auto">
          <a:xfrm flipV="1">
            <a:off x="4862513" y="1489075"/>
            <a:ext cx="609600" cy="457200"/>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pic>
        <p:nvPicPr>
          <p:cNvPr id="34824" name="Picture 8" descr="bulletsmall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401763" y="1484313"/>
            <a:ext cx="217487" cy="217487"/>
          </a:xfrm>
          <a:prstGeom prst="rect">
            <a:avLst/>
          </a:prstGeom>
          <a:noFill/>
          <a:extLst>
            <a:ext uri="{909E8E84-426E-40DD-AFC4-6F175D3DCCD1}">
              <a14:hiddenFill xmlns:a14="http://schemas.microsoft.com/office/drawing/2010/main">
                <a:solidFill>
                  <a:srgbClr val="FFFFFF"/>
                </a:solidFill>
              </a14:hiddenFill>
            </a:ext>
          </a:extLst>
        </p:spPr>
      </p:pic>
      <p:grpSp>
        <p:nvGrpSpPr>
          <p:cNvPr id="34830" name="Group 14"/>
          <p:cNvGrpSpPr>
            <a:grpSpLocks/>
          </p:cNvGrpSpPr>
          <p:nvPr/>
        </p:nvGrpSpPr>
        <p:grpSpPr bwMode="auto">
          <a:xfrm>
            <a:off x="7094538" y="1125538"/>
            <a:ext cx="1654175" cy="1655762"/>
            <a:chOff x="4105" y="572"/>
            <a:chExt cx="1179" cy="1180"/>
          </a:xfrm>
        </p:grpSpPr>
        <p:pic>
          <p:nvPicPr>
            <p:cNvPr id="34828" name="Picture 12" descr="L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105" y="572"/>
              <a:ext cx="1112" cy="1134"/>
            </a:xfrm>
            <a:prstGeom prst="rect">
              <a:avLst/>
            </a:prstGeom>
            <a:noFill/>
            <a:extLst>
              <a:ext uri="{909E8E84-426E-40DD-AFC4-6F175D3DCCD1}">
                <a14:hiddenFill xmlns:a14="http://schemas.microsoft.com/office/drawing/2010/main">
                  <a:solidFill>
                    <a:srgbClr val="FFFFFF"/>
                  </a:solidFill>
                </a14:hiddenFill>
              </a:ext>
            </a:extLst>
          </p:spPr>
        </p:pic>
        <p:pic>
          <p:nvPicPr>
            <p:cNvPr id="34825" name="Picture 9" descr="0110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0" y="618"/>
              <a:ext cx="1134" cy="1134"/>
            </a:xfrm>
            <a:prstGeom prst="rect">
              <a:avLst/>
            </a:prstGeom>
            <a:noFill/>
            <a:extLst>
              <a:ext uri="{909E8E84-426E-40DD-AFC4-6F175D3DCCD1}">
                <a14:hiddenFill xmlns:a14="http://schemas.microsoft.com/office/drawing/2010/main">
                  <a:solidFill>
                    <a:srgbClr val="FFFFFF"/>
                  </a:solidFill>
                </a14:hiddenFill>
              </a:ext>
            </a:extLst>
          </p:spPr>
        </p:pic>
      </p:grpSp>
      <p:sp>
        <p:nvSpPr>
          <p:cNvPr id="34827" name="WordArt 11"/>
          <p:cNvSpPr>
            <a:spLocks noChangeArrowheads="1" noChangeShapeType="1" noTextEdit="1"/>
          </p:cNvSpPr>
          <p:nvPr/>
        </p:nvSpPr>
        <p:spPr bwMode="auto">
          <a:xfrm>
            <a:off x="2195513" y="1989138"/>
            <a:ext cx="2286000" cy="215900"/>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Unidades de medida</a:t>
            </a:r>
          </a:p>
        </p:txBody>
      </p:sp>
      <p:sp>
        <p:nvSpPr>
          <p:cNvPr id="34831" name="WordArt 15"/>
          <p:cNvSpPr>
            <a:spLocks noChangeArrowheads="1" noChangeShapeType="1" noTextEdit="1"/>
          </p:cNvSpPr>
          <p:nvPr/>
        </p:nvSpPr>
        <p:spPr bwMode="auto">
          <a:xfrm rot="5400000">
            <a:off x="-1296988" y="4040188"/>
            <a:ext cx="3313113" cy="217488"/>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Conceptos Básicos</a:t>
            </a:r>
          </a:p>
        </p:txBody>
      </p:sp>
      <p:pic>
        <p:nvPicPr>
          <p:cNvPr id="34832" name="Picture 16" descr="cable_data_transfer_md_wht"/>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5851" name="WordArt 11"/>
          <p:cNvSpPr>
            <a:spLocks noChangeArrowheads="1" noChangeShapeType="1" noTextEdit="1"/>
          </p:cNvSpPr>
          <p:nvPr/>
        </p:nvSpPr>
        <p:spPr bwMode="auto">
          <a:xfrm rot="5400000">
            <a:off x="-1260475" y="3932238"/>
            <a:ext cx="3240087" cy="217488"/>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Equivalencia</a:t>
            </a:r>
          </a:p>
        </p:txBody>
      </p:sp>
      <p:grpSp>
        <p:nvGrpSpPr>
          <p:cNvPr id="35854" name="Group 14"/>
          <p:cNvGrpSpPr>
            <a:grpSpLocks/>
          </p:cNvGrpSpPr>
          <p:nvPr/>
        </p:nvGrpSpPr>
        <p:grpSpPr bwMode="auto">
          <a:xfrm>
            <a:off x="1789113" y="1484313"/>
            <a:ext cx="7823200" cy="4576762"/>
            <a:chOff x="1127" y="935"/>
            <a:chExt cx="4928" cy="2883"/>
          </a:xfrm>
        </p:grpSpPr>
        <p:pic>
          <p:nvPicPr>
            <p:cNvPr id="35850" name="Picture 10"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168" y="935"/>
              <a:ext cx="2268" cy="320"/>
            </a:xfrm>
            <a:prstGeom prst="rect">
              <a:avLst/>
            </a:prstGeom>
            <a:noFill/>
            <a:extLst>
              <a:ext uri="{909E8E84-426E-40DD-AFC4-6F175D3DCCD1}">
                <a14:hiddenFill xmlns:a14="http://schemas.microsoft.com/office/drawing/2010/main">
                  <a:solidFill>
                    <a:srgbClr val="FFFFFF"/>
                  </a:solidFill>
                </a14:hiddenFill>
              </a:ext>
            </a:extLst>
          </p:spPr>
        </p:pic>
        <p:pic>
          <p:nvPicPr>
            <p:cNvPr id="35845" name="Picture 5"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168" y="1388"/>
              <a:ext cx="2268" cy="320"/>
            </a:xfrm>
            <a:prstGeom prst="rect">
              <a:avLst/>
            </a:prstGeom>
            <a:noFill/>
            <a:extLst>
              <a:ext uri="{909E8E84-426E-40DD-AFC4-6F175D3DCCD1}">
                <a14:hiddenFill xmlns:a14="http://schemas.microsoft.com/office/drawing/2010/main">
                  <a:solidFill>
                    <a:srgbClr val="FFFFFF"/>
                  </a:solidFill>
                </a14:hiddenFill>
              </a:ext>
            </a:extLst>
          </p:spPr>
        </p:pic>
        <p:pic>
          <p:nvPicPr>
            <p:cNvPr id="35846" name="Picture 6"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168" y="1842"/>
              <a:ext cx="2268" cy="320"/>
            </a:xfrm>
            <a:prstGeom prst="rect">
              <a:avLst/>
            </a:prstGeom>
            <a:noFill/>
            <a:extLst>
              <a:ext uri="{909E8E84-426E-40DD-AFC4-6F175D3DCCD1}">
                <a14:hiddenFill xmlns:a14="http://schemas.microsoft.com/office/drawing/2010/main">
                  <a:solidFill>
                    <a:srgbClr val="FFFFFF"/>
                  </a:solidFill>
                </a14:hiddenFill>
              </a:ext>
            </a:extLst>
          </p:spPr>
        </p:pic>
        <p:pic>
          <p:nvPicPr>
            <p:cNvPr id="35847" name="Picture 7"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168" y="2341"/>
              <a:ext cx="2268" cy="320"/>
            </a:xfrm>
            <a:prstGeom prst="rect">
              <a:avLst/>
            </a:prstGeom>
            <a:noFill/>
            <a:extLst>
              <a:ext uri="{909E8E84-426E-40DD-AFC4-6F175D3DCCD1}">
                <a14:hiddenFill xmlns:a14="http://schemas.microsoft.com/office/drawing/2010/main">
                  <a:solidFill>
                    <a:srgbClr val="FFFFFF"/>
                  </a:solidFill>
                </a14:hiddenFill>
              </a:ext>
            </a:extLst>
          </p:spPr>
        </p:pic>
        <p:pic>
          <p:nvPicPr>
            <p:cNvPr id="35848" name="Picture 8"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168" y="2794"/>
              <a:ext cx="2268" cy="320"/>
            </a:xfrm>
            <a:prstGeom prst="rect">
              <a:avLst/>
            </a:prstGeom>
            <a:noFill/>
            <a:extLst>
              <a:ext uri="{909E8E84-426E-40DD-AFC4-6F175D3DCCD1}">
                <a14:hiddenFill xmlns:a14="http://schemas.microsoft.com/office/drawing/2010/main">
                  <a:solidFill>
                    <a:srgbClr val="FFFFFF"/>
                  </a:solidFill>
                </a14:hiddenFill>
              </a:ext>
            </a:extLst>
          </p:spPr>
        </p:pic>
        <p:pic>
          <p:nvPicPr>
            <p:cNvPr id="35849" name="Picture 9"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168" y="3248"/>
              <a:ext cx="2268" cy="320"/>
            </a:xfrm>
            <a:prstGeom prst="rect">
              <a:avLst/>
            </a:prstGeom>
            <a:noFill/>
            <a:extLst>
              <a:ext uri="{909E8E84-426E-40DD-AFC4-6F175D3DCCD1}">
                <a14:hiddenFill xmlns:a14="http://schemas.microsoft.com/office/drawing/2010/main">
                  <a:solidFill>
                    <a:srgbClr val="FFFFFF"/>
                  </a:solidFill>
                </a14:hiddenFill>
              </a:ext>
            </a:extLst>
          </p:spPr>
        </p:pic>
        <p:sp>
          <p:nvSpPr>
            <p:cNvPr id="35844" name="Rectangle 4"/>
            <p:cNvSpPr>
              <a:spLocks noChangeArrowheads="1"/>
            </p:cNvSpPr>
            <p:nvPr/>
          </p:nvSpPr>
          <p:spPr bwMode="auto">
            <a:xfrm>
              <a:off x="1127" y="980"/>
              <a:ext cx="4928" cy="2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r>
                <a:rPr lang="es-MX" altLang="es-MX" b="1">
                  <a:latin typeface="Courier New" panose="02070309020205020404" pitchFamily="49" charset="0"/>
                </a:rPr>
                <a:t>8 bits(carácter)=  </a:t>
              </a:r>
              <a:r>
                <a:rPr lang="es-MX" altLang="es-MX" b="1">
                  <a:solidFill>
                    <a:schemeClr val="bg1"/>
                  </a:solidFill>
                  <a:latin typeface="Courier New" panose="02070309020205020404" pitchFamily="49" charset="0"/>
                </a:rPr>
                <a:t>1 byte.</a:t>
              </a:r>
              <a:endParaRPr lang="es-ES" altLang="es-MX" b="1">
                <a:solidFill>
                  <a:schemeClr val="bg1"/>
                </a:solidFill>
                <a:latin typeface="Courier New" panose="02070309020205020404" pitchFamily="49" charset="0"/>
              </a:endParaRPr>
            </a:p>
            <a:p>
              <a:endParaRPr lang="es-MX" altLang="es-MX" b="1">
                <a:solidFill>
                  <a:schemeClr val="bg1"/>
                </a:solidFill>
                <a:latin typeface="Courier New" panose="02070309020205020404" pitchFamily="49" charset="0"/>
              </a:endParaRPr>
            </a:p>
            <a:p>
              <a:r>
                <a:rPr lang="es-MX" altLang="es-MX" b="1">
                  <a:latin typeface="Courier New" panose="02070309020205020404" pitchFamily="49" charset="0"/>
                </a:rPr>
                <a:t>1024 byte       =  </a:t>
              </a:r>
              <a:r>
                <a:rPr lang="es-MX" altLang="es-MX" b="1">
                  <a:solidFill>
                    <a:schemeClr val="bg1"/>
                  </a:solidFill>
                  <a:latin typeface="Courier New" panose="02070309020205020404" pitchFamily="49" charset="0"/>
                </a:rPr>
                <a:t>1 kilo byte(Kb)</a:t>
              </a:r>
              <a:endParaRPr lang="es-ES" altLang="es-MX" b="1">
                <a:solidFill>
                  <a:schemeClr val="bg1"/>
                </a:solidFill>
                <a:latin typeface="Courier New" panose="02070309020205020404" pitchFamily="49" charset="0"/>
              </a:endParaRPr>
            </a:p>
            <a:p>
              <a:endParaRPr lang="es-MX" altLang="es-MX" b="1">
                <a:latin typeface="Courier New" panose="02070309020205020404" pitchFamily="49" charset="0"/>
              </a:endParaRPr>
            </a:p>
            <a:p>
              <a:r>
                <a:rPr lang="es-MX" altLang="es-MX" b="1">
                  <a:latin typeface="Courier New" panose="02070309020205020404" pitchFamily="49" charset="0"/>
                </a:rPr>
                <a:t>1024 kilo byte  =  </a:t>
              </a:r>
              <a:r>
                <a:rPr lang="es-MX" altLang="es-MX" b="1">
                  <a:solidFill>
                    <a:schemeClr val="bg1"/>
                  </a:solidFill>
                  <a:latin typeface="Courier New" panose="02070309020205020404" pitchFamily="49" charset="0"/>
                </a:rPr>
                <a:t>1 mega byte(Mb)</a:t>
              </a:r>
              <a:endParaRPr lang="es-ES" altLang="es-MX" b="1">
                <a:solidFill>
                  <a:schemeClr val="bg1"/>
                </a:solidFill>
                <a:latin typeface="Courier New" panose="02070309020205020404" pitchFamily="49" charset="0"/>
              </a:endParaRPr>
            </a:p>
            <a:p>
              <a:endParaRPr lang="es-MX" altLang="es-MX" b="1">
                <a:latin typeface="Courier New" panose="02070309020205020404" pitchFamily="49" charset="0"/>
              </a:endParaRPr>
            </a:p>
            <a:p>
              <a:r>
                <a:rPr lang="es-MX" altLang="es-MX" b="1">
                  <a:latin typeface="Courier New" panose="02070309020205020404" pitchFamily="49" charset="0"/>
                </a:rPr>
                <a:t>1024 mega byte  =  </a:t>
              </a:r>
              <a:r>
                <a:rPr lang="es-MX" altLang="es-MX" b="1">
                  <a:solidFill>
                    <a:schemeClr val="bg1"/>
                  </a:solidFill>
                  <a:latin typeface="Courier New" panose="02070309020205020404" pitchFamily="49" charset="0"/>
                </a:rPr>
                <a:t>1 giga byte(Gb)</a:t>
              </a:r>
              <a:endParaRPr lang="es-ES" altLang="es-MX" b="1">
                <a:solidFill>
                  <a:schemeClr val="bg1"/>
                </a:solidFill>
                <a:latin typeface="Courier New" panose="02070309020205020404" pitchFamily="49" charset="0"/>
              </a:endParaRPr>
            </a:p>
            <a:p>
              <a:endParaRPr lang="es-MX" altLang="es-MX" b="1">
                <a:latin typeface="Courier New" panose="02070309020205020404" pitchFamily="49" charset="0"/>
              </a:endParaRPr>
            </a:p>
            <a:p>
              <a:r>
                <a:rPr lang="es-MX" altLang="es-MX" b="1">
                  <a:latin typeface="Courier New" panose="02070309020205020404" pitchFamily="49" charset="0"/>
                </a:rPr>
                <a:t>1024 giga byte  =  </a:t>
              </a:r>
              <a:r>
                <a:rPr lang="es-MX" altLang="es-MX" b="1">
                  <a:solidFill>
                    <a:schemeClr val="bg1"/>
                  </a:solidFill>
                  <a:latin typeface="Courier New" panose="02070309020205020404" pitchFamily="49" charset="0"/>
                </a:rPr>
                <a:t>1 tera byte(Tb)</a:t>
              </a:r>
              <a:endParaRPr lang="es-ES" altLang="es-MX" b="1">
                <a:solidFill>
                  <a:schemeClr val="bg1"/>
                </a:solidFill>
                <a:latin typeface="Courier New" panose="02070309020205020404" pitchFamily="49" charset="0"/>
              </a:endParaRPr>
            </a:p>
            <a:p>
              <a:endParaRPr lang="es-MX" altLang="es-MX" b="1">
                <a:latin typeface="Courier New" panose="02070309020205020404" pitchFamily="49" charset="0"/>
              </a:endParaRPr>
            </a:p>
            <a:p>
              <a:r>
                <a:rPr lang="es-MX" altLang="es-MX" b="1">
                  <a:latin typeface="Courier New" panose="02070309020205020404" pitchFamily="49" charset="0"/>
                </a:rPr>
                <a:t>1024 tera byte  =</a:t>
              </a:r>
              <a:r>
                <a:rPr lang="es-MX" altLang="es-MX" sz="2800" b="1">
                  <a:latin typeface="Courier New" panose="02070309020205020404" pitchFamily="49" charset="0"/>
                </a:rPr>
                <a:t>  </a:t>
              </a:r>
              <a:r>
                <a:rPr lang="es-MX" altLang="es-MX" sz="2800" b="1">
                  <a:solidFill>
                    <a:schemeClr val="bg1"/>
                  </a:solidFill>
                  <a:latin typeface="Courier New" panose="02070309020205020404" pitchFamily="49" charset="0"/>
                </a:rPr>
                <a:t>1 pera byte(Pb)</a:t>
              </a:r>
              <a:endParaRPr lang="es-ES" altLang="es-MX" sz="2800" b="1">
                <a:solidFill>
                  <a:schemeClr val="bg1"/>
                </a:solidFill>
                <a:latin typeface="Courier New" panose="02070309020205020404" pitchFamily="49" charset="0"/>
              </a:endParaRPr>
            </a:p>
            <a:p>
              <a:r>
                <a:rPr lang="es-ES" altLang="es-MX" sz="2800"/>
                <a:t> </a:t>
              </a:r>
            </a:p>
          </p:txBody>
        </p:sp>
      </p:grpSp>
      <p:pic>
        <p:nvPicPr>
          <p:cNvPr id="35855" name="Picture 15" descr="cable_data_transfer_md_wht"/>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6868" name="AutoShape 4"/>
          <p:cNvSpPr>
            <a:spLocks noChangeArrowheads="1"/>
          </p:cNvSpPr>
          <p:nvPr/>
        </p:nvSpPr>
        <p:spPr bwMode="auto">
          <a:xfrm>
            <a:off x="2119313" y="1401763"/>
            <a:ext cx="2514600" cy="457200"/>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36869" name="WordArt 5"/>
          <p:cNvSpPr>
            <a:spLocks noChangeArrowheads="1" noChangeShapeType="1" noTextEdit="1"/>
          </p:cNvSpPr>
          <p:nvPr/>
        </p:nvSpPr>
        <p:spPr bwMode="auto">
          <a:xfrm>
            <a:off x="2195513" y="1477963"/>
            <a:ext cx="2286000" cy="304800"/>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El Hertz</a:t>
            </a:r>
          </a:p>
        </p:txBody>
      </p:sp>
      <p:sp>
        <p:nvSpPr>
          <p:cNvPr id="36870" name="AutoShape 6"/>
          <p:cNvSpPr>
            <a:spLocks noChangeArrowheads="1"/>
          </p:cNvSpPr>
          <p:nvPr/>
        </p:nvSpPr>
        <p:spPr bwMode="auto">
          <a:xfrm flipV="1">
            <a:off x="4862513" y="1554163"/>
            <a:ext cx="609600" cy="457200"/>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pic>
        <p:nvPicPr>
          <p:cNvPr id="36871" name="Picture 7" descr="bulletsmall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554163"/>
            <a:ext cx="217488" cy="217487"/>
          </a:xfrm>
          <a:prstGeom prst="rect">
            <a:avLst/>
          </a:prstGeom>
          <a:noFill/>
          <a:extLst>
            <a:ext uri="{909E8E84-426E-40DD-AFC4-6F175D3DCCD1}">
              <a14:hiddenFill xmlns:a14="http://schemas.microsoft.com/office/drawing/2010/main">
                <a:solidFill>
                  <a:srgbClr val="FFFFFF"/>
                </a:solidFill>
              </a14:hiddenFill>
            </a:ext>
          </a:extLst>
        </p:spPr>
      </p:pic>
      <p:sp>
        <p:nvSpPr>
          <p:cNvPr id="36872" name="WordArt 8"/>
          <p:cNvSpPr>
            <a:spLocks noChangeArrowheads="1" noChangeShapeType="1" noTextEdit="1"/>
          </p:cNvSpPr>
          <p:nvPr/>
        </p:nvSpPr>
        <p:spPr bwMode="auto">
          <a:xfrm>
            <a:off x="2195513" y="2054225"/>
            <a:ext cx="2286000" cy="215900"/>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Unidades de medida</a:t>
            </a:r>
          </a:p>
        </p:txBody>
      </p:sp>
      <p:sp>
        <p:nvSpPr>
          <p:cNvPr id="36874" name="Rectangle 10"/>
          <p:cNvSpPr>
            <a:spLocks noChangeArrowheads="1"/>
          </p:cNvSpPr>
          <p:nvPr/>
        </p:nvSpPr>
        <p:spPr bwMode="auto">
          <a:xfrm>
            <a:off x="1763713" y="2951163"/>
            <a:ext cx="6048375" cy="3719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r>
              <a:rPr lang="es-MX" altLang="es-MX" sz="2800" b="1">
                <a:solidFill>
                  <a:srgbClr val="000066"/>
                </a:solidFill>
                <a:latin typeface="Courier New" panose="02070309020205020404" pitchFamily="49" charset="0"/>
              </a:rPr>
              <a:t>Esta unidad  mide la velocidad en forma de 1 ciclo por segundo, que dice que un ciclo corresponde a una operación en código binario; ya sea suma, resta, multiplicación o división.</a:t>
            </a:r>
            <a:endParaRPr lang="es-ES" altLang="es-MX" sz="2800" b="1">
              <a:solidFill>
                <a:srgbClr val="000066"/>
              </a:solidFill>
              <a:latin typeface="Courier New" panose="02070309020205020404" pitchFamily="49" charset="0"/>
            </a:endParaRPr>
          </a:p>
          <a:p>
            <a:r>
              <a:rPr lang="es-MX" altLang="es-MX" b="1">
                <a:latin typeface="Courier New" panose="02070309020205020404" pitchFamily="49" charset="0"/>
              </a:rPr>
              <a:t> </a:t>
            </a:r>
            <a:endParaRPr lang="es-ES" altLang="es-MX" b="1">
              <a:latin typeface="Courier New" panose="02070309020205020404" pitchFamily="49" charset="0"/>
            </a:endParaRPr>
          </a:p>
          <a:p>
            <a:r>
              <a:rPr lang="es-ES" altLang="es-MX" b="1">
                <a:latin typeface="Courier New" panose="02070309020205020404" pitchFamily="49" charset="0"/>
              </a:rPr>
              <a:t> </a:t>
            </a:r>
          </a:p>
        </p:txBody>
      </p:sp>
      <p:grpSp>
        <p:nvGrpSpPr>
          <p:cNvPr id="36879" name="Group 15"/>
          <p:cNvGrpSpPr>
            <a:grpSpLocks/>
          </p:cNvGrpSpPr>
          <p:nvPr/>
        </p:nvGrpSpPr>
        <p:grpSpPr bwMode="auto">
          <a:xfrm>
            <a:off x="6694488" y="1196975"/>
            <a:ext cx="1693862" cy="1722438"/>
            <a:chOff x="4105" y="640"/>
            <a:chExt cx="1179" cy="1199"/>
          </a:xfrm>
        </p:grpSpPr>
        <p:pic>
          <p:nvPicPr>
            <p:cNvPr id="36876" name="Picture 12" descr="L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105" y="705"/>
              <a:ext cx="1112" cy="1134"/>
            </a:xfrm>
            <a:prstGeom prst="rect">
              <a:avLst/>
            </a:prstGeom>
            <a:noFill/>
            <a:extLst>
              <a:ext uri="{909E8E84-426E-40DD-AFC4-6F175D3DCCD1}">
                <a14:hiddenFill xmlns:a14="http://schemas.microsoft.com/office/drawing/2010/main">
                  <a:solidFill>
                    <a:srgbClr val="FFFFFF"/>
                  </a:solidFill>
                </a14:hiddenFill>
              </a:ext>
            </a:extLst>
          </p:spPr>
        </p:pic>
        <p:pic>
          <p:nvPicPr>
            <p:cNvPr id="36875" name="Picture 11" descr="0110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0" y="640"/>
              <a:ext cx="1134" cy="1134"/>
            </a:xfrm>
            <a:prstGeom prst="rect">
              <a:avLst/>
            </a:prstGeom>
            <a:noFill/>
            <a:extLst>
              <a:ext uri="{909E8E84-426E-40DD-AFC4-6F175D3DCCD1}">
                <a14:hiddenFill xmlns:a14="http://schemas.microsoft.com/office/drawing/2010/main">
                  <a:solidFill>
                    <a:srgbClr val="FFFFFF"/>
                  </a:solidFill>
                </a14:hiddenFill>
              </a:ext>
            </a:extLst>
          </p:spPr>
        </p:pic>
      </p:grpSp>
      <p:sp>
        <p:nvSpPr>
          <p:cNvPr id="36878" name="WordArt 14"/>
          <p:cNvSpPr>
            <a:spLocks noChangeArrowheads="1" noChangeShapeType="1" noTextEdit="1"/>
          </p:cNvSpPr>
          <p:nvPr/>
        </p:nvSpPr>
        <p:spPr bwMode="auto">
          <a:xfrm rot="5400000">
            <a:off x="-1332706" y="4075906"/>
            <a:ext cx="3384550" cy="217488"/>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Conceptos Básicos</a:t>
            </a:r>
          </a:p>
        </p:txBody>
      </p:sp>
      <p:pic>
        <p:nvPicPr>
          <p:cNvPr id="36880" name="Picture 16" descr="cable_data_transfer_md_wht"/>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7893" name="WordArt 5"/>
          <p:cNvSpPr>
            <a:spLocks noChangeArrowheads="1" noChangeShapeType="1" noTextEdit="1"/>
          </p:cNvSpPr>
          <p:nvPr/>
        </p:nvSpPr>
        <p:spPr bwMode="auto">
          <a:xfrm rot="5400000">
            <a:off x="-1224756" y="3967956"/>
            <a:ext cx="3168650" cy="217488"/>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Equivalencia</a:t>
            </a:r>
          </a:p>
        </p:txBody>
      </p:sp>
      <p:pic>
        <p:nvPicPr>
          <p:cNvPr id="37894" name="Picture 6"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003800" y="1412875"/>
            <a:ext cx="3248025" cy="519113"/>
          </a:xfrm>
          <a:prstGeom prst="rect">
            <a:avLst/>
          </a:prstGeom>
          <a:noFill/>
          <a:extLst>
            <a:ext uri="{909E8E84-426E-40DD-AFC4-6F175D3DCCD1}">
              <a14:hiddenFill xmlns:a14="http://schemas.microsoft.com/office/drawing/2010/main">
                <a:solidFill>
                  <a:srgbClr val="FFFFFF"/>
                </a:solidFill>
              </a14:hiddenFill>
            </a:ext>
          </a:extLst>
        </p:spPr>
      </p:pic>
      <p:pic>
        <p:nvPicPr>
          <p:cNvPr id="37895" name="Picture 7"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003800" y="2133600"/>
            <a:ext cx="3248025" cy="519113"/>
          </a:xfrm>
          <a:prstGeom prst="rect">
            <a:avLst/>
          </a:prstGeom>
          <a:noFill/>
          <a:extLst>
            <a:ext uri="{909E8E84-426E-40DD-AFC4-6F175D3DCCD1}">
              <a14:hiddenFill xmlns:a14="http://schemas.microsoft.com/office/drawing/2010/main">
                <a:solidFill>
                  <a:srgbClr val="FFFFFF"/>
                </a:solidFill>
              </a14:hiddenFill>
            </a:ext>
          </a:extLst>
        </p:spPr>
      </p:pic>
      <p:pic>
        <p:nvPicPr>
          <p:cNvPr id="37896" name="Picture 8"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003800" y="2924175"/>
            <a:ext cx="3248025" cy="519113"/>
          </a:xfrm>
          <a:prstGeom prst="rect">
            <a:avLst/>
          </a:prstGeom>
          <a:noFill/>
          <a:extLst>
            <a:ext uri="{909E8E84-426E-40DD-AFC4-6F175D3DCCD1}">
              <a14:hiddenFill xmlns:a14="http://schemas.microsoft.com/office/drawing/2010/main">
                <a:solidFill>
                  <a:srgbClr val="FFFFFF"/>
                </a:solidFill>
              </a14:hiddenFill>
            </a:ext>
          </a:extLst>
        </p:spPr>
      </p:pic>
      <p:pic>
        <p:nvPicPr>
          <p:cNvPr id="37897" name="Picture 9"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003800" y="3716338"/>
            <a:ext cx="3248025" cy="520700"/>
          </a:xfrm>
          <a:prstGeom prst="rect">
            <a:avLst/>
          </a:prstGeom>
          <a:noFill/>
          <a:extLst>
            <a:ext uri="{909E8E84-426E-40DD-AFC4-6F175D3DCCD1}">
              <a14:hiddenFill xmlns:a14="http://schemas.microsoft.com/office/drawing/2010/main">
                <a:solidFill>
                  <a:srgbClr val="FFFFFF"/>
                </a:solidFill>
              </a14:hiddenFill>
            </a:ext>
          </a:extLst>
        </p:spPr>
      </p:pic>
      <p:pic>
        <p:nvPicPr>
          <p:cNvPr id="37898" name="Picture 10"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003800" y="4437063"/>
            <a:ext cx="3248025" cy="519112"/>
          </a:xfrm>
          <a:prstGeom prst="rect">
            <a:avLst/>
          </a:prstGeom>
          <a:noFill/>
          <a:extLst>
            <a:ext uri="{909E8E84-426E-40DD-AFC4-6F175D3DCCD1}">
              <a14:hiddenFill xmlns:a14="http://schemas.microsoft.com/office/drawing/2010/main">
                <a:solidFill>
                  <a:srgbClr val="FFFFFF"/>
                </a:solidFill>
              </a14:hiddenFill>
            </a:ext>
          </a:extLst>
        </p:spPr>
      </p:pic>
      <p:pic>
        <p:nvPicPr>
          <p:cNvPr id="37899" name="Picture 11"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003800" y="5157788"/>
            <a:ext cx="3248025" cy="520700"/>
          </a:xfrm>
          <a:prstGeom prst="rect">
            <a:avLst/>
          </a:prstGeom>
          <a:noFill/>
          <a:extLst>
            <a:ext uri="{909E8E84-426E-40DD-AFC4-6F175D3DCCD1}">
              <a14:hiddenFill xmlns:a14="http://schemas.microsoft.com/office/drawing/2010/main">
                <a:solidFill>
                  <a:srgbClr val="FFFFFF"/>
                </a:solidFill>
              </a14:hiddenFill>
            </a:ext>
          </a:extLst>
        </p:spPr>
      </p:pic>
      <p:sp>
        <p:nvSpPr>
          <p:cNvPr id="37892" name="Rectangle 4"/>
          <p:cNvSpPr>
            <a:spLocks noChangeArrowheads="1"/>
          </p:cNvSpPr>
          <p:nvPr/>
        </p:nvSpPr>
        <p:spPr bwMode="auto">
          <a:xfrm>
            <a:off x="1749425" y="1530350"/>
            <a:ext cx="6283325" cy="438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r>
              <a:rPr lang="es-MX" altLang="es-MX" b="1">
                <a:solidFill>
                  <a:srgbClr val="000066"/>
                </a:solidFill>
                <a:latin typeface="Courier New" panose="02070309020205020404" pitchFamily="49" charset="0"/>
              </a:rPr>
              <a:t>1 ciclo/segundo = </a:t>
            </a:r>
            <a:r>
              <a:rPr lang="es-MX" altLang="es-MX" b="1">
                <a:solidFill>
                  <a:schemeClr val="bg1"/>
                </a:solidFill>
                <a:latin typeface="Courier New" panose="02070309020205020404" pitchFamily="49" charset="0"/>
              </a:rPr>
              <a:t>1 hertz hz</a:t>
            </a:r>
            <a:endParaRPr lang="es-ES" altLang="es-MX" b="1">
              <a:solidFill>
                <a:schemeClr val="bg1"/>
              </a:solidFill>
              <a:latin typeface="Courier New" panose="02070309020205020404" pitchFamily="49" charset="0"/>
            </a:endParaRPr>
          </a:p>
          <a:p>
            <a:endParaRPr lang="es-MX" altLang="es-MX" b="1">
              <a:solidFill>
                <a:schemeClr val="bg1"/>
              </a:solidFill>
              <a:latin typeface="Courier New" panose="02070309020205020404" pitchFamily="49" charset="0"/>
            </a:endParaRPr>
          </a:p>
          <a:p>
            <a:r>
              <a:rPr lang="es-MX" altLang="es-MX" b="1">
                <a:solidFill>
                  <a:srgbClr val="000066"/>
                </a:solidFill>
                <a:latin typeface="Courier New" panose="02070309020205020404" pitchFamily="49" charset="0"/>
              </a:rPr>
              <a:t>1000 hertz      = </a:t>
            </a:r>
            <a:r>
              <a:rPr lang="es-MX" altLang="es-MX" b="1">
                <a:solidFill>
                  <a:schemeClr val="bg1"/>
                </a:solidFill>
                <a:latin typeface="Courier New" panose="02070309020205020404" pitchFamily="49" charset="0"/>
              </a:rPr>
              <a:t>1 kilo hertz khz</a:t>
            </a:r>
            <a:endParaRPr lang="es-ES" altLang="es-MX" b="1">
              <a:solidFill>
                <a:schemeClr val="bg1"/>
              </a:solidFill>
              <a:latin typeface="Courier New" panose="02070309020205020404" pitchFamily="49" charset="0"/>
            </a:endParaRPr>
          </a:p>
          <a:p>
            <a:endParaRPr lang="es-MX" altLang="es-MX" b="1">
              <a:solidFill>
                <a:schemeClr val="bg1"/>
              </a:solidFill>
              <a:latin typeface="Courier New" panose="02070309020205020404" pitchFamily="49" charset="0"/>
            </a:endParaRPr>
          </a:p>
          <a:p>
            <a:r>
              <a:rPr lang="es-MX" altLang="es-MX" b="1">
                <a:solidFill>
                  <a:srgbClr val="000066"/>
                </a:solidFill>
                <a:latin typeface="Courier New" panose="02070309020205020404" pitchFamily="49" charset="0"/>
              </a:rPr>
              <a:t>1000 kilo hertz = </a:t>
            </a:r>
            <a:r>
              <a:rPr lang="es-MX" altLang="es-MX" b="1">
                <a:solidFill>
                  <a:schemeClr val="bg1"/>
                </a:solidFill>
                <a:latin typeface="Courier New" panose="02070309020205020404" pitchFamily="49" charset="0"/>
              </a:rPr>
              <a:t>1 mega hertz khz</a:t>
            </a:r>
            <a:endParaRPr lang="es-ES" altLang="es-MX" b="1">
              <a:solidFill>
                <a:schemeClr val="bg1"/>
              </a:solidFill>
              <a:latin typeface="Courier New" panose="02070309020205020404" pitchFamily="49" charset="0"/>
            </a:endParaRPr>
          </a:p>
          <a:p>
            <a:endParaRPr lang="es-MX" altLang="es-MX" b="1">
              <a:solidFill>
                <a:schemeClr val="bg1"/>
              </a:solidFill>
              <a:latin typeface="Courier New" panose="02070309020205020404" pitchFamily="49" charset="0"/>
            </a:endParaRPr>
          </a:p>
          <a:p>
            <a:r>
              <a:rPr lang="es-MX" altLang="es-MX" b="1">
                <a:solidFill>
                  <a:srgbClr val="000066"/>
                </a:solidFill>
                <a:latin typeface="Courier New" panose="02070309020205020404" pitchFamily="49" charset="0"/>
              </a:rPr>
              <a:t>1000 mega hertz = </a:t>
            </a:r>
            <a:r>
              <a:rPr lang="es-MX" altLang="es-MX" b="1">
                <a:solidFill>
                  <a:schemeClr val="bg1"/>
                </a:solidFill>
                <a:latin typeface="Courier New" panose="02070309020205020404" pitchFamily="49" charset="0"/>
              </a:rPr>
              <a:t>1 giga hertz ghz</a:t>
            </a:r>
            <a:endParaRPr lang="es-ES" altLang="es-MX" b="1">
              <a:solidFill>
                <a:schemeClr val="bg1"/>
              </a:solidFill>
              <a:latin typeface="Courier New" panose="02070309020205020404" pitchFamily="49" charset="0"/>
            </a:endParaRPr>
          </a:p>
          <a:p>
            <a:endParaRPr lang="es-MX" altLang="es-MX" b="1">
              <a:solidFill>
                <a:schemeClr val="bg1"/>
              </a:solidFill>
              <a:latin typeface="Courier New" panose="02070309020205020404" pitchFamily="49" charset="0"/>
            </a:endParaRPr>
          </a:p>
          <a:p>
            <a:r>
              <a:rPr lang="es-MX" altLang="es-MX" b="1">
                <a:solidFill>
                  <a:srgbClr val="000066"/>
                </a:solidFill>
                <a:latin typeface="Courier New" panose="02070309020205020404" pitchFamily="49" charset="0"/>
              </a:rPr>
              <a:t>1000 giga hertz = </a:t>
            </a:r>
            <a:r>
              <a:rPr lang="es-MX" altLang="es-MX" b="1">
                <a:solidFill>
                  <a:schemeClr val="bg1"/>
                </a:solidFill>
                <a:latin typeface="Courier New" panose="02070309020205020404" pitchFamily="49" charset="0"/>
              </a:rPr>
              <a:t>1 tera hertz thz</a:t>
            </a:r>
            <a:endParaRPr lang="es-ES" altLang="es-MX" b="1">
              <a:solidFill>
                <a:schemeClr val="bg1"/>
              </a:solidFill>
              <a:latin typeface="Courier New" panose="02070309020205020404" pitchFamily="49" charset="0"/>
            </a:endParaRPr>
          </a:p>
          <a:p>
            <a:endParaRPr lang="es-MX" altLang="es-MX" b="1">
              <a:solidFill>
                <a:schemeClr val="bg1"/>
              </a:solidFill>
              <a:latin typeface="Courier New" panose="02070309020205020404" pitchFamily="49" charset="0"/>
            </a:endParaRPr>
          </a:p>
          <a:p>
            <a:r>
              <a:rPr lang="es-MX" altLang="es-MX" b="1">
                <a:solidFill>
                  <a:srgbClr val="000066"/>
                </a:solidFill>
                <a:latin typeface="Courier New" panose="02070309020205020404" pitchFamily="49" charset="0"/>
              </a:rPr>
              <a:t>1000 tera hertz = </a:t>
            </a:r>
            <a:r>
              <a:rPr lang="es-MX" altLang="es-MX" b="1">
                <a:solidFill>
                  <a:schemeClr val="bg1"/>
                </a:solidFill>
                <a:latin typeface="Courier New" panose="02070309020205020404" pitchFamily="49" charset="0"/>
              </a:rPr>
              <a:t>1 pera hertz phz</a:t>
            </a:r>
            <a:r>
              <a:rPr lang="es-MX" altLang="es-MX">
                <a:solidFill>
                  <a:schemeClr val="bg1"/>
                </a:solidFill>
              </a:rPr>
              <a:t> </a:t>
            </a:r>
            <a:endParaRPr lang="es-ES" altLang="es-MX">
              <a:solidFill>
                <a:schemeClr val="bg1"/>
              </a:solidFill>
            </a:endParaRPr>
          </a:p>
          <a:p>
            <a:r>
              <a:rPr lang="es-ES" altLang="es-MX"/>
              <a:t> </a:t>
            </a:r>
          </a:p>
        </p:txBody>
      </p:sp>
      <p:pic>
        <p:nvPicPr>
          <p:cNvPr id="37902" name="Picture 14" descr="cable_data_transfer_md_wht"/>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482" name="WordArt 2"/>
          <p:cNvSpPr>
            <a:spLocks noChangeArrowheads="1" noChangeShapeType="1" noTextEdit="1"/>
          </p:cNvSpPr>
          <p:nvPr/>
        </p:nvSpPr>
        <p:spPr bwMode="auto">
          <a:xfrm rot="5400000">
            <a:off x="-622300" y="3365500"/>
            <a:ext cx="2016125" cy="269875"/>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Hardware</a:t>
            </a:r>
          </a:p>
        </p:txBody>
      </p:sp>
      <p:grpSp>
        <p:nvGrpSpPr>
          <p:cNvPr id="20493" name="Group 13"/>
          <p:cNvGrpSpPr>
            <a:grpSpLocks/>
          </p:cNvGrpSpPr>
          <p:nvPr/>
        </p:nvGrpSpPr>
        <p:grpSpPr bwMode="auto">
          <a:xfrm>
            <a:off x="2195513" y="1341438"/>
            <a:ext cx="3352800" cy="609600"/>
            <a:chOff x="1441" y="616"/>
            <a:chExt cx="2112" cy="384"/>
          </a:xfrm>
        </p:grpSpPr>
        <p:sp>
          <p:nvSpPr>
            <p:cNvPr id="20483" name="AutoShape 3"/>
            <p:cNvSpPr>
              <a:spLocks noChangeArrowheads="1"/>
            </p:cNvSpPr>
            <p:nvPr/>
          </p:nvSpPr>
          <p:spPr bwMode="auto">
            <a:xfrm>
              <a:off x="1441" y="616"/>
              <a:ext cx="1584" cy="288"/>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20484" name="WordArt 4"/>
            <p:cNvSpPr>
              <a:spLocks noChangeArrowheads="1" noChangeShapeType="1" noTextEdit="1"/>
            </p:cNvSpPr>
            <p:nvPr/>
          </p:nvSpPr>
          <p:spPr bwMode="auto">
            <a:xfrm>
              <a:off x="1489" y="664"/>
              <a:ext cx="1440" cy="192"/>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C.P.U.</a:t>
              </a:r>
            </a:p>
          </p:txBody>
        </p:sp>
        <p:sp>
          <p:nvSpPr>
            <p:cNvPr id="20485" name="AutoShape 5"/>
            <p:cNvSpPr>
              <a:spLocks noChangeArrowheads="1"/>
            </p:cNvSpPr>
            <p:nvPr/>
          </p:nvSpPr>
          <p:spPr bwMode="auto">
            <a:xfrm flipV="1">
              <a:off x="3169" y="712"/>
              <a:ext cx="384" cy="288"/>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grpSp>
      <p:sp>
        <p:nvSpPr>
          <p:cNvPr id="20486" name="Text Box 6"/>
          <p:cNvSpPr txBox="1">
            <a:spLocks noChangeArrowheads="1"/>
          </p:cNvSpPr>
          <p:nvPr/>
        </p:nvSpPr>
        <p:spPr bwMode="auto">
          <a:xfrm>
            <a:off x="1979613" y="2060575"/>
            <a:ext cx="3257550" cy="411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MX" sz="1800" b="1">
                <a:solidFill>
                  <a:srgbClr val="000066"/>
                </a:solidFill>
                <a:latin typeface="Courier New" panose="02070309020205020404" pitchFamily="49" charset="0"/>
                <a:cs typeface="Times New Roman" panose="02020603050405020304" pitchFamily="18" charset="0"/>
              </a:rPr>
              <a:t>Unidad Central de Procesamiento, allí se coordinan y generan todas las tareas u operaciones que deben realizarse. La conforman: la unidad de control, unidad aritmético lógica, la tarjeta principal, las unidades de disco, disco duro, fuente de poder</a:t>
            </a:r>
            <a:r>
              <a:rPr lang="es-ES" altLang="es-MX">
                <a:latin typeface="Verdana" panose="020B0604030504040204" pitchFamily="34" charset="0"/>
                <a:cs typeface="Times New Roman" panose="02020603050405020304" pitchFamily="18" charset="0"/>
              </a:rPr>
              <a:t>.</a:t>
            </a:r>
            <a:endParaRPr lang="es-ES" altLang="es-MX">
              <a:cs typeface="Times New Roman" panose="02020603050405020304" pitchFamily="18" charset="0"/>
            </a:endParaRPr>
          </a:p>
          <a:p>
            <a:endParaRPr lang="es-ES" altLang="es-MX"/>
          </a:p>
        </p:txBody>
      </p:sp>
      <p:pic>
        <p:nvPicPr>
          <p:cNvPr id="20488" name="Picture 8" descr="bulletsmall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484313"/>
            <a:ext cx="217488" cy="217487"/>
          </a:xfrm>
          <a:prstGeom prst="rect">
            <a:avLst/>
          </a:prstGeom>
          <a:noFill/>
          <a:extLst>
            <a:ext uri="{909E8E84-426E-40DD-AFC4-6F175D3DCCD1}">
              <a14:hiddenFill xmlns:a14="http://schemas.microsoft.com/office/drawing/2010/main">
                <a:solidFill>
                  <a:srgbClr val="FFFFFF"/>
                </a:solidFill>
              </a14:hiddenFill>
            </a:ext>
          </a:extLst>
        </p:spPr>
      </p:pic>
      <p:grpSp>
        <p:nvGrpSpPr>
          <p:cNvPr id="20492" name="Group 12"/>
          <p:cNvGrpSpPr>
            <a:grpSpLocks/>
          </p:cNvGrpSpPr>
          <p:nvPr/>
        </p:nvGrpSpPr>
        <p:grpSpPr bwMode="auto">
          <a:xfrm>
            <a:off x="5732463" y="2924175"/>
            <a:ext cx="2947987" cy="3317875"/>
            <a:chOff x="2435" y="2248"/>
            <a:chExt cx="1454" cy="1636"/>
          </a:xfrm>
        </p:grpSpPr>
        <p:pic>
          <p:nvPicPr>
            <p:cNvPr id="20489" name="Picture 9" descr="L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2641" y="2248"/>
              <a:ext cx="1248" cy="1632"/>
            </a:xfrm>
            <a:prstGeom prst="rect">
              <a:avLst/>
            </a:prstGeom>
            <a:noFill/>
            <a:extLst>
              <a:ext uri="{909E8E84-426E-40DD-AFC4-6F175D3DCCD1}">
                <a14:hiddenFill xmlns:a14="http://schemas.microsoft.com/office/drawing/2010/main">
                  <a:solidFill>
                    <a:srgbClr val="FFFFFF"/>
                  </a:solidFill>
                </a14:hiddenFill>
              </a:ext>
            </a:extLst>
          </p:spPr>
        </p:pic>
        <p:pic>
          <p:nvPicPr>
            <p:cNvPr id="20490" name="Picture 10" descr="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5" y="2296"/>
              <a:ext cx="1407" cy="1588"/>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grpSp>
      <p:pic>
        <p:nvPicPr>
          <p:cNvPr id="20494" name="Picture 14" descr="cable_data_transfer_md_wht"/>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21524" name="Group 20"/>
          <p:cNvGrpSpPr>
            <a:grpSpLocks/>
          </p:cNvGrpSpPr>
          <p:nvPr/>
        </p:nvGrpSpPr>
        <p:grpSpPr bwMode="auto">
          <a:xfrm>
            <a:off x="1908175" y="1090613"/>
            <a:ext cx="3352800" cy="609600"/>
            <a:chOff x="1200" y="480"/>
            <a:chExt cx="2112" cy="384"/>
          </a:xfrm>
        </p:grpSpPr>
        <p:sp>
          <p:nvSpPr>
            <p:cNvPr id="21507" name="AutoShape 3"/>
            <p:cNvSpPr>
              <a:spLocks noChangeArrowheads="1"/>
            </p:cNvSpPr>
            <p:nvPr/>
          </p:nvSpPr>
          <p:spPr bwMode="auto">
            <a:xfrm>
              <a:off x="1200" y="480"/>
              <a:ext cx="1584" cy="288"/>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21508" name="WordArt 4"/>
            <p:cNvSpPr>
              <a:spLocks noChangeArrowheads="1" noChangeShapeType="1" noTextEdit="1"/>
            </p:cNvSpPr>
            <p:nvPr/>
          </p:nvSpPr>
          <p:spPr bwMode="auto">
            <a:xfrm>
              <a:off x="1248" y="528"/>
              <a:ext cx="1440" cy="192"/>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Memoria</a:t>
              </a:r>
            </a:p>
          </p:txBody>
        </p:sp>
        <p:sp>
          <p:nvSpPr>
            <p:cNvPr id="21509" name="AutoShape 5"/>
            <p:cNvSpPr>
              <a:spLocks noChangeArrowheads="1"/>
            </p:cNvSpPr>
            <p:nvPr/>
          </p:nvSpPr>
          <p:spPr bwMode="auto">
            <a:xfrm flipV="1">
              <a:off x="2928" y="576"/>
              <a:ext cx="384" cy="288"/>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grpSp>
      <p:sp>
        <p:nvSpPr>
          <p:cNvPr id="21510" name="Text Box 6"/>
          <p:cNvSpPr txBox="1">
            <a:spLocks noChangeArrowheads="1"/>
          </p:cNvSpPr>
          <p:nvPr/>
        </p:nvSpPr>
        <p:spPr bwMode="auto">
          <a:xfrm>
            <a:off x="1763713" y="1828800"/>
            <a:ext cx="7016750" cy="311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MX" sz="1800" b="1">
                <a:solidFill>
                  <a:srgbClr val="000066"/>
                </a:solidFill>
                <a:latin typeface="Courier New" panose="02070309020205020404" pitchFamily="49" charset="0"/>
                <a:cs typeface="Times New Roman" panose="02020603050405020304" pitchFamily="18" charset="0"/>
              </a:rPr>
              <a:t>Almacena la información, que procesa el sistema durante la ejecución de cualquier operación.</a:t>
            </a:r>
          </a:p>
          <a:p>
            <a:r>
              <a:rPr lang="es-ES" altLang="es-MX" sz="1800" b="1" i="1">
                <a:solidFill>
                  <a:srgbClr val="0000FF"/>
                </a:solidFill>
                <a:latin typeface="Courier New" panose="02070309020205020404" pitchFamily="49" charset="0"/>
                <a:cs typeface="Times New Roman" panose="02020603050405020304" pitchFamily="18" charset="0"/>
              </a:rPr>
              <a:t>Memoria RAM:</a:t>
            </a:r>
            <a:r>
              <a:rPr lang="es-ES" altLang="es-MX" sz="1800" b="1">
                <a:solidFill>
                  <a:srgbClr val="000066"/>
                </a:solidFill>
                <a:latin typeface="Courier New" panose="02070309020205020404" pitchFamily="49" charset="0"/>
                <a:cs typeface="Times New Roman" panose="02020603050405020304" pitchFamily="18" charset="0"/>
              </a:rPr>
              <a:t> Random Access Memory, guarda temporalmente la información procesada por el computador. </a:t>
            </a:r>
          </a:p>
          <a:p>
            <a:r>
              <a:rPr lang="es-ES" altLang="es-MX" sz="1800" b="1" i="1">
                <a:solidFill>
                  <a:srgbClr val="0000FF"/>
                </a:solidFill>
                <a:latin typeface="Courier New" panose="02070309020205020404" pitchFamily="49" charset="0"/>
                <a:cs typeface="Times New Roman" panose="02020603050405020304" pitchFamily="18" charset="0"/>
              </a:rPr>
              <a:t>Memoria ROM:</a:t>
            </a:r>
            <a:r>
              <a:rPr lang="es-ES" altLang="es-MX" sz="1800" b="1">
                <a:solidFill>
                  <a:srgbClr val="000066"/>
                </a:solidFill>
                <a:latin typeface="Courier New" panose="02070309020205020404" pitchFamily="49" charset="0"/>
                <a:cs typeface="Times New Roman" panose="02020603050405020304" pitchFamily="18" charset="0"/>
              </a:rPr>
              <a:t> Read Only Memory, memoria de solo lectura, almacena de forma permanente las instrucciones que controlan el funcionamiento del computador y no pueden ser modificadas por el usuario. </a:t>
            </a:r>
          </a:p>
          <a:p>
            <a:endParaRPr lang="es-ES" altLang="es-MX" sz="1800" b="1">
              <a:solidFill>
                <a:srgbClr val="000066"/>
              </a:solidFill>
              <a:latin typeface="Courier New" panose="02070309020205020404" pitchFamily="49" charset="0"/>
            </a:endParaRPr>
          </a:p>
        </p:txBody>
      </p:sp>
      <p:pic>
        <p:nvPicPr>
          <p:cNvPr id="21515" name="Picture 11" descr="bulletsmall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401763" y="1196975"/>
            <a:ext cx="217487" cy="217488"/>
          </a:xfrm>
          <a:prstGeom prst="rect">
            <a:avLst/>
          </a:prstGeom>
          <a:noFill/>
          <a:extLst>
            <a:ext uri="{909E8E84-426E-40DD-AFC4-6F175D3DCCD1}">
              <a14:hiddenFill xmlns:a14="http://schemas.microsoft.com/office/drawing/2010/main">
                <a:solidFill>
                  <a:srgbClr val="FFFFFF"/>
                </a:solidFill>
              </a14:hiddenFill>
            </a:ext>
          </a:extLst>
        </p:spPr>
      </p:pic>
      <p:pic>
        <p:nvPicPr>
          <p:cNvPr id="21517" name="Picture 13" descr="L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484938" y="4427538"/>
            <a:ext cx="992187" cy="1762125"/>
          </a:xfrm>
          <a:prstGeom prst="rect">
            <a:avLst/>
          </a:prstGeom>
          <a:noFill/>
          <a:extLst>
            <a:ext uri="{909E8E84-426E-40DD-AFC4-6F175D3DCCD1}">
              <a14:hiddenFill xmlns:a14="http://schemas.microsoft.com/office/drawing/2010/main">
                <a:solidFill>
                  <a:srgbClr val="FFFFFF"/>
                </a:solidFill>
              </a14:hiddenFill>
            </a:ext>
          </a:extLst>
        </p:spPr>
      </p:pic>
      <p:pic>
        <p:nvPicPr>
          <p:cNvPr id="21516" name="Picture 12" descr="L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049588" y="4724400"/>
            <a:ext cx="992187" cy="1276350"/>
          </a:xfrm>
          <a:prstGeom prst="rect">
            <a:avLst/>
          </a:prstGeom>
          <a:noFill/>
          <a:extLst>
            <a:ext uri="{909E8E84-426E-40DD-AFC4-6F175D3DCCD1}">
              <a14:hiddenFill xmlns:a14="http://schemas.microsoft.com/office/drawing/2010/main">
                <a:solidFill>
                  <a:srgbClr val="FFFFFF"/>
                </a:solidFill>
              </a14:hiddenFill>
            </a:ext>
          </a:extLst>
        </p:spPr>
      </p:pic>
      <p:sp>
        <p:nvSpPr>
          <p:cNvPr id="21513" name="WordArt 9"/>
          <p:cNvSpPr>
            <a:spLocks noChangeArrowheads="1" noChangeShapeType="1" noTextEdit="1"/>
          </p:cNvSpPr>
          <p:nvPr/>
        </p:nvSpPr>
        <p:spPr bwMode="auto">
          <a:xfrm>
            <a:off x="5351463" y="4568825"/>
            <a:ext cx="992187" cy="354013"/>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Memoria</a:t>
            </a:r>
          </a:p>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RAM:DDR</a:t>
            </a:r>
          </a:p>
        </p:txBody>
      </p:sp>
      <p:sp>
        <p:nvSpPr>
          <p:cNvPr id="21514" name="WordArt 10"/>
          <p:cNvSpPr>
            <a:spLocks noChangeArrowheads="1" noChangeShapeType="1" noTextEdit="1"/>
          </p:cNvSpPr>
          <p:nvPr/>
        </p:nvSpPr>
        <p:spPr bwMode="auto">
          <a:xfrm>
            <a:off x="4227513" y="5788025"/>
            <a:ext cx="992187" cy="354013"/>
          </a:xfrm>
          <a:prstGeom prst="rect">
            <a:avLst/>
          </a:prstGeom>
        </p:spPr>
        <p:txBody>
          <a:bodyPr wrap="none" fromWordArt="1">
            <a:prstTxWarp prst="textPlain">
              <a:avLst>
                <a:gd name="adj" fmla="val 50000"/>
              </a:avLst>
            </a:prstTxWarp>
          </a:bodyPr>
          <a:lstStyle/>
          <a:p>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Memoria</a:t>
            </a:r>
          </a:p>
          <a:p>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RAM:DIMM</a:t>
            </a:r>
          </a:p>
        </p:txBody>
      </p:sp>
      <p:pic>
        <p:nvPicPr>
          <p:cNvPr id="21519" name="Picture 15" descr="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4675" y="4811713"/>
            <a:ext cx="2124075" cy="1425575"/>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21520" name="Picture 16" descr="Sin-título-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84950" y="4514850"/>
            <a:ext cx="1874838" cy="1874838"/>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sp>
        <p:nvSpPr>
          <p:cNvPr id="21522" name="WordArt 18"/>
          <p:cNvSpPr>
            <a:spLocks noChangeArrowheads="1" noChangeShapeType="1" noTextEdit="1"/>
          </p:cNvSpPr>
          <p:nvPr/>
        </p:nvSpPr>
        <p:spPr bwMode="auto">
          <a:xfrm rot="5400000">
            <a:off x="-622300" y="3365500"/>
            <a:ext cx="2016125" cy="269875"/>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Hardware</a:t>
            </a:r>
          </a:p>
        </p:txBody>
      </p:sp>
      <p:pic>
        <p:nvPicPr>
          <p:cNvPr id="21525" name="Picture 21" descr="cable_data_transfer_md_wht"/>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22549" name="Group 21"/>
          <p:cNvGrpSpPr>
            <a:grpSpLocks/>
          </p:cNvGrpSpPr>
          <p:nvPr/>
        </p:nvGrpSpPr>
        <p:grpSpPr bwMode="auto">
          <a:xfrm>
            <a:off x="1981200" y="1163638"/>
            <a:ext cx="3352800" cy="609600"/>
            <a:chOff x="1248" y="570"/>
            <a:chExt cx="2112" cy="384"/>
          </a:xfrm>
        </p:grpSpPr>
        <p:sp>
          <p:nvSpPr>
            <p:cNvPr id="22531" name="AutoShape 3"/>
            <p:cNvSpPr>
              <a:spLocks noChangeArrowheads="1"/>
            </p:cNvSpPr>
            <p:nvPr/>
          </p:nvSpPr>
          <p:spPr bwMode="auto">
            <a:xfrm>
              <a:off x="1248" y="570"/>
              <a:ext cx="1584" cy="288"/>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22532" name="WordArt 4"/>
            <p:cNvSpPr>
              <a:spLocks noChangeArrowheads="1" noChangeShapeType="1" noTextEdit="1"/>
            </p:cNvSpPr>
            <p:nvPr/>
          </p:nvSpPr>
          <p:spPr bwMode="auto">
            <a:xfrm>
              <a:off x="1296" y="618"/>
              <a:ext cx="1440" cy="192"/>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Procesador</a:t>
              </a:r>
            </a:p>
          </p:txBody>
        </p:sp>
        <p:sp>
          <p:nvSpPr>
            <p:cNvPr id="22533" name="AutoShape 5"/>
            <p:cNvSpPr>
              <a:spLocks noChangeArrowheads="1"/>
            </p:cNvSpPr>
            <p:nvPr/>
          </p:nvSpPr>
          <p:spPr bwMode="auto">
            <a:xfrm flipV="1">
              <a:off x="2976" y="666"/>
              <a:ext cx="384" cy="288"/>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grpSp>
      <p:sp>
        <p:nvSpPr>
          <p:cNvPr id="22534" name="Text Box 6"/>
          <p:cNvSpPr txBox="1">
            <a:spLocks noChangeArrowheads="1"/>
          </p:cNvSpPr>
          <p:nvPr/>
        </p:nvSpPr>
        <p:spPr bwMode="auto">
          <a:xfrm>
            <a:off x="1763713" y="1717675"/>
            <a:ext cx="3411537"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MX" b="1">
                <a:solidFill>
                  <a:srgbClr val="000066"/>
                </a:solidFill>
                <a:latin typeface="Courier New" panose="02070309020205020404" pitchFamily="49" charset="0"/>
                <a:cs typeface="Times New Roman" panose="02020603050405020304" pitchFamily="18" charset="0"/>
              </a:rPr>
              <a:t>Es un chip que interpreta y ejecuta todas las operaciones realizadas por un computador. </a:t>
            </a:r>
          </a:p>
          <a:p>
            <a:endParaRPr lang="es-ES" altLang="es-MX" b="1">
              <a:solidFill>
                <a:srgbClr val="000066"/>
              </a:solidFill>
              <a:latin typeface="Courier New" panose="02070309020205020404" pitchFamily="49" charset="0"/>
            </a:endParaRPr>
          </a:p>
        </p:txBody>
      </p:sp>
      <p:pic>
        <p:nvPicPr>
          <p:cNvPr id="22538" name="Picture 10" descr="bulletsmall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268413"/>
            <a:ext cx="217488" cy="217487"/>
          </a:xfrm>
          <a:prstGeom prst="rect">
            <a:avLst/>
          </a:prstGeom>
          <a:noFill/>
          <a:extLst>
            <a:ext uri="{909E8E84-426E-40DD-AFC4-6F175D3DCCD1}">
              <a14:hiddenFill xmlns:a14="http://schemas.microsoft.com/office/drawing/2010/main">
                <a:solidFill>
                  <a:srgbClr val="FFFFFF"/>
                </a:solidFill>
              </a14:hiddenFill>
            </a:ext>
          </a:extLst>
        </p:spPr>
      </p:pic>
      <p:grpSp>
        <p:nvGrpSpPr>
          <p:cNvPr id="22548" name="Group 20"/>
          <p:cNvGrpSpPr>
            <a:grpSpLocks/>
          </p:cNvGrpSpPr>
          <p:nvPr/>
        </p:nvGrpSpPr>
        <p:grpSpPr bwMode="auto">
          <a:xfrm>
            <a:off x="1763713" y="4005263"/>
            <a:ext cx="2447925" cy="2319337"/>
            <a:chOff x="1020" y="2341"/>
            <a:chExt cx="1724" cy="1633"/>
          </a:xfrm>
        </p:grpSpPr>
        <p:pic>
          <p:nvPicPr>
            <p:cNvPr id="22539" name="Picture 11" descr="L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200" y="2341"/>
              <a:ext cx="1544" cy="1587"/>
            </a:xfrm>
            <a:prstGeom prst="rect">
              <a:avLst/>
            </a:prstGeom>
            <a:noFill/>
            <a:extLst>
              <a:ext uri="{909E8E84-426E-40DD-AFC4-6F175D3DCCD1}">
                <a14:hiddenFill xmlns:a14="http://schemas.microsoft.com/office/drawing/2010/main">
                  <a:solidFill>
                    <a:srgbClr val="FFFFFF"/>
                  </a:solidFill>
                </a14:hiddenFill>
              </a:ext>
            </a:extLst>
          </p:spPr>
        </p:pic>
        <p:pic>
          <p:nvPicPr>
            <p:cNvPr id="22543" name="Picture 15" descr="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0" y="2473"/>
              <a:ext cx="1618" cy="1501"/>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grpSp>
      <p:grpSp>
        <p:nvGrpSpPr>
          <p:cNvPr id="22547" name="Group 19"/>
          <p:cNvGrpSpPr>
            <a:grpSpLocks/>
          </p:cNvGrpSpPr>
          <p:nvPr/>
        </p:nvGrpSpPr>
        <p:grpSpPr bwMode="auto">
          <a:xfrm>
            <a:off x="6142038" y="1341438"/>
            <a:ext cx="2295525" cy="4824412"/>
            <a:chOff x="3744" y="582"/>
            <a:chExt cx="1571" cy="3302"/>
          </a:xfrm>
        </p:grpSpPr>
        <p:pic>
          <p:nvPicPr>
            <p:cNvPr id="22541" name="Picture 13" descr="L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840" y="582"/>
              <a:ext cx="1008" cy="768"/>
            </a:xfrm>
            <a:prstGeom prst="rect">
              <a:avLst/>
            </a:prstGeom>
            <a:noFill/>
            <a:extLst>
              <a:ext uri="{909E8E84-426E-40DD-AFC4-6F175D3DCCD1}">
                <a14:hiddenFill xmlns:a14="http://schemas.microsoft.com/office/drawing/2010/main">
                  <a:solidFill>
                    <a:srgbClr val="FFFFFF"/>
                  </a:solidFill>
                </a14:hiddenFill>
              </a:ext>
            </a:extLst>
          </p:spPr>
        </p:pic>
        <p:pic>
          <p:nvPicPr>
            <p:cNvPr id="22540" name="Picture 12" descr="L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744" y="1584"/>
              <a:ext cx="1440" cy="2045"/>
            </a:xfrm>
            <a:prstGeom prst="rect">
              <a:avLst/>
            </a:prstGeom>
            <a:noFill/>
            <a:extLst>
              <a:ext uri="{909E8E84-426E-40DD-AFC4-6F175D3DCCD1}">
                <a14:hiddenFill xmlns:a14="http://schemas.microsoft.com/office/drawing/2010/main">
                  <a:solidFill>
                    <a:srgbClr val="FFFFFF"/>
                  </a:solidFill>
                </a14:hiddenFill>
              </a:ext>
            </a:extLst>
          </p:spPr>
        </p:pic>
        <p:pic>
          <p:nvPicPr>
            <p:cNvPr id="22544" name="Picture 16" descr="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3" y="1661"/>
              <a:ext cx="1482" cy="2223"/>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22545" name="Picture 17" descr="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3" y="637"/>
              <a:ext cx="998" cy="752"/>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grpSp>
      <p:sp>
        <p:nvSpPr>
          <p:cNvPr id="22550" name="WordArt 22"/>
          <p:cNvSpPr>
            <a:spLocks noChangeArrowheads="1" noChangeShapeType="1" noTextEdit="1"/>
          </p:cNvSpPr>
          <p:nvPr/>
        </p:nvSpPr>
        <p:spPr bwMode="auto">
          <a:xfrm rot="5400000">
            <a:off x="-622300" y="3365500"/>
            <a:ext cx="2016125" cy="269875"/>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Hardware</a:t>
            </a:r>
          </a:p>
        </p:txBody>
      </p:sp>
      <p:pic>
        <p:nvPicPr>
          <p:cNvPr id="22551" name="Picture 23" descr="cable_data_transfer_md_wht"/>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23573" name="Group 21"/>
          <p:cNvGrpSpPr>
            <a:grpSpLocks/>
          </p:cNvGrpSpPr>
          <p:nvPr/>
        </p:nvGrpSpPr>
        <p:grpSpPr bwMode="auto">
          <a:xfrm>
            <a:off x="1835150" y="1196975"/>
            <a:ext cx="4392613" cy="531813"/>
            <a:chOff x="1156" y="754"/>
            <a:chExt cx="3176" cy="384"/>
          </a:xfrm>
        </p:grpSpPr>
        <p:sp>
          <p:nvSpPr>
            <p:cNvPr id="23555" name="AutoShape 3"/>
            <p:cNvSpPr>
              <a:spLocks noChangeArrowheads="1"/>
            </p:cNvSpPr>
            <p:nvPr/>
          </p:nvSpPr>
          <p:spPr bwMode="auto">
            <a:xfrm>
              <a:off x="1156" y="754"/>
              <a:ext cx="2721" cy="384"/>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23556" name="WordArt 4"/>
            <p:cNvSpPr>
              <a:spLocks noChangeArrowheads="1" noChangeShapeType="1" noTextEdit="1"/>
            </p:cNvSpPr>
            <p:nvPr/>
          </p:nvSpPr>
          <p:spPr bwMode="auto">
            <a:xfrm>
              <a:off x="1204" y="802"/>
              <a:ext cx="2446" cy="288"/>
            </a:xfrm>
            <a:prstGeom prst="rect">
              <a:avLst/>
            </a:prstGeom>
          </p:spPr>
          <p:txBody>
            <a:bodyPr wrap="none" fromWordArt="1">
              <a:prstTxWarp prst="textPlain">
                <a:avLst>
                  <a:gd name="adj" fmla="val 50000"/>
                </a:avLst>
              </a:prstTxWarp>
            </a:bodyPr>
            <a:lstStyle/>
            <a:p>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Tarjeta o placa Madre</a:t>
              </a:r>
            </a:p>
          </p:txBody>
        </p:sp>
        <p:sp>
          <p:nvSpPr>
            <p:cNvPr id="23557" name="AutoShape 5"/>
            <p:cNvSpPr>
              <a:spLocks noChangeArrowheads="1"/>
            </p:cNvSpPr>
            <p:nvPr/>
          </p:nvSpPr>
          <p:spPr bwMode="auto">
            <a:xfrm flipV="1">
              <a:off x="3948" y="846"/>
              <a:ext cx="384" cy="288"/>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grpSp>
      <p:sp>
        <p:nvSpPr>
          <p:cNvPr id="23558" name="Text Box 6"/>
          <p:cNvSpPr txBox="1">
            <a:spLocks noChangeArrowheads="1"/>
          </p:cNvSpPr>
          <p:nvPr/>
        </p:nvSpPr>
        <p:spPr bwMode="auto">
          <a:xfrm>
            <a:off x="1547813" y="2228850"/>
            <a:ext cx="2303462" cy="393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MX" sz="1800" b="1">
                <a:solidFill>
                  <a:srgbClr val="000066"/>
                </a:solidFill>
                <a:latin typeface="Courier New" panose="02070309020205020404" pitchFamily="49" charset="0"/>
                <a:cs typeface="Times New Roman" panose="02020603050405020304" pitchFamily="18" charset="0"/>
              </a:rPr>
              <a:t>Es la tarjeta principal de un computador donde se encuentran el microprocesador, la memoria y los conectores de otras tarjetas que controlan los dispositivos de entrada y salida. </a:t>
            </a:r>
          </a:p>
        </p:txBody>
      </p:sp>
      <p:pic>
        <p:nvPicPr>
          <p:cNvPr id="23561" name="Picture 9" descr="bulletsmall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401763" y="1412875"/>
            <a:ext cx="217487" cy="217488"/>
          </a:xfrm>
          <a:prstGeom prst="rect">
            <a:avLst/>
          </a:prstGeom>
          <a:noFill/>
          <a:extLst>
            <a:ext uri="{909E8E84-426E-40DD-AFC4-6F175D3DCCD1}">
              <a14:hiddenFill xmlns:a14="http://schemas.microsoft.com/office/drawing/2010/main">
                <a:solidFill>
                  <a:srgbClr val="FFFFFF"/>
                </a:solidFill>
              </a14:hiddenFill>
            </a:ext>
          </a:extLst>
        </p:spPr>
      </p:pic>
      <p:sp>
        <p:nvSpPr>
          <p:cNvPr id="23568" name="WordArt 16"/>
          <p:cNvSpPr>
            <a:spLocks noChangeArrowheads="1" noChangeShapeType="1" noTextEdit="1"/>
          </p:cNvSpPr>
          <p:nvPr/>
        </p:nvSpPr>
        <p:spPr bwMode="auto">
          <a:xfrm rot="5400000">
            <a:off x="-622300" y="3365500"/>
            <a:ext cx="2016125" cy="269875"/>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Hardware</a:t>
            </a:r>
          </a:p>
        </p:txBody>
      </p:sp>
      <p:pic>
        <p:nvPicPr>
          <p:cNvPr id="23571" name="Picture 19" descr="cable_data_transfer_md_wht"/>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pic>
        <p:nvPicPr>
          <p:cNvPr id="23572" name="Picture 20" descr="placamadr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4300" y="1989138"/>
            <a:ext cx="4887913" cy="43195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24594" name="Picture 18"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588125" y="1484313"/>
            <a:ext cx="1981200" cy="2232025"/>
          </a:xfrm>
          <a:prstGeom prst="rect">
            <a:avLst/>
          </a:prstGeom>
          <a:noFill/>
          <a:extLst>
            <a:ext uri="{909E8E84-426E-40DD-AFC4-6F175D3DCCD1}">
              <a14:hiddenFill xmlns:a14="http://schemas.microsoft.com/office/drawing/2010/main">
                <a:solidFill>
                  <a:srgbClr val="FFFFFF"/>
                </a:solidFill>
              </a14:hiddenFill>
            </a:ext>
          </a:extLst>
        </p:spPr>
      </p:pic>
      <p:pic>
        <p:nvPicPr>
          <p:cNvPr id="24593" name="Picture 17"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623050" y="4076700"/>
            <a:ext cx="1981200" cy="2232025"/>
          </a:xfrm>
          <a:prstGeom prst="rect">
            <a:avLst/>
          </a:prstGeom>
          <a:noFill/>
          <a:extLst>
            <a:ext uri="{909E8E84-426E-40DD-AFC4-6F175D3DCCD1}">
              <a14:hiddenFill xmlns:a14="http://schemas.microsoft.com/office/drawing/2010/main">
                <a:solidFill>
                  <a:srgbClr val="FFFFFF"/>
                </a:solidFill>
              </a14:hiddenFill>
            </a:ext>
          </a:extLst>
        </p:spPr>
      </p:pic>
      <p:grpSp>
        <p:nvGrpSpPr>
          <p:cNvPr id="24590" name="Group 14"/>
          <p:cNvGrpSpPr>
            <a:grpSpLocks/>
          </p:cNvGrpSpPr>
          <p:nvPr/>
        </p:nvGrpSpPr>
        <p:grpSpPr bwMode="auto">
          <a:xfrm>
            <a:off x="1828800" y="1158875"/>
            <a:ext cx="3733800" cy="685800"/>
            <a:chOff x="1152" y="730"/>
            <a:chExt cx="2352" cy="432"/>
          </a:xfrm>
        </p:grpSpPr>
        <p:sp>
          <p:nvSpPr>
            <p:cNvPr id="24579" name="AutoShape 3"/>
            <p:cNvSpPr>
              <a:spLocks noChangeArrowheads="1"/>
            </p:cNvSpPr>
            <p:nvPr/>
          </p:nvSpPr>
          <p:spPr bwMode="auto">
            <a:xfrm>
              <a:off x="1152" y="730"/>
              <a:ext cx="1872" cy="336"/>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24580" name="WordArt 4"/>
            <p:cNvSpPr>
              <a:spLocks noChangeArrowheads="1" noChangeShapeType="1" noTextEdit="1"/>
            </p:cNvSpPr>
            <p:nvPr/>
          </p:nvSpPr>
          <p:spPr bwMode="auto">
            <a:xfrm>
              <a:off x="1200" y="778"/>
              <a:ext cx="1632" cy="240"/>
            </a:xfrm>
            <a:prstGeom prst="rect">
              <a:avLst/>
            </a:prstGeom>
          </p:spPr>
          <p:txBody>
            <a:bodyPr wrap="none" fromWordArt="1">
              <a:prstTxWarp prst="textPlain">
                <a:avLst>
                  <a:gd name="adj" fmla="val 50000"/>
                </a:avLst>
              </a:prstTxWarp>
            </a:bodyPr>
            <a:lstStyle/>
            <a:p>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Disco Duro</a:t>
              </a:r>
            </a:p>
          </p:txBody>
        </p:sp>
        <p:sp>
          <p:nvSpPr>
            <p:cNvPr id="24581" name="AutoShape 5"/>
            <p:cNvSpPr>
              <a:spLocks noChangeArrowheads="1"/>
            </p:cNvSpPr>
            <p:nvPr/>
          </p:nvSpPr>
          <p:spPr bwMode="auto">
            <a:xfrm flipV="1">
              <a:off x="3120" y="874"/>
              <a:ext cx="384" cy="288"/>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grpSp>
      <p:sp>
        <p:nvSpPr>
          <p:cNvPr id="24582" name="Rectangle 6"/>
          <p:cNvSpPr>
            <a:spLocks noChangeArrowheads="1"/>
          </p:cNvSpPr>
          <p:nvPr/>
        </p:nvSpPr>
        <p:spPr bwMode="auto">
          <a:xfrm>
            <a:off x="1692275" y="2133600"/>
            <a:ext cx="3956050"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MX" sz="2000" b="1">
                <a:solidFill>
                  <a:srgbClr val="000066"/>
                </a:solidFill>
                <a:latin typeface="Courier New" panose="02070309020205020404" pitchFamily="49" charset="0"/>
                <a:cs typeface="Times New Roman" panose="02020603050405020304" pitchFamily="18" charset="0"/>
              </a:rPr>
              <a:t>Es una unidad de disco no removible con gran capacidad de almacenamiento y alta velocidad de lectura/escritura en comparación con los discos flexibles. Su capacidad de almacenamiento se expresa en </a:t>
            </a:r>
            <a:r>
              <a:rPr lang="es-CL" altLang="es-MX" sz="2000" b="1">
                <a:solidFill>
                  <a:srgbClr val="000066"/>
                </a:solidFill>
                <a:latin typeface="Courier New" panose="02070309020205020404" pitchFamily="49" charset="0"/>
                <a:cs typeface="Times New Roman" panose="02020603050405020304" pitchFamily="18" charset="0"/>
              </a:rPr>
              <a:t>Giga</a:t>
            </a:r>
            <a:r>
              <a:rPr lang="es-ES" altLang="es-MX" sz="2000" b="1">
                <a:solidFill>
                  <a:srgbClr val="000066"/>
                </a:solidFill>
                <a:latin typeface="Courier New" panose="02070309020205020404" pitchFamily="49" charset="0"/>
                <a:cs typeface="Times New Roman" panose="02020603050405020304" pitchFamily="18" charset="0"/>
              </a:rPr>
              <a:t>bytes. </a:t>
            </a:r>
          </a:p>
          <a:p>
            <a:pPr eaLnBrk="0" hangingPunct="0"/>
            <a:endParaRPr lang="es-ES" altLang="es-MX" sz="2000" b="1">
              <a:solidFill>
                <a:srgbClr val="000066"/>
              </a:solidFill>
              <a:latin typeface="Courier New" panose="02070309020205020404" pitchFamily="49" charset="0"/>
            </a:endParaRPr>
          </a:p>
        </p:txBody>
      </p:sp>
      <p:pic>
        <p:nvPicPr>
          <p:cNvPr id="24585" name="Picture 9" descr="bulletsmall2"/>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387475"/>
            <a:ext cx="217488" cy="217488"/>
          </a:xfrm>
          <a:prstGeom prst="rect">
            <a:avLst/>
          </a:prstGeom>
          <a:noFill/>
          <a:extLst>
            <a:ext uri="{909E8E84-426E-40DD-AFC4-6F175D3DCCD1}">
              <a14:hiddenFill xmlns:a14="http://schemas.microsoft.com/office/drawing/2010/main">
                <a:solidFill>
                  <a:srgbClr val="FFFFFF"/>
                </a:solidFill>
              </a14:hiddenFill>
            </a:ext>
          </a:extLst>
        </p:spPr>
      </p:pic>
      <p:pic>
        <p:nvPicPr>
          <p:cNvPr id="24587" name="Picture 11" descr="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6325" y="1312863"/>
            <a:ext cx="2168525" cy="219710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24588" name="Picture 12" descr="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6325" y="3905250"/>
            <a:ext cx="2232025" cy="2187575"/>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sp>
        <p:nvSpPr>
          <p:cNvPr id="24591" name="WordArt 15"/>
          <p:cNvSpPr>
            <a:spLocks noChangeArrowheads="1" noChangeShapeType="1" noTextEdit="1"/>
          </p:cNvSpPr>
          <p:nvPr/>
        </p:nvSpPr>
        <p:spPr bwMode="auto">
          <a:xfrm rot="5400000">
            <a:off x="-622300" y="3365500"/>
            <a:ext cx="2016125" cy="269875"/>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Hardware</a:t>
            </a:r>
          </a:p>
        </p:txBody>
      </p:sp>
      <p:pic>
        <p:nvPicPr>
          <p:cNvPr id="24592" name="Picture 16" descr="cable_data_transfer_md_wht"/>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25612" name="Picture 12"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1670050"/>
            <a:ext cx="1752600" cy="1570038"/>
          </a:xfrm>
          <a:prstGeom prst="rect">
            <a:avLst/>
          </a:prstGeom>
          <a:noFill/>
          <a:extLst>
            <a:ext uri="{909E8E84-426E-40DD-AFC4-6F175D3DCCD1}">
              <a14:hiddenFill xmlns:a14="http://schemas.microsoft.com/office/drawing/2010/main">
                <a:solidFill>
                  <a:srgbClr val="FFFFFF"/>
                </a:solidFill>
              </a14:hiddenFill>
            </a:ext>
          </a:extLst>
        </p:spPr>
      </p:pic>
      <p:pic>
        <p:nvPicPr>
          <p:cNvPr id="25611" name="Picture 11"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623050" y="4641850"/>
            <a:ext cx="1981200" cy="1524000"/>
          </a:xfrm>
          <a:prstGeom prst="rect">
            <a:avLst/>
          </a:prstGeom>
          <a:noFill/>
          <a:extLst>
            <a:ext uri="{909E8E84-426E-40DD-AFC4-6F175D3DCCD1}">
              <a14:hiddenFill xmlns:a14="http://schemas.microsoft.com/office/drawing/2010/main">
                <a:solidFill>
                  <a:srgbClr val="FFFFFF"/>
                </a:solidFill>
              </a14:hiddenFill>
            </a:ext>
          </a:extLst>
        </p:spPr>
      </p:pic>
      <p:sp>
        <p:nvSpPr>
          <p:cNvPr id="25604" name="Rectangle 4"/>
          <p:cNvSpPr>
            <a:spLocks noChangeArrowheads="1"/>
          </p:cNvSpPr>
          <p:nvPr/>
        </p:nvSpPr>
        <p:spPr bwMode="auto">
          <a:xfrm>
            <a:off x="1835150" y="2349500"/>
            <a:ext cx="4343400" cy="310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MX" sz="2000" b="1">
                <a:solidFill>
                  <a:srgbClr val="000066"/>
                </a:solidFill>
                <a:latin typeface="Courier New" panose="02070309020205020404" pitchFamily="49" charset="0"/>
                <a:cs typeface="Times New Roman" panose="02020603050405020304" pitchFamily="18" charset="0"/>
              </a:rPr>
              <a:t>La pantalla o monitor es el dispositivo donde el usuario visualiza la información y los resultados generados por el computador. Pueden clasificarse monocromáticos y poli cromáticos (gama de colores).</a:t>
            </a:r>
            <a:r>
              <a:rPr lang="es-ES" altLang="es-MX" sz="1800" b="1">
                <a:solidFill>
                  <a:srgbClr val="000066"/>
                </a:solidFill>
                <a:latin typeface="Courier New" panose="02070309020205020404" pitchFamily="49" charset="0"/>
                <a:cs typeface="Times New Roman" panose="02020603050405020304" pitchFamily="18" charset="0"/>
              </a:rPr>
              <a:t> </a:t>
            </a:r>
          </a:p>
          <a:p>
            <a:pPr eaLnBrk="0" hangingPunct="0"/>
            <a:endParaRPr lang="es-ES" altLang="es-MX" sz="1800" b="1">
              <a:solidFill>
                <a:srgbClr val="000066"/>
              </a:solidFill>
              <a:latin typeface="Courier New" panose="02070309020205020404" pitchFamily="49" charset="0"/>
            </a:endParaRPr>
          </a:p>
        </p:txBody>
      </p:sp>
      <p:sp>
        <p:nvSpPr>
          <p:cNvPr id="25605" name="AutoShape 5"/>
          <p:cNvSpPr>
            <a:spLocks noChangeArrowheads="1"/>
          </p:cNvSpPr>
          <p:nvPr/>
        </p:nvSpPr>
        <p:spPr bwMode="auto">
          <a:xfrm>
            <a:off x="1905000" y="1060450"/>
            <a:ext cx="2971800" cy="533400"/>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25606" name="WordArt 6"/>
          <p:cNvSpPr>
            <a:spLocks noChangeArrowheads="1" noChangeShapeType="1" noTextEdit="1"/>
          </p:cNvSpPr>
          <p:nvPr/>
        </p:nvSpPr>
        <p:spPr bwMode="auto">
          <a:xfrm>
            <a:off x="1981200" y="1136650"/>
            <a:ext cx="2590800" cy="381000"/>
          </a:xfrm>
          <a:prstGeom prst="rect">
            <a:avLst/>
          </a:prstGeom>
        </p:spPr>
        <p:txBody>
          <a:bodyPr wrap="none" fromWordArt="1">
            <a:prstTxWarp prst="textPlain">
              <a:avLst>
                <a:gd name="adj" fmla="val 50000"/>
              </a:avLst>
            </a:prstTxWarp>
          </a:bodyPr>
          <a:lstStyle/>
          <a:p>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Monitor</a:t>
            </a:r>
          </a:p>
        </p:txBody>
      </p:sp>
      <p:sp>
        <p:nvSpPr>
          <p:cNvPr id="25607" name="AutoShape 7"/>
          <p:cNvSpPr>
            <a:spLocks noChangeArrowheads="1"/>
          </p:cNvSpPr>
          <p:nvPr/>
        </p:nvSpPr>
        <p:spPr bwMode="auto">
          <a:xfrm flipV="1">
            <a:off x="5029200" y="1289050"/>
            <a:ext cx="609600" cy="457200"/>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pic>
        <p:nvPicPr>
          <p:cNvPr id="25610" name="Picture 10" descr="bulletsmall2"/>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289050"/>
            <a:ext cx="217488" cy="217488"/>
          </a:xfrm>
          <a:prstGeom prst="rect">
            <a:avLst/>
          </a:prstGeom>
          <a:noFill/>
          <a:extLst>
            <a:ext uri="{909E8E84-426E-40DD-AFC4-6F175D3DCCD1}">
              <a14:hiddenFill xmlns:a14="http://schemas.microsoft.com/office/drawing/2010/main">
                <a:solidFill>
                  <a:srgbClr val="FFFFFF"/>
                </a:solidFill>
              </a14:hiddenFill>
            </a:ext>
          </a:extLst>
        </p:spPr>
      </p:pic>
      <p:pic>
        <p:nvPicPr>
          <p:cNvPr id="25614" name="Picture 14" descr="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3663" y="1135063"/>
            <a:ext cx="1962150" cy="196215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25615" name="Picture 15" descr="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61125" y="3798888"/>
            <a:ext cx="1998663" cy="2208212"/>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25616" name="Picture 16" descr="cable_data_transfer_md_wht"/>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
        <p:nvSpPr>
          <p:cNvPr id="25617" name="WordArt 17"/>
          <p:cNvSpPr>
            <a:spLocks noChangeArrowheads="1" noChangeShapeType="1" noTextEdit="1"/>
          </p:cNvSpPr>
          <p:nvPr/>
        </p:nvSpPr>
        <p:spPr bwMode="auto">
          <a:xfrm rot="5400000">
            <a:off x="-622300" y="3365500"/>
            <a:ext cx="2016125" cy="269875"/>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Hardware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26637" name="Picture 13"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1590675"/>
            <a:ext cx="3462337" cy="1909763"/>
          </a:xfrm>
          <a:prstGeom prst="rect">
            <a:avLst/>
          </a:prstGeom>
          <a:noFill/>
          <a:extLst>
            <a:ext uri="{909E8E84-426E-40DD-AFC4-6F175D3DCCD1}">
              <a14:hiddenFill xmlns:a14="http://schemas.microsoft.com/office/drawing/2010/main">
                <a:solidFill>
                  <a:srgbClr val="FFFFFF"/>
                </a:solidFill>
              </a14:hiddenFill>
            </a:ext>
          </a:extLst>
        </p:spPr>
      </p:pic>
      <p:pic>
        <p:nvPicPr>
          <p:cNvPr id="26636" name="Picture 12"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3933825"/>
            <a:ext cx="3457575" cy="2159000"/>
          </a:xfrm>
          <a:prstGeom prst="rect">
            <a:avLst/>
          </a:prstGeom>
          <a:noFill/>
          <a:extLst>
            <a:ext uri="{909E8E84-426E-40DD-AFC4-6F175D3DCCD1}">
              <a14:hiddenFill xmlns:a14="http://schemas.microsoft.com/office/drawing/2010/main">
                <a:solidFill>
                  <a:srgbClr val="FFFFFF"/>
                </a:solidFill>
              </a14:hiddenFill>
            </a:ext>
          </a:extLst>
        </p:spPr>
      </p:pic>
      <p:sp>
        <p:nvSpPr>
          <p:cNvPr id="26628" name="Rectangle 4"/>
          <p:cNvSpPr>
            <a:spLocks noChangeArrowheads="1"/>
          </p:cNvSpPr>
          <p:nvPr/>
        </p:nvSpPr>
        <p:spPr bwMode="auto">
          <a:xfrm>
            <a:off x="1908175" y="2360613"/>
            <a:ext cx="2663825" cy="344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MX" sz="2000" b="1">
                <a:solidFill>
                  <a:srgbClr val="000066"/>
                </a:solidFill>
                <a:latin typeface="Courier New" panose="02070309020205020404" pitchFamily="49" charset="0"/>
                <a:cs typeface="Times New Roman" panose="02020603050405020304" pitchFamily="18" charset="0"/>
              </a:rPr>
              <a:t>Por este medio el usuario introduce las instrucciones u órdenes al computador, su apariencia es similar a la máquina de escribir. </a:t>
            </a:r>
          </a:p>
          <a:p>
            <a:pPr eaLnBrk="0" hangingPunct="0"/>
            <a:endParaRPr lang="es-ES" altLang="es-MX" sz="2000" b="1">
              <a:solidFill>
                <a:srgbClr val="000066"/>
              </a:solidFill>
              <a:latin typeface="Courier New" panose="02070309020205020404" pitchFamily="49" charset="0"/>
            </a:endParaRPr>
          </a:p>
        </p:txBody>
      </p:sp>
      <p:grpSp>
        <p:nvGrpSpPr>
          <p:cNvPr id="26648" name="Group 24"/>
          <p:cNvGrpSpPr>
            <a:grpSpLocks/>
          </p:cNvGrpSpPr>
          <p:nvPr/>
        </p:nvGrpSpPr>
        <p:grpSpPr bwMode="auto">
          <a:xfrm>
            <a:off x="1763713" y="1374775"/>
            <a:ext cx="3276600" cy="685800"/>
            <a:chOff x="1200" y="570"/>
            <a:chExt cx="2064" cy="432"/>
          </a:xfrm>
        </p:grpSpPr>
        <p:sp>
          <p:nvSpPr>
            <p:cNvPr id="26629" name="AutoShape 5"/>
            <p:cNvSpPr>
              <a:spLocks noChangeArrowheads="1"/>
            </p:cNvSpPr>
            <p:nvPr/>
          </p:nvSpPr>
          <p:spPr bwMode="auto">
            <a:xfrm>
              <a:off x="1200" y="570"/>
              <a:ext cx="1536" cy="336"/>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26630" name="WordArt 6"/>
            <p:cNvSpPr>
              <a:spLocks noChangeArrowheads="1" noChangeShapeType="1" noTextEdit="1"/>
            </p:cNvSpPr>
            <p:nvPr/>
          </p:nvSpPr>
          <p:spPr bwMode="auto">
            <a:xfrm>
              <a:off x="1248" y="666"/>
              <a:ext cx="1392" cy="144"/>
            </a:xfrm>
            <a:prstGeom prst="rect">
              <a:avLst/>
            </a:prstGeom>
          </p:spPr>
          <p:txBody>
            <a:bodyPr wrap="none" fromWordArt="1">
              <a:prstTxWarp prst="textPlain">
                <a:avLst>
                  <a:gd name="adj" fmla="val 50000"/>
                </a:avLst>
              </a:prstTxWarp>
            </a:bodyPr>
            <a:lstStyle/>
            <a:p>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Teclado</a:t>
              </a:r>
            </a:p>
          </p:txBody>
        </p:sp>
        <p:sp>
          <p:nvSpPr>
            <p:cNvPr id="26631" name="AutoShape 7"/>
            <p:cNvSpPr>
              <a:spLocks noChangeArrowheads="1"/>
            </p:cNvSpPr>
            <p:nvPr/>
          </p:nvSpPr>
          <p:spPr bwMode="auto">
            <a:xfrm flipV="1">
              <a:off x="2880" y="714"/>
              <a:ext cx="384" cy="288"/>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grpSp>
      <p:pic>
        <p:nvPicPr>
          <p:cNvPr id="26635" name="Picture 11" descr="bulletsmall2"/>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1628775"/>
            <a:ext cx="217488" cy="217488"/>
          </a:xfrm>
          <a:prstGeom prst="rect">
            <a:avLst/>
          </a:prstGeom>
          <a:noFill/>
          <a:extLst>
            <a:ext uri="{909E8E84-426E-40DD-AFC4-6F175D3DCCD1}">
              <a14:hiddenFill xmlns:a14="http://schemas.microsoft.com/office/drawing/2010/main">
                <a:solidFill>
                  <a:srgbClr val="FFFFFF"/>
                </a:solidFill>
              </a14:hiddenFill>
            </a:ext>
          </a:extLst>
        </p:spPr>
      </p:pic>
      <p:pic>
        <p:nvPicPr>
          <p:cNvPr id="26639" name="Picture 15" descr="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2725" y="1339850"/>
            <a:ext cx="3527425" cy="2016125"/>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sp>
        <p:nvSpPr>
          <p:cNvPr id="26643" name="WordArt 19"/>
          <p:cNvSpPr>
            <a:spLocks noChangeArrowheads="1" noChangeShapeType="1" noTextEdit="1"/>
          </p:cNvSpPr>
          <p:nvPr/>
        </p:nvSpPr>
        <p:spPr bwMode="auto">
          <a:xfrm rot="5400000">
            <a:off x="-622300" y="3365500"/>
            <a:ext cx="2016125" cy="269875"/>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Hardware</a:t>
            </a:r>
          </a:p>
        </p:txBody>
      </p:sp>
      <p:pic>
        <p:nvPicPr>
          <p:cNvPr id="26644" name="Picture 20" descr="cable_data_transfer_md_wht"/>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pic>
        <p:nvPicPr>
          <p:cNvPr id="26647" name="Picture 23" descr="teclado"/>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92725" y="3789363"/>
            <a:ext cx="3505200" cy="212725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5508625" y="1844675"/>
            <a:ext cx="2951163" cy="393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MX" sz="1800" b="1">
                <a:solidFill>
                  <a:srgbClr val="000066"/>
                </a:solidFill>
                <a:latin typeface="Courier New" panose="02070309020205020404" pitchFamily="49" charset="0"/>
                <a:cs typeface="Times New Roman" panose="02020603050405020304" pitchFamily="18" charset="0"/>
              </a:rPr>
              <a:t>El Mouse convierte señales de movimiento en señales eléctricas entendibles por el computador, permite desplazar el puntero sobre la pantalla y ejecuta una orden cuando se presiona uno de los botones que lo conforman (hacer click). </a:t>
            </a:r>
          </a:p>
          <a:p>
            <a:pPr eaLnBrk="0" hangingPunct="0"/>
            <a:endParaRPr lang="es-ES" altLang="es-MX" sz="1800" b="1">
              <a:solidFill>
                <a:srgbClr val="000066"/>
              </a:solidFill>
              <a:latin typeface="Courier New" panose="02070309020205020404" pitchFamily="49" charset="0"/>
            </a:endParaRPr>
          </a:p>
        </p:txBody>
      </p:sp>
      <p:grpSp>
        <p:nvGrpSpPr>
          <p:cNvPr id="27669" name="Group 21"/>
          <p:cNvGrpSpPr>
            <a:grpSpLocks/>
          </p:cNvGrpSpPr>
          <p:nvPr/>
        </p:nvGrpSpPr>
        <p:grpSpPr bwMode="auto">
          <a:xfrm>
            <a:off x="1943100" y="1374775"/>
            <a:ext cx="3276600" cy="685800"/>
            <a:chOff x="1104" y="707"/>
            <a:chExt cx="2064" cy="432"/>
          </a:xfrm>
        </p:grpSpPr>
        <p:sp>
          <p:nvSpPr>
            <p:cNvPr id="27651" name="AutoShape 3"/>
            <p:cNvSpPr>
              <a:spLocks noChangeArrowheads="1"/>
            </p:cNvSpPr>
            <p:nvPr/>
          </p:nvSpPr>
          <p:spPr bwMode="auto">
            <a:xfrm>
              <a:off x="1104" y="707"/>
              <a:ext cx="1536" cy="336"/>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27652" name="WordArt 4"/>
            <p:cNvSpPr>
              <a:spLocks noChangeArrowheads="1" noChangeShapeType="1" noTextEdit="1"/>
            </p:cNvSpPr>
            <p:nvPr/>
          </p:nvSpPr>
          <p:spPr bwMode="auto">
            <a:xfrm>
              <a:off x="1152" y="803"/>
              <a:ext cx="1392" cy="144"/>
            </a:xfrm>
            <a:prstGeom prst="rect">
              <a:avLst/>
            </a:prstGeom>
          </p:spPr>
          <p:txBody>
            <a:bodyPr wrap="none" fromWordArt="1">
              <a:prstTxWarp prst="textPlain">
                <a:avLst>
                  <a:gd name="adj" fmla="val 50000"/>
                </a:avLst>
              </a:prstTxWarp>
            </a:bodyPr>
            <a:lstStyle/>
            <a:p>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Mouse</a:t>
              </a:r>
            </a:p>
          </p:txBody>
        </p:sp>
        <p:sp>
          <p:nvSpPr>
            <p:cNvPr id="27653" name="AutoShape 5"/>
            <p:cNvSpPr>
              <a:spLocks noChangeArrowheads="1"/>
            </p:cNvSpPr>
            <p:nvPr/>
          </p:nvSpPr>
          <p:spPr bwMode="auto">
            <a:xfrm flipV="1">
              <a:off x="2784" y="851"/>
              <a:ext cx="384" cy="288"/>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grpSp>
      <p:pic>
        <p:nvPicPr>
          <p:cNvPr id="27657" name="Picture 9" descr="bulletsmall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555750"/>
            <a:ext cx="217488" cy="217488"/>
          </a:xfrm>
          <a:prstGeom prst="rect">
            <a:avLst/>
          </a:prstGeom>
          <a:noFill/>
          <a:extLst>
            <a:ext uri="{909E8E84-426E-40DD-AFC4-6F175D3DCCD1}">
              <a14:hiddenFill xmlns:a14="http://schemas.microsoft.com/office/drawing/2010/main">
                <a:solidFill>
                  <a:srgbClr val="FFFFFF"/>
                </a:solidFill>
              </a14:hiddenFill>
            </a:ext>
          </a:extLst>
        </p:spPr>
      </p:pic>
      <p:grpSp>
        <p:nvGrpSpPr>
          <p:cNvPr id="27668" name="Group 20"/>
          <p:cNvGrpSpPr>
            <a:grpSpLocks/>
          </p:cNvGrpSpPr>
          <p:nvPr/>
        </p:nvGrpSpPr>
        <p:grpSpPr bwMode="auto">
          <a:xfrm>
            <a:off x="1912938" y="2373313"/>
            <a:ext cx="3192462" cy="3216275"/>
            <a:chOff x="854" y="1495"/>
            <a:chExt cx="2362" cy="2380"/>
          </a:xfrm>
        </p:grpSpPr>
        <p:pic>
          <p:nvPicPr>
            <p:cNvPr id="27659" name="Picture 11" descr="L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008" y="1619"/>
              <a:ext cx="2208" cy="2256"/>
            </a:xfrm>
            <a:prstGeom prst="rect">
              <a:avLst/>
            </a:prstGeom>
            <a:noFill/>
            <a:extLst>
              <a:ext uri="{909E8E84-426E-40DD-AFC4-6F175D3DCCD1}">
                <a14:hiddenFill xmlns:a14="http://schemas.microsoft.com/office/drawing/2010/main">
                  <a:solidFill>
                    <a:srgbClr val="FFFFFF"/>
                  </a:solidFill>
                </a14:hiddenFill>
              </a:ext>
            </a:extLst>
          </p:spPr>
        </p:pic>
        <p:pic>
          <p:nvPicPr>
            <p:cNvPr id="27661" name="Picture 13" descr="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4" y="1495"/>
              <a:ext cx="2298" cy="2298"/>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grpSp>
      <p:sp>
        <p:nvSpPr>
          <p:cNvPr id="27666" name="WordArt 18"/>
          <p:cNvSpPr>
            <a:spLocks noChangeArrowheads="1" noChangeShapeType="1" noTextEdit="1"/>
          </p:cNvSpPr>
          <p:nvPr/>
        </p:nvSpPr>
        <p:spPr bwMode="auto">
          <a:xfrm rot="5400000">
            <a:off x="-622300" y="3365500"/>
            <a:ext cx="2016125" cy="269875"/>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Hardware</a:t>
            </a:r>
          </a:p>
        </p:txBody>
      </p:sp>
      <p:pic>
        <p:nvPicPr>
          <p:cNvPr id="27667" name="Picture 19" descr="cable_data_transfer_md_wht"/>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28684" name="Picture 12"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4548188"/>
            <a:ext cx="1677988" cy="1638300"/>
          </a:xfrm>
          <a:prstGeom prst="rect">
            <a:avLst/>
          </a:prstGeom>
          <a:noFill/>
          <a:extLst>
            <a:ext uri="{909E8E84-426E-40DD-AFC4-6F175D3DCCD1}">
              <a14:hiddenFill xmlns:a14="http://schemas.microsoft.com/office/drawing/2010/main">
                <a:solidFill>
                  <a:srgbClr val="FFFFFF"/>
                </a:solidFill>
              </a14:hiddenFill>
            </a:ext>
          </a:extLst>
        </p:spPr>
      </p:pic>
      <p:pic>
        <p:nvPicPr>
          <p:cNvPr id="28683" name="Picture 11"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2560638"/>
            <a:ext cx="2951163" cy="2163762"/>
          </a:xfrm>
          <a:prstGeom prst="rect">
            <a:avLst/>
          </a:prstGeom>
          <a:noFill/>
          <a:extLst>
            <a:ext uri="{909E8E84-426E-40DD-AFC4-6F175D3DCCD1}">
              <a14:hiddenFill xmlns:a14="http://schemas.microsoft.com/office/drawing/2010/main">
                <a:solidFill>
                  <a:srgbClr val="FFFFFF"/>
                </a:solidFill>
              </a14:hiddenFill>
            </a:ext>
          </a:extLst>
        </p:spPr>
      </p:pic>
      <p:sp>
        <p:nvSpPr>
          <p:cNvPr id="28674" name="Rectangle 2"/>
          <p:cNvSpPr>
            <a:spLocks noChangeArrowheads="1"/>
          </p:cNvSpPr>
          <p:nvPr/>
        </p:nvSpPr>
        <p:spPr bwMode="auto">
          <a:xfrm>
            <a:off x="5486400" y="1120775"/>
            <a:ext cx="3189288"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MX" sz="1800" b="1">
                <a:solidFill>
                  <a:srgbClr val="000066"/>
                </a:solidFill>
                <a:latin typeface="Courier New" panose="02070309020205020404" pitchFamily="49" charset="0"/>
                <a:cs typeface="Times New Roman" panose="02020603050405020304" pitchFamily="18" charset="0"/>
              </a:rPr>
              <a:t>Compact Disk-Read Only Memory; es un dispositivo de sólo lectura que lee, a través de un rayo láser, información de un disco compacto. Su importancia radica en la integración de elementos multimedia al computador</a:t>
            </a:r>
          </a:p>
          <a:p>
            <a:pPr eaLnBrk="0" hangingPunct="0"/>
            <a:endParaRPr lang="es-ES" altLang="es-MX" sz="1800" b="1">
              <a:latin typeface="Courier New" panose="02070309020205020404" pitchFamily="49" charset="0"/>
            </a:endParaRPr>
          </a:p>
        </p:txBody>
      </p:sp>
      <p:sp>
        <p:nvSpPr>
          <p:cNvPr id="28676" name="AutoShape 4"/>
          <p:cNvSpPr>
            <a:spLocks noChangeArrowheads="1"/>
          </p:cNvSpPr>
          <p:nvPr/>
        </p:nvSpPr>
        <p:spPr bwMode="auto">
          <a:xfrm>
            <a:off x="1752600" y="1119188"/>
            <a:ext cx="2590800" cy="838200"/>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28677" name="WordArt 5"/>
          <p:cNvSpPr>
            <a:spLocks noChangeArrowheads="1" noChangeShapeType="1" noTextEdit="1"/>
          </p:cNvSpPr>
          <p:nvPr/>
        </p:nvSpPr>
        <p:spPr bwMode="auto">
          <a:xfrm>
            <a:off x="1828800" y="1271588"/>
            <a:ext cx="2209800" cy="609600"/>
          </a:xfrm>
          <a:prstGeom prst="rect">
            <a:avLst/>
          </a:prstGeom>
        </p:spPr>
        <p:txBody>
          <a:bodyPr wrap="none" fromWordArt="1">
            <a:prstTxWarp prst="textPlain">
              <a:avLst>
                <a:gd name="adj" fmla="val 50000"/>
              </a:avLst>
            </a:prstTxWarp>
          </a:bodyPr>
          <a:lstStyle/>
          <a:p>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Unidad de</a:t>
            </a:r>
          </a:p>
          <a:p>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 CD-Rom</a:t>
            </a:r>
          </a:p>
        </p:txBody>
      </p:sp>
      <p:sp>
        <p:nvSpPr>
          <p:cNvPr id="28679" name="AutoShape 7"/>
          <p:cNvSpPr>
            <a:spLocks noChangeArrowheads="1"/>
          </p:cNvSpPr>
          <p:nvPr/>
        </p:nvSpPr>
        <p:spPr bwMode="auto">
          <a:xfrm>
            <a:off x="4572000" y="1423988"/>
            <a:ext cx="609600" cy="304800"/>
          </a:xfrm>
          <a:prstGeom prst="rightArrow">
            <a:avLst>
              <a:gd name="adj1" fmla="val 50000"/>
              <a:gd name="adj2" fmla="val 50000"/>
            </a:avLst>
          </a:pr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pic>
        <p:nvPicPr>
          <p:cNvPr id="28682" name="Picture 10" descr="bulletsmall2"/>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500188"/>
            <a:ext cx="217488" cy="217487"/>
          </a:xfrm>
          <a:prstGeom prst="rect">
            <a:avLst/>
          </a:prstGeom>
          <a:noFill/>
          <a:extLst>
            <a:ext uri="{909E8E84-426E-40DD-AFC4-6F175D3DCCD1}">
              <a14:hiddenFill xmlns:a14="http://schemas.microsoft.com/office/drawing/2010/main">
                <a:solidFill>
                  <a:srgbClr val="FFFFFF"/>
                </a:solidFill>
              </a14:hiddenFill>
            </a:ext>
          </a:extLst>
        </p:spPr>
      </p:pic>
      <p:pic>
        <p:nvPicPr>
          <p:cNvPr id="28687" name="Picture 15" descr="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88125" y="4383088"/>
            <a:ext cx="1682750" cy="1630362"/>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28689" name="Picture 17" descr="CD-RO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2708275"/>
            <a:ext cx="2881313" cy="226695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sp>
        <p:nvSpPr>
          <p:cNvPr id="28690" name="WordArt 18"/>
          <p:cNvSpPr>
            <a:spLocks noChangeArrowheads="1" noChangeShapeType="1" noTextEdit="1"/>
          </p:cNvSpPr>
          <p:nvPr/>
        </p:nvSpPr>
        <p:spPr bwMode="auto">
          <a:xfrm rot="5400000">
            <a:off x="-622300" y="3365500"/>
            <a:ext cx="2016125" cy="269875"/>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Hardware</a:t>
            </a:r>
          </a:p>
        </p:txBody>
      </p:sp>
      <p:pic>
        <p:nvPicPr>
          <p:cNvPr id="28691" name="Picture 19" descr="cable_data_transfer_md_wht"/>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30735" name="Group 15"/>
          <p:cNvGrpSpPr>
            <a:grpSpLocks/>
          </p:cNvGrpSpPr>
          <p:nvPr/>
        </p:nvGrpSpPr>
        <p:grpSpPr bwMode="auto">
          <a:xfrm>
            <a:off x="1774825" y="1158875"/>
            <a:ext cx="3733800" cy="685800"/>
            <a:chOff x="1008" y="674"/>
            <a:chExt cx="2352" cy="432"/>
          </a:xfrm>
        </p:grpSpPr>
        <p:sp>
          <p:nvSpPr>
            <p:cNvPr id="30723" name="AutoShape 3"/>
            <p:cNvSpPr>
              <a:spLocks noChangeArrowheads="1"/>
            </p:cNvSpPr>
            <p:nvPr/>
          </p:nvSpPr>
          <p:spPr bwMode="auto">
            <a:xfrm>
              <a:off x="1008" y="674"/>
              <a:ext cx="1872" cy="336"/>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30724" name="WordArt 4"/>
            <p:cNvSpPr>
              <a:spLocks noChangeArrowheads="1" noChangeShapeType="1" noTextEdit="1"/>
            </p:cNvSpPr>
            <p:nvPr/>
          </p:nvSpPr>
          <p:spPr bwMode="auto">
            <a:xfrm>
              <a:off x="1056" y="722"/>
              <a:ext cx="1632" cy="240"/>
            </a:xfrm>
            <a:prstGeom prst="rect">
              <a:avLst/>
            </a:prstGeom>
          </p:spPr>
          <p:txBody>
            <a:bodyPr wrap="none" fromWordArt="1">
              <a:prstTxWarp prst="textPlain">
                <a:avLst>
                  <a:gd name="adj" fmla="val 50000"/>
                </a:avLst>
              </a:prstTxWarp>
            </a:bodyPr>
            <a:lstStyle/>
            <a:p>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Disquete</a:t>
              </a:r>
            </a:p>
          </p:txBody>
        </p:sp>
        <p:sp>
          <p:nvSpPr>
            <p:cNvPr id="30725" name="AutoShape 5"/>
            <p:cNvSpPr>
              <a:spLocks noChangeArrowheads="1"/>
            </p:cNvSpPr>
            <p:nvPr/>
          </p:nvSpPr>
          <p:spPr bwMode="auto">
            <a:xfrm flipV="1">
              <a:off x="2976" y="818"/>
              <a:ext cx="384" cy="288"/>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grpSp>
      <p:pic>
        <p:nvPicPr>
          <p:cNvPr id="30726" name="Picture 6" descr="bulletsmall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412875"/>
            <a:ext cx="217487" cy="217488"/>
          </a:xfrm>
          <a:prstGeom prst="rect">
            <a:avLst/>
          </a:prstGeom>
          <a:noFill/>
          <a:extLst>
            <a:ext uri="{909E8E84-426E-40DD-AFC4-6F175D3DCCD1}">
              <a14:hiddenFill xmlns:a14="http://schemas.microsoft.com/office/drawing/2010/main">
                <a:solidFill>
                  <a:srgbClr val="FFFFFF"/>
                </a:solidFill>
              </a14:hiddenFill>
            </a:ext>
          </a:extLst>
        </p:spPr>
      </p:pic>
      <p:sp>
        <p:nvSpPr>
          <p:cNvPr id="30730" name="Text Box 10"/>
          <p:cNvSpPr txBox="1">
            <a:spLocks noChangeArrowheads="1"/>
          </p:cNvSpPr>
          <p:nvPr/>
        </p:nvSpPr>
        <p:spPr bwMode="auto">
          <a:xfrm>
            <a:off x="4067175" y="1916113"/>
            <a:ext cx="4725988" cy="449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MX" sz="1600" b="1">
                <a:solidFill>
                  <a:srgbClr val="000066"/>
                </a:solidFill>
                <a:latin typeface="Courier New" panose="02070309020205020404" pitchFamily="49" charset="0"/>
              </a:rPr>
              <a:t>Disquete o Disco flexible, en ordenadores o computadoras, es un elemento plano, de forma circular, elaborado sobre un material plástico, denominado mylar, y recubierto por una sustancia magnetizable, normalmente óxido de hierro. Se utilizan para almacenar información de naturaleza informática, para lo cual se insertan en un dispositivo —la unidad de disco— donde una cabeza de lectura/escritura puede escribir información alterando la orientación magnética de las partículas de su superficie. Por un procedimiento similar, esta cabeza es capaz de leer la información almacenada.</a:t>
            </a:r>
          </a:p>
          <a:p>
            <a:endParaRPr lang="es-ES" altLang="es-MX" sz="1600" b="1">
              <a:solidFill>
                <a:srgbClr val="000066"/>
              </a:solidFill>
              <a:latin typeface="Courier New" panose="02070309020205020404" pitchFamily="49" charset="0"/>
            </a:endParaRPr>
          </a:p>
        </p:txBody>
      </p:sp>
      <p:sp>
        <p:nvSpPr>
          <p:cNvPr id="30736" name="WordArt 16"/>
          <p:cNvSpPr>
            <a:spLocks noChangeArrowheads="1" noChangeShapeType="1" noTextEdit="1"/>
          </p:cNvSpPr>
          <p:nvPr/>
        </p:nvSpPr>
        <p:spPr bwMode="auto">
          <a:xfrm rot="5400000">
            <a:off x="-622300" y="3365500"/>
            <a:ext cx="2016125" cy="269875"/>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Hardware</a:t>
            </a:r>
          </a:p>
        </p:txBody>
      </p:sp>
      <p:pic>
        <p:nvPicPr>
          <p:cNvPr id="30737" name="Picture 17" descr="cable_data_transfer_md_wht"/>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grpSp>
        <p:nvGrpSpPr>
          <p:cNvPr id="30740" name="Group 20"/>
          <p:cNvGrpSpPr>
            <a:grpSpLocks/>
          </p:cNvGrpSpPr>
          <p:nvPr/>
        </p:nvGrpSpPr>
        <p:grpSpPr bwMode="auto">
          <a:xfrm>
            <a:off x="1620838" y="2205038"/>
            <a:ext cx="2303462" cy="3887787"/>
            <a:chOff x="975" y="1389"/>
            <a:chExt cx="1451" cy="2449"/>
          </a:xfrm>
        </p:grpSpPr>
        <p:pic>
          <p:nvPicPr>
            <p:cNvPr id="30739" name="Picture 19" descr="L5"/>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975" y="1480"/>
              <a:ext cx="1270" cy="2358"/>
            </a:xfrm>
            <a:prstGeom prst="rect">
              <a:avLst/>
            </a:prstGeom>
            <a:noFill/>
            <a:extLst>
              <a:ext uri="{909E8E84-426E-40DD-AFC4-6F175D3DCCD1}">
                <a14:hiddenFill xmlns:a14="http://schemas.microsoft.com/office/drawing/2010/main">
                  <a:solidFill>
                    <a:srgbClr val="FFFFFF"/>
                  </a:solidFill>
                </a14:hiddenFill>
              </a:ext>
            </a:extLst>
          </p:spPr>
        </p:pic>
        <p:pic>
          <p:nvPicPr>
            <p:cNvPr id="30738" name="Picture 18" descr="disquet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7" y="1389"/>
              <a:ext cx="1369" cy="237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39956" name="Picture 20"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3716338"/>
            <a:ext cx="1439863" cy="2449512"/>
          </a:xfrm>
          <a:prstGeom prst="rect">
            <a:avLst/>
          </a:prstGeom>
          <a:noFill/>
          <a:extLst>
            <a:ext uri="{909E8E84-426E-40DD-AFC4-6F175D3DCCD1}">
              <a14:hiddenFill xmlns:a14="http://schemas.microsoft.com/office/drawing/2010/main">
                <a:solidFill>
                  <a:srgbClr val="FFFFFF"/>
                </a:solidFill>
              </a14:hiddenFill>
            </a:ext>
          </a:extLst>
        </p:spPr>
      </p:pic>
      <p:pic>
        <p:nvPicPr>
          <p:cNvPr id="39955" name="Picture 19"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2060575"/>
            <a:ext cx="1439863" cy="1368425"/>
          </a:xfrm>
          <a:prstGeom prst="rect">
            <a:avLst/>
          </a:prstGeom>
          <a:noFill/>
          <a:extLst>
            <a:ext uri="{909E8E84-426E-40DD-AFC4-6F175D3DCCD1}">
              <a14:hiddenFill xmlns:a14="http://schemas.microsoft.com/office/drawing/2010/main">
                <a:solidFill>
                  <a:srgbClr val="FFFFFF"/>
                </a:solidFill>
              </a14:hiddenFill>
            </a:ext>
          </a:extLst>
        </p:spPr>
      </p:pic>
      <p:pic>
        <p:nvPicPr>
          <p:cNvPr id="39954" name="Picture 18"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724525" y="1125538"/>
            <a:ext cx="2879725" cy="790575"/>
          </a:xfrm>
          <a:prstGeom prst="rect">
            <a:avLst/>
          </a:prstGeom>
          <a:noFill/>
          <a:extLst>
            <a:ext uri="{909E8E84-426E-40DD-AFC4-6F175D3DCCD1}">
              <a14:hiddenFill xmlns:a14="http://schemas.microsoft.com/office/drawing/2010/main">
                <a:solidFill>
                  <a:srgbClr val="FFFFFF"/>
                </a:solidFill>
              </a14:hiddenFill>
            </a:ext>
          </a:extLst>
        </p:spPr>
      </p:pic>
      <p:grpSp>
        <p:nvGrpSpPr>
          <p:cNvPr id="39952" name="Group 16"/>
          <p:cNvGrpSpPr>
            <a:grpSpLocks/>
          </p:cNvGrpSpPr>
          <p:nvPr/>
        </p:nvGrpSpPr>
        <p:grpSpPr bwMode="auto">
          <a:xfrm>
            <a:off x="1774825" y="1230313"/>
            <a:ext cx="3733800" cy="685800"/>
            <a:chOff x="1008" y="594"/>
            <a:chExt cx="2352" cy="432"/>
          </a:xfrm>
        </p:grpSpPr>
        <p:sp>
          <p:nvSpPr>
            <p:cNvPr id="39941" name="AutoShape 5"/>
            <p:cNvSpPr>
              <a:spLocks noChangeArrowheads="1"/>
            </p:cNvSpPr>
            <p:nvPr/>
          </p:nvSpPr>
          <p:spPr bwMode="auto">
            <a:xfrm>
              <a:off x="1008" y="594"/>
              <a:ext cx="1872" cy="336"/>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39942" name="WordArt 6"/>
            <p:cNvSpPr>
              <a:spLocks noChangeArrowheads="1" noChangeShapeType="1" noTextEdit="1"/>
            </p:cNvSpPr>
            <p:nvPr/>
          </p:nvSpPr>
          <p:spPr bwMode="auto">
            <a:xfrm>
              <a:off x="1056" y="642"/>
              <a:ext cx="1632" cy="240"/>
            </a:xfrm>
            <a:prstGeom prst="rect">
              <a:avLst/>
            </a:prstGeom>
          </p:spPr>
          <p:txBody>
            <a:bodyPr wrap="none" fromWordArt="1">
              <a:prstTxWarp prst="textPlain">
                <a:avLst>
                  <a:gd name="adj" fmla="val 50000"/>
                </a:avLst>
              </a:prstTxWarp>
            </a:bodyPr>
            <a:lstStyle/>
            <a:p>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Pendriver</a:t>
              </a:r>
            </a:p>
          </p:txBody>
        </p:sp>
        <p:sp>
          <p:nvSpPr>
            <p:cNvPr id="39943" name="AutoShape 7"/>
            <p:cNvSpPr>
              <a:spLocks noChangeArrowheads="1"/>
            </p:cNvSpPr>
            <p:nvPr/>
          </p:nvSpPr>
          <p:spPr bwMode="auto">
            <a:xfrm flipV="1">
              <a:off x="2976" y="738"/>
              <a:ext cx="384" cy="288"/>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grpSp>
      <p:pic>
        <p:nvPicPr>
          <p:cNvPr id="39944" name="Picture 8" descr="bulletsmall2"/>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1484313"/>
            <a:ext cx="217487" cy="217487"/>
          </a:xfrm>
          <a:prstGeom prst="rect">
            <a:avLst/>
          </a:prstGeom>
          <a:noFill/>
          <a:extLst>
            <a:ext uri="{909E8E84-426E-40DD-AFC4-6F175D3DCCD1}">
              <a14:hiddenFill xmlns:a14="http://schemas.microsoft.com/office/drawing/2010/main">
                <a:solidFill>
                  <a:srgbClr val="FFFFFF"/>
                </a:solidFill>
              </a14:hiddenFill>
            </a:ext>
          </a:extLst>
        </p:spPr>
      </p:pic>
      <p:pic>
        <p:nvPicPr>
          <p:cNvPr id="39946" name="Picture 10" descr="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5513" y="1989138"/>
            <a:ext cx="1450975" cy="139700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39947" name="Picture 11" descr="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5963" y="1196975"/>
            <a:ext cx="2879725" cy="827088"/>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sp>
        <p:nvSpPr>
          <p:cNvPr id="39948" name="Rectangle 12"/>
          <p:cNvSpPr>
            <a:spLocks noChangeArrowheads="1"/>
          </p:cNvSpPr>
          <p:nvPr/>
        </p:nvSpPr>
        <p:spPr bwMode="auto">
          <a:xfrm>
            <a:off x="4354513" y="2033588"/>
            <a:ext cx="4681537"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s-ES" altLang="es-MX" sz="2000" b="1">
                <a:solidFill>
                  <a:srgbClr val="000066"/>
                </a:solidFill>
                <a:latin typeface="Courier New" panose="02070309020205020404" pitchFamily="49" charset="0"/>
              </a:rPr>
              <a:t>Es una memoria USB que hace las veces de un pequeño disco duro con lo cual podemos olvidarnos de los disquetes. Se pueden comprar en tiendas de informática y en grandes almacenes. Los hay desde 32 MB  a 1 GB o más de capacidad.  Si la intención es de utilizarlos con Windows 98, es necesario disponer de un CD de drivers. Vienen muy bien para realizar copias de seguridad.</a:t>
            </a:r>
            <a:r>
              <a:rPr lang="es-ES" altLang="es-MX" b="1">
                <a:solidFill>
                  <a:srgbClr val="000066"/>
                </a:solidFill>
                <a:latin typeface="Courier New" panose="02070309020205020404" pitchFamily="49" charset="0"/>
              </a:rPr>
              <a:t> </a:t>
            </a:r>
          </a:p>
        </p:txBody>
      </p:sp>
      <p:grpSp>
        <p:nvGrpSpPr>
          <p:cNvPr id="39957" name="Group 21"/>
          <p:cNvGrpSpPr>
            <a:grpSpLocks/>
          </p:cNvGrpSpPr>
          <p:nvPr/>
        </p:nvGrpSpPr>
        <p:grpSpPr bwMode="auto">
          <a:xfrm>
            <a:off x="250825" y="2492375"/>
            <a:ext cx="269875" cy="4249738"/>
            <a:chOff x="158" y="1570"/>
            <a:chExt cx="170" cy="2677"/>
          </a:xfrm>
        </p:grpSpPr>
        <p:sp>
          <p:nvSpPr>
            <p:cNvPr id="39950" name="WordArt 14"/>
            <p:cNvSpPr>
              <a:spLocks noChangeArrowheads="1" noChangeShapeType="1" noTextEdit="1"/>
            </p:cNvSpPr>
            <p:nvPr/>
          </p:nvSpPr>
          <p:spPr bwMode="auto">
            <a:xfrm rot="5400000">
              <a:off x="-392" y="2120"/>
              <a:ext cx="1270" cy="170"/>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Hardware</a:t>
              </a:r>
            </a:p>
          </p:txBody>
        </p:sp>
        <p:pic>
          <p:nvPicPr>
            <p:cNvPr id="39951" name="Picture 15" descr="cable_data_transfer_md_wht"/>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rot="16200000">
              <a:off x="-14" y="3920"/>
              <a:ext cx="499" cy="156"/>
            </a:xfrm>
            <a:prstGeom prst="rect">
              <a:avLst/>
            </a:prstGeom>
            <a:noFill/>
            <a:extLst>
              <a:ext uri="{909E8E84-426E-40DD-AFC4-6F175D3DCCD1}">
                <a14:hiddenFill xmlns:a14="http://schemas.microsoft.com/office/drawing/2010/main">
                  <a:solidFill>
                    <a:srgbClr val="FFFFFF"/>
                  </a:solidFill>
                </a14:hiddenFill>
              </a:ext>
            </a:extLst>
          </p:spPr>
        </p:pic>
      </p:grpSp>
      <p:pic>
        <p:nvPicPr>
          <p:cNvPr id="39953" name="Picture 17" descr="pendriv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95513" y="3789363"/>
            <a:ext cx="1439862" cy="2446337"/>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1763713" y="1989138"/>
            <a:ext cx="3417887"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MX" sz="1800" b="1">
                <a:solidFill>
                  <a:srgbClr val="000066"/>
                </a:solidFill>
                <a:latin typeface="Courier New" panose="02070309020205020404" pitchFamily="49" charset="0"/>
                <a:cs typeface="Times New Roman" panose="02020603050405020304" pitchFamily="18" charset="0"/>
              </a:rPr>
              <a:t>Están ubicados en la parte posterior de la CPU y son utilizados para conectar los dispositivos periféricos de entrada y salida. </a:t>
            </a:r>
          </a:p>
          <a:p>
            <a:pPr eaLnBrk="0" hangingPunct="0"/>
            <a:r>
              <a:rPr lang="es-ES" altLang="es-MX" sz="1800" b="1">
                <a:solidFill>
                  <a:srgbClr val="000066"/>
                </a:solidFill>
                <a:latin typeface="Courier New" panose="02070309020205020404" pitchFamily="49" charset="0"/>
                <a:cs typeface="Times New Roman" panose="02020603050405020304" pitchFamily="18" charset="0"/>
              </a:rPr>
              <a:t>Puertos paralelos: Transportan los bits de datos en forma simultánea a gran velocidad. Puertos seriales: Transfieren un bit a la vez, es decir, secuencialmente.</a:t>
            </a:r>
          </a:p>
          <a:p>
            <a:pPr eaLnBrk="0" hangingPunct="0"/>
            <a:endParaRPr lang="es-ES" altLang="es-MX" sz="1800" b="1">
              <a:solidFill>
                <a:srgbClr val="000066"/>
              </a:solidFill>
              <a:latin typeface="Courier New" panose="02070309020205020404" pitchFamily="49" charset="0"/>
            </a:endParaRPr>
          </a:p>
        </p:txBody>
      </p:sp>
      <p:sp>
        <p:nvSpPr>
          <p:cNvPr id="29700" name="AutoShape 4"/>
          <p:cNvSpPr>
            <a:spLocks noChangeArrowheads="1"/>
          </p:cNvSpPr>
          <p:nvPr/>
        </p:nvSpPr>
        <p:spPr bwMode="auto">
          <a:xfrm>
            <a:off x="1828800" y="1163638"/>
            <a:ext cx="2514600" cy="457200"/>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29701" name="WordArt 5"/>
          <p:cNvSpPr>
            <a:spLocks noChangeArrowheads="1" noChangeShapeType="1" noTextEdit="1"/>
          </p:cNvSpPr>
          <p:nvPr/>
        </p:nvSpPr>
        <p:spPr bwMode="auto">
          <a:xfrm>
            <a:off x="1905000" y="1239838"/>
            <a:ext cx="2286000" cy="304800"/>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Puertos</a:t>
            </a:r>
          </a:p>
        </p:txBody>
      </p:sp>
      <p:sp>
        <p:nvSpPr>
          <p:cNvPr id="29702" name="AutoShape 6"/>
          <p:cNvSpPr>
            <a:spLocks noChangeArrowheads="1"/>
          </p:cNvSpPr>
          <p:nvPr/>
        </p:nvSpPr>
        <p:spPr bwMode="auto">
          <a:xfrm flipV="1">
            <a:off x="4572000" y="1316038"/>
            <a:ext cx="609600" cy="457200"/>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pic>
        <p:nvPicPr>
          <p:cNvPr id="29705" name="Picture 9" descr="bulletsmall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316038"/>
            <a:ext cx="217488" cy="217487"/>
          </a:xfrm>
          <a:prstGeom prst="rect">
            <a:avLst/>
          </a:prstGeom>
          <a:noFill/>
          <a:extLst>
            <a:ext uri="{909E8E84-426E-40DD-AFC4-6F175D3DCCD1}">
              <a14:hiddenFill xmlns:a14="http://schemas.microsoft.com/office/drawing/2010/main">
                <a:solidFill>
                  <a:srgbClr val="FFFFFF"/>
                </a:solidFill>
              </a14:hiddenFill>
            </a:ext>
          </a:extLst>
        </p:spPr>
      </p:pic>
      <p:grpSp>
        <p:nvGrpSpPr>
          <p:cNvPr id="29717" name="Group 21"/>
          <p:cNvGrpSpPr>
            <a:grpSpLocks/>
          </p:cNvGrpSpPr>
          <p:nvPr/>
        </p:nvGrpSpPr>
        <p:grpSpPr bwMode="auto">
          <a:xfrm>
            <a:off x="5724525" y="1196975"/>
            <a:ext cx="2860675" cy="5111750"/>
            <a:chOff x="3606" y="671"/>
            <a:chExt cx="1848" cy="3303"/>
          </a:xfrm>
        </p:grpSpPr>
        <p:pic>
          <p:nvPicPr>
            <p:cNvPr id="29709" name="Picture 13" descr="L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606" y="862"/>
              <a:ext cx="1632" cy="1488"/>
            </a:xfrm>
            <a:prstGeom prst="rect">
              <a:avLst/>
            </a:prstGeom>
            <a:noFill/>
            <a:extLst>
              <a:ext uri="{909E8E84-426E-40DD-AFC4-6F175D3DCCD1}">
                <a14:hiddenFill xmlns:a14="http://schemas.microsoft.com/office/drawing/2010/main">
                  <a:solidFill>
                    <a:srgbClr val="FFFFFF"/>
                  </a:solidFill>
                </a14:hiddenFill>
              </a:ext>
            </a:extLst>
          </p:spPr>
        </p:pic>
        <p:pic>
          <p:nvPicPr>
            <p:cNvPr id="29706" name="Picture 10" descr="L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606" y="2486"/>
              <a:ext cx="1632" cy="1488"/>
            </a:xfrm>
            <a:prstGeom prst="rect">
              <a:avLst/>
            </a:prstGeom>
            <a:noFill/>
            <a:extLst>
              <a:ext uri="{909E8E84-426E-40DD-AFC4-6F175D3DCCD1}">
                <a14:hiddenFill xmlns:a14="http://schemas.microsoft.com/office/drawing/2010/main">
                  <a:solidFill>
                    <a:srgbClr val="FFFFFF"/>
                  </a:solidFill>
                </a14:hiddenFill>
              </a:ext>
            </a:extLst>
          </p:spPr>
        </p:pic>
        <p:pic>
          <p:nvPicPr>
            <p:cNvPr id="29708" name="Picture 12" descr="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6" y="671"/>
              <a:ext cx="1756" cy="1597"/>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29710" name="Picture 14" descr="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6" y="2350"/>
              <a:ext cx="1758" cy="156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grpSp>
      <p:grpSp>
        <p:nvGrpSpPr>
          <p:cNvPr id="29714" name="Group 18"/>
          <p:cNvGrpSpPr>
            <a:grpSpLocks/>
          </p:cNvGrpSpPr>
          <p:nvPr/>
        </p:nvGrpSpPr>
        <p:grpSpPr bwMode="auto">
          <a:xfrm>
            <a:off x="250825" y="2492375"/>
            <a:ext cx="269875" cy="4249738"/>
            <a:chOff x="158" y="1570"/>
            <a:chExt cx="170" cy="2677"/>
          </a:xfrm>
        </p:grpSpPr>
        <p:sp>
          <p:nvSpPr>
            <p:cNvPr id="29715" name="WordArt 19"/>
            <p:cNvSpPr>
              <a:spLocks noChangeArrowheads="1" noChangeShapeType="1" noTextEdit="1"/>
            </p:cNvSpPr>
            <p:nvPr/>
          </p:nvSpPr>
          <p:spPr bwMode="auto">
            <a:xfrm rot="5400000">
              <a:off x="-392" y="2120"/>
              <a:ext cx="1270" cy="170"/>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Hardware</a:t>
              </a:r>
            </a:p>
          </p:txBody>
        </p:sp>
        <p:pic>
          <p:nvPicPr>
            <p:cNvPr id="29716" name="Picture 20" descr="cable_data_transfer_md_wht"/>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rot="16200000">
              <a:off x="-14" y="3920"/>
              <a:ext cx="499" cy="15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31768" name="Group 24"/>
          <p:cNvGrpSpPr>
            <a:grpSpLocks/>
          </p:cNvGrpSpPr>
          <p:nvPr/>
        </p:nvGrpSpPr>
        <p:grpSpPr bwMode="auto">
          <a:xfrm>
            <a:off x="1763713" y="1235075"/>
            <a:ext cx="3352800" cy="609600"/>
            <a:chOff x="1152" y="633"/>
            <a:chExt cx="2112" cy="384"/>
          </a:xfrm>
        </p:grpSpPr>
        <p:sp>
          <p:nvSpPr>
            <p:cNvPr id="31747" name="AutoShape 3"/>
            <p:cNvSpPr>
              <a:spLocks noChangeArrowheads="1"/>
            </p:cNvSpPr>
            <p:nvPr/>
          </p:nvSpPr>
          <p:spPr bwMode="auto">
            <a:xfrm>
              <a:off x="1152" y="633"/>
              <a:ext cx="1584" cy="288"/>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31748" name="WordArt 4"/>
            <p:cNvSpPr>
              <a:spLocks noChangeArrowheads="1" noChangeShapeType="1" noTextEdit="1"/>
            </p:cNvSpPr>
            <p:nvPr/>
          </p:nvSpPr>
          <p:spPr bwMode="auto">
            <a:xfrm>
              <a:off x="1200" y="681"/>
              <a:ext cx="1440" cy="192"/>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Impresora</a:t>
              </a:r>
            </a:p>
          </p:txBody>
        </p:sp>
        <p:sp>
          <p:nvSpPr>
            <p:cNvPr id="31749" name="AutoShape 5"/>
            <p:cNvSpPr>
              <a:spLocks noChangeArrowheads="1"/>
            </p:cNvSpPr>
            <p:nvPr/>
          </p:nvSpPr>
          <p:spPr bwMode="auto">
            <a:xfrm flipV="1">
              <a:off x="2880" y="729"/>
              <a:ext cx="384" cy="288"/>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grpSp>
      <p:pic>
        <p:nvPicPr>
          <p:cNvPr id="31750" name="Picture 6" descr="bulletsmall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411288"/>
            <a:ext cx="217488" cy="217487"/>
          </a:xfrm>
          <a:prstGeom prst="rect">
            <a:avLst/>
          </a:prstGeom>
          <a:noFill/>
          <a:extLst>
            <a:ext uri="{909E8E84-426E-40DD-AFC4-6F175D3DCCD1}">
              <a14:hiddenFill xmlns:a14="http://schemas.microsoft.com/office/drawing/2010/main">
                <a:solidFill>
                  <a:srgbClr val="FFFFFF"/>
                </a:solidFill>
              </a14:hiddenFill>
            </a:ext>
          </a:extLst>
        </p:spPr>
      </p:pic>
      <p:sp>
        <p:nvSpPr>
          <p:cNvPr id="31754" name="Rectangle 10"/>
          <p:cNvSpPr>
            <a:spLocks noChangeArrowheads="1"/>
          </p:cNvSpPr>
          <p:nvPr/>
        </p:nvSpPr>
        <p:spPr bwMode="auto">
          <a:xfrm>
            <a:off x="5334000" y="4164013"/>
            <a:ext cx="3276600" cy="216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MX" sz="1700" b="1">
                <a:solidFill>
                  <a:srgbClr val="000066"/>
                </a:solidFill>
                <a:latin typeface="Courier New" panose="02070309020205020404" pitchFamily="49" charset="0"/>
              </a:rPr>
              <a:t>Impresora matricial, cualquier impresora que imprime caracteres compuestos por puntos empleando un cabezal de impresión formado por agujas accionadas electromagnéticamente.</a:t>
            </a:r>
          </a:p>
        </p:txBody>
      </p:sp>
      <p:sp>
        <p:nvSpPr>
          <p:cNvPr id="31755" name="AutoShape 11"/>
          <p:cNvSpPr>
            <a:spLocks noChangeArrowheads="1"/>
          </p:cNvSpPr>
          <p:nvPr/>
        </p:nvSpPr>
        <p:spPr bwMode="auto">
          <a:xfrm>
            <a:off x="4284663" y="5043488"/>
            <a:ext cx="533400" cy="228600"/>
          </a:xfrm>
          <a:prstGeom prst="chevron">
            <a:avLst>
              <a:gd name="adj" fmla="val 58333"/>
            </a:avLst>
          </a:prstGeom>
          <a:gradFill rotWithShape="0">
            <a:gsLst>
              <a:gs pos="0">
                <a:srgbClr val="000066"/>
              </a:gs>
              <a:gs pos="100000">
                <a:srgbClr val="FFFFFF"/>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31756" name="Rectangle 12"/>
          <p:cNvSpPr>
            <a:spLocks noChangeArrowheads="1"/>
          </p:cNvSpPr>
          <p:nvPr/>
        </p:nvSpPr>
        <p:spPr bwMode="auto">
          <a:xfrm>
            <a:off x="5334000" y="1036638"/>
            <a:ext cx="3429000" cy="293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CL" altLang="es-MX" sz="1700" b="1">
                <a:solidFill>
                  <a:srgbClr val="000066"/>
                </a:solidFill>
                <a:latin typeface="Courier New" panose="02070309020205020404" pitchFamily="49" charset="0"/>
              </a:rPr>
              <a:t>P</a:t>
            </a:r>
            <a:r>
              <a:rPr lang="es-ES" altLang="es-MX" sz="1700" b="1">
                <a:solidFill>
                  <a:srgbClr val="000066"/>
                </a:solidFill>
                <a:latin typeface="Courier New" panose="02070309020205020404" pitchFamily="49" charset="0"/>
              </a:rPr>
              <a:t>eriférico para ordenador o computadora que traslada el texto o la imagen generada por computadora a papel u otro medio, por ejemplo transparencias. Las impresoras se pueden dividir en categorías siguiendo diversos criterios</a:t>
            </a:r>
            <a:r>
              <a:rPr lang="es-CL" altLang="es-MX" sz="1700" b="1">
                <a:solidFill>
                  <a:srgbClr val="000066"/>
                </a:solidFill>
                <a:latin typeface="Courier New" panose="02070309020205020404" pitchFamily="49" charset="0"/>
              </a:rPr>
              <a:t>.</a:t>
            </a:r>
            <a:endParaRPr lang="es-ES" altLang="es-MX" sz="1700" b="1">
              <a:solidFill>
                <a:srgbClr val="000066"/>
              </a:solidFill>
              <a:latin typeface="Courier New" panose="02070309020205020404" pitchFamily="49" charset="0"/>
            </a:endParaRPr>
          </a:p>
        </p:txBody>
      </p:sp>
      <p:sp>
        <p:nvSpPr>
          <p:cNvPr id="31757" name="AutoShape 13"/>
          <p:cNvSpPr>
            <a:spLocks noChangeArrowheads="1"/>
          </p:cNvSpPr>
          <p:nvPr/>
        </p:nvSpPr>
        <p:spPr bwMode="auto">
          <a:xfrm>
            <a:off x="4284663" y="2735263"/>
            <a:ext cx="533400" cy="228600"/>
          </a:xfrm>
          <a:prstGeom prst="chevron">
            <a:avLst>
              <a:gd name="adj" fmla="val 58333"/>
            </a:avLst>
          </a:prstGeom>
          <a:gradFill rotWithShape="0">
            <a:gsLst>
              <a:gs pos="0">
                <a:srgbClr val="000066"/>
              </a:gs>
              <a:gs pos="100000">
                <a:srgbClr val="FFFFFF"/>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grpSp>
        <p:nvGrpSpPr>
          <p:cNvPr id="31767" name="Group 23"/>
          <p:cNvGrpSpPr>
            <a:grpSpLocks/>
          </p:cNvGrpSpPr>
          <p:nvPr/>
        </p:nvGrpSpPr>
        <p:grpSpPr bwMode="auto">
          <a:xfrm>
            <a:off x="1662113" y="2060575"/>
            <a:ext cx="2405062" cy="4176713"/>
            <a:chOff x="884" y="1088"/>
            <a:chExt cx="1636" cy="2841"/>
          </a:xfrm>
        </p:grpSpPr>
        <p:pic>
          <p:nvPicPr>
            <p:cNvPr id="31762" name="Picture 18" descr="L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930" y="2676"/>
              <a:ext cx="1473" cy="1179"/>
            </a:xfrm>
            <a:prstGeom prst="rect">
              <a:avLst/>
            </a:prstGeom>
            <a:noFill/>
            <a:extLst>
              <a:ext uri="{909E8E84-426E-40DD-AFC4-6F175D3DCCD1}">
                <a14:hiddenFill xmlns:a14="http://schemas.microsoft.com/office/drawing/2010/main">
                  <a:solidFill>
                    <a:srgbClr val="FFFFFF"/>
                  </a:solidFill>
                </a14:hiddenFill>
              </a:ext>
            </a:extLst>
          </p:spPr>
        </p:pic>
        <p:pic>
          <p:nvPicPr>
            <p:cNvPr id="31753" name="Picture 9" descr="L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884" y="1134"/>
              <a:ext cx="1610" cy="1440"/>
            </a:xfrm>
            <a:prstGeom prst="rect">
              <a:avLst/>
            </a:prstGeom>
            <a:noFill/>
            <a:extLst>
              <a:ext uri="{909E8E84-426E-40DD-AFC4-6F175D3DCCD1}">
                <a14:hiddenFill xmlns:a14="http://schemas.microsoft.com/office/drawing/2010/main">
                  <a:solidFill>
                    <a:srgbClr val="FFFFFF"/>
                  </a:solidFill>
                </a14:hiddenFill>
              </a:ext>
            </a:extLst>
          </p:spPr>
        </p:pic>
        <p:pic>
          <p:nvPicPr>
            <p:cNvPr id="31760" name="Picture 16" descr="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0" y="1088"/>
              <a:ext cx="1590" cy="1440"/>
            </a:xfrm>
            <a:prstGeom prst="rect">
              <a:avLst/>
            </a:prstGeom>
            <a:noFill/>
            <a:extLst>
              <a:ext uri="{909E8E84-426E-40DD-AFC4-6F175D3DCCD1}">
                <a14:hiddenFill xmlns:a14="http://schemas.microsoft.com/office/drawing/2010/main">
                  <a:solidFill>
                    <a:srgbClr val="FFFFFF"/>
                  </a:solidFill>
                </a14:hiddenFill>
              </a:ext>
            </a:extLst>
          </p:spPr>
        </p:pic>
        <p:pic>
          <p:nvPicPr>
            <p:cNvPr id="31761" name="Picture 17" descr="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5" y="2721"/>
              <a:ext cx="1538" cy="120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764" name="Group 20"/>
          <p:cNvGrpSpPr>
            <a:grpSpLocks/>
          </p:cNvGrpSpPr>
          <p:nvPr/>
        </p:nvGrpSpPr>
        <p:grpSpPr bwMode="auto">
          <a:xfrm>
            <a:off x="250825" y="2492375"/>
            <a:ext cx="269875" cy="4249738"/>
            <a:chOff x="158" y="1570"/>
            <a:chExt cx="170" cy="2677"/>
          </a:xfrm>
        </p:grpSpPr>
        <p:sp>
          <p:nvSpPr>
            <p:cNvPr id="31765" name="WordArt 21"/>
            <p:cNvSpPr>
              <a:spLocks noChangeArrowheads="1" noChangeShapeType="1" noTextEdit="1"/>
            </p:cNvSpPr>
            <p:nvPr/>
          </p:nvSpPr>
          <p:spPr bwMode="auto">
            <a:xfrm rot="5400000">
              <a:off x="-392" y="2120"/>
              <a:ext cx="1270" cy="170"/>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Hardware</a:t>
              </a:r>
            </a:p>
          </p:txBody>
        </p:sp>
        <p:pic>
          <p:nvPicPr>
            <p:cNvPr id="31766" name="Picture 22" descr="cable_data_transfer_md_wht"/>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rot="16200000">
              <a:off x="-14" y="3920"/>
              <a:ext cx="499" cy="15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32777" name="Picture 9"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1628775"/>
            <a:ext cx="3529012" cy="1871663"/>
          </a:xfrm>
          <a:prstGeom prst="rect">
            <a:avLst/>
          </a:prstGeom>
          <a:noFill/>
          <a:extLst>
            <a:ext uri="{909E8E84-426E-40DD-AFC4-6F175D3DCCD1}">
              <a14:hiddenFill xmlns:a14="http://schemas.microsoft.com/office/drawing/2010/main">
                <a:solidFill>
                  <a:srgbClr val="FFFFFF"/>
                </a:solidFill>
              </a14:hiddenFill>
            </a:ext>
          </a:extLst>
        </p:spPr>
      </p:pic>
      <p:sp>
        <p:nvSpPr>
          <p:cNvPr id="32771" name="AutoShape 3"/>
          <p:cNvSpPr>
            <a:spLocks noChangeArrowheads="1"/>
          </p:cNvSpPr>
          <p:nvPr/>
        </p:nvSpPr>
        <p:spPr bwMode="auto">
          <a:xfrm>
            <a:off x="1828800" y="1235075"/>
            <a:ext cx="2514600" cy="457200"/>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32772" name="WordArt 4"/>
          <p:cNvSpPr>
            <a:spLocks noChangeArrowheads="1" noChangeShapeType="1" noTextEdit="1"/>
          </p:cNvSpPr>
          <p:nvPr/>
        </p:nvSpPr>
        <p:spPr bwMode="auto">
          <a:xfrm>
            <a:off x="1979613" y="1268413"/>
            <a:ext cx="2286000" cy="304800"/>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Escáner </a:t>
            </a:r>
          </a:p>
        </p:txBody>
      </p:sp>
      <p:sp>
        <p:nvSpPr>
          <p:cNvPr id="32773" name="AutoShape 5"/>
          <p:cNvSpPr>
            <a:spLocks noChangeArrowheads="1"/>
          </p:cNvSpPr>
          <p:nvPr/>
        </p:nvSpPr>
        <p:spPr bwMode="auto">
          <a:xfrm rot="-16200000">
            <a:off x="2813844" y="2018507"/>
            <a:ext cx="515937" cy="457200"/>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pic>
        <p:nvPicPr>
          <p:cNvPr id="32774" name="Picture 6" descr="bulletsmall2"/>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387475"/>
            <a:ext cx="217488" cy="217488"/>
          </a:xfrm>
          <a:prstGeom prst="rect">
            <a:avLst/>
          </a:prstGeom>
          <a:noFill/>
          <a:extLst>
            <a:ext uri="{909E8E84-426E-40DD-AFC4-6F175D3DCCD1}">
              <a14:hiddenFill xmlns:a14="http://schemas.microsoft.com/office/drawing/2010/main">
                <a:solidFill>
                  <a:srgbClr val="FFFFFF"/>
                </a:solidFill>
              </a14:hiddenFill>
            </a:ext>
          </a:extLst>
        </p:spPr>
      </p:pic>
      <p:sp>
        <p:nvSpPr>
          <p:cNvPr id="32781" name="Rectangle 13"/>
          <p:cNvSpPr>
            <a:spLocks noChangeArrowheads="1"/>
          </p:cNvSpPr>
          <p:nvPr/>
        </p:nvSpPr>
        <p:spPr bwMode="auto">
          <a:xfrm>
            <a:off x="2051050" y="3716338"/>
            <a:ext cx="6065838" cy="256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CL" altLang="es-MX" sz="1800" b="1">
                <a:solidFill>
                  <a:srgbClr val="000066"/>
                </a:solidFill>
                <a:latin typeface="Courier New" panose="02070309020205020404" pitchFamily="49" charset="0"/>
              </a:rPr>
              <a:t>  D</a:t>
            </a:r>
            <a:r>
              <a:rPr lang="es-ES" altLang="es-MX" sz="1800" b="1">
                <a:solidFill>
                  <a:srgbClr val="000066"/>
                </a:solidFill>
                <a:latin typeface="Courier New" panose="02070309020205020404" pitchFamily="49" charset="0"/>
              </a:rPr>
              <a:t>ispositivo de entrada para ordenador o computadora que utiliza un haz luminoso para detectar los patrones de luz y oscuridad (o los colores) de la superficie del papel, convirtiendo la imagen en señales digitales que se pueden manipular por medio de un software de tratamiento de imágenes o con reconocimiento óptico de caracteres.</a:t>
            </a:r>
            <a:r>
              <a:rPr lang="es-ES" altLang="es-MX" sz="1800" b="1">
                <a:latin typeface="Courier New" panose="02070309020205020404" pitchFamily="49" charset="0"/>
              </a:rPr>
              <a:t> </a:t>
            </a:r>
          </a:p>
        </p:txBody>
      </p:sp>
      <p:pic>
        <p:nvPicPr>
          <p:cNvPr id="32783" name="Picture 15" descr="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7900" y="1412875"/>
            <a:ext cx="3600450" cy="2001838"/>
          </a:xfrm>
          <a:prstGeom prst="rect">
            <a:avLst/>
          </a:prstGeom>
          <a:noFill/>
          <a:extLst>
            <a:ext uri="{909E8E84-426E-40DD-AFC4-6F175D3DCCD1}">
              <a14:hiddenFill xmlns:a14="http://schemas.microsoft.com/office/drawing/2010/main">
                <a:solidFill>
                  <a:srgbClr val="FFFFFF"/>
                </a:solidFill>
              </a14:hiddenFill>
            </a:ext>
          </a:extLst>
        </p:spPr>
      </p:pic>
      <p:grpSp>
        <p:nvGrpSpPr>
          <p:cNvPr id="32785" name="Group 17"/>
          <p:cNvGrpSpPr>
            <a:grpSpLocks/>
          </p:cNvGrpSpPr>
          <p:nvPr/>
        </p:nvGrpSpPr>
        <p:grpSpPr bwMode="auto">
          <a:xfrm>
            <a:off x="250825" y="2492375"/>
            <a:ext cx="269875" cy="4249738"/>
            <a:chOff x="158" y="1570"/>
            <a:chExt cx="170" cy="2677"/>
          </a:xfrm>
        </p:grpSpPr>
        <p:sp>
          <p:nvSpPr>
            <p:cNvPr id="32786" name="WordArt 18"/>
            <p:cNvSpPr>
              <a:spLocks noChangeArrowheads="1" noChangeShapeType="1" noTextEdit="1"/>
            </p:cNvSpPr>
            <p:nvPr/>
          </p:nvSpPr>
          <p:spPr bwMode="auto">
            <a:xfrm rot="5400000">
              <a:off x="-392" y="2120"/>
              <a:ext cx="1270" cy="170"/>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Hardware</a:t>
              </a:r>
            </a:p>
          </p:txBody>
        </p:sp>
        <p:pic>
          <p:nvPicPr>
            <p:cNvPr id="32787" name="Picture 19" descr="cable_data_transfer_md_wht"/>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14" y="3920"/>
              <a:ext cx="499" cy="15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3795" name="AutoShape 3"/>
          <p:cNvSpPr>
            <a:spLocks noChangeArrowheads="1"/>
          </p:cNvSpPr>
          <p:nvPr/>
        </p:nvSpPr>
        <p:spPr bwMode="auto">
          <a:xfrm>
            <a:off x="1828800" y="1163638"/>
            <a:ext cx="2514600" cy="457200"/>
          </a:xfrm>
          <a:prstGeom prst="roundRect">
            <a:avLst>
              <a:gd name="adj" fmla="val 16667"/>
            </a:avLst>
          </a:prstGeom>
          <a:gradFill rotWithShape="0">
            <a:gsLst>
              <a:gs pos="0">
                <a:srgbClr val="000066"/>
              </a:gs>
              <a:gs pos="50000">
                <a:srgbClr val="FFFFFF"/>
              </a:gs>
              <a:gs pos="100000">
                <a:srgbClr val="000066"/>
              </a:gs>
            </a:gsLst>
            <a:lin ang="5400000" scaled="1"/>
          </a:gradFill>
          <a:ln>
            <a:noFill/>
          </a:ln>
          <a:effectLst>
            <a:outerShdw dist="107763" dir="8100000" algn="ctr" rotWithShape="0">
              <a:srgbClr val="000066"/>
            </a:outerShdw>
          </a:effectLst>
          <a:extLst>
            <a:ext uri="{91240B29-F687-4F45-9708-019B960494DF}">
              <a14:hiddenLine xmlns:a14="http://schemas.microsoft.com/office/drawing/2010/main" w="9525">
                <a:solidFill>
                  <a:srgbClr val="000066"/>
                </a:solidFill>
                <a:round/>
                <a:headEnd/>
                <a:tailEnd/>
              </a14:hiddenLine>
            </a:ext>
          </a:extLst>
        </p:spPr>
        <p:txBody>
          <a:bodyPr wrap="none" anchor="ctr"/>
          <a:lstStyle/>
          <a:p>
            <a:endParaRPr lang="es-MX"/>
          </a:p>
        </p:txBody>
      </p:sp>
      <p:sp>
        <p:nvSpPr>
          <p:cNvPr id="33796" name="WordArt 4"/>
          <p:cNvSpPr>
            <a:spLocks noChangeArrowheads="1" noChangeShapeType="1" noTextEdit="1"/>
          </p:cNvSpPr>
          <p:nvPr/>
        </p:nvSpPr>
        <p:spPr bwMode="auto">
          <a:xfrm>
            <a:off x="1905000" y="1239838"/>
            <a:ext cx="2286000" cy="304800"/>
          </a:xfrm>
          <a:prstGeom prst="rect">
            <a:avLst/>
          </a:prstGeom>
        </p:spPr>
        <p:txBody>
          <a:bodyPr wrap="none" fromWordArt="1">
            <a:prstTxWarp prst="textPlain">
              <a:avLst>
                <a:gd name="adj" fmla="val 50000"/>
              </a:avLst>
            </a:prstTxWarp>
          </a:bodyPr>
          <a:lstStyle/>
          <a:p>
            <a:pPr algn="ctr"/>
            <a:r>
              <a:rPr lang="es-MX" sz="3600" kern="10">
                <a:ln w="9525">
                  <a:solidFill>
                    <a:srgbClr val="000066"/>
                  </a:solidFill>
                  <a:round/>
                  <a:headEnd/>
                  <a:tailEnd/>
                </a:ln>
                <a:solidFill>
                  <a:srgbClr val="000066"/>
                </a:solidFill>
                <a:effectLst>
                  <a:outerShdw dist="45791" dir="2021404" algn="ctr" rotWithShape="0">
                    <a:srgbClr val="C0C0C0"/>
                  </a:outerShdw>
                </a:effectLst>
                <a:latin typeface="Courier New" panose="02070309020205020404" pitchFamily="49" charset="0"/>
                <a:cs typeface="Courier New" panose="02070309020205020404" pitchFamily="49" charset="0"/>
              </a:rPr>
              <a:t>Cámara Digital</a:t>
            </a:r>
          </a:p>
        </p:txBody>
      </p:sp>
      <p:sp>
        <p:nvSpPr>
          <p:cNvPr id="33797" name="AutoShape 5"/>
          <p:cNvSpPr>
            <a:spLocks noChangeArrowheads="1"/>
          </p:cNvSpPr>
          <p:nvPr/>
        </p:nvSpPr>
        <p:spPr bwMode="auto">
          <a:xfrm flipV="1">
            <a:off x="4572000" y="1316038"/>
            <a:ext cx="609600" cy="457200"/>
          </a:xfrm>
          <a:custGeom>
            <a:avLst/>
            <a:gdLst>
              <a:gd name="G0" fmla="+- 9900 0 0"/>
              <a:gd name="G1" fmla="+- 18514 0 0"/>
              <a:gd name="G2" fmla="+- 7200 0 0"/>
              <a:gd name="G3" fmla="*/ 9900 1 2"/>
              <a:gd name="G4" fmla="+- G3 10800 0"/>
              <a:gd name="G5" fmla="+- 21600 9900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750 w 21600"/>
              <a:gd name="T1" fmla="*/ 0 h 21600"/>
              <a:gd name="T2" fmla="*/ 9900 w 21600"/>
              <a:gd name="T3" fmla="*/ 7200 h 21600"/>
              <a:gd name="T4" fmla="*/ 0 w 21600"/>
              <a:gd name="T5" fmla="*/ 1837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50" y="0"/>
                </a:moveTo>
                <a:lnTo>
                  <a:pt x="9900" y="7200"/>
                </a:lnTo>
                <a:lnTo>
                  <a:pt x="12986" y="7200"/>
                </a:lnTo>
                <a:lnTo>
                  <a:pt x="12986" y="15151"/>
                </a:lnTo>
                <a:lnTo>
                  <a:pt x="0" y="15151"/>
                </a:lnTo>
                <a:lnTo>
                  <a:pt x="0" y="21600"/>
                </a:lnTo>
                <a:lnTo>
                  <a:pt x="18514" y="21600"/>
                </a:lnTo>
                <a:lnTo>
                  <a:pt x="18514" y="7200"/>
                </a:lnTo>
                <a:lnTo>
                  <a:pt x="21600" y="7200"/>
                </a:lnTo>
                <a:close/>
              </a:path>
            </a:pathLst>
          </a:custGeom>
          <a:gradFill rotWithShape="0">
            <a:gsLst>
              <a:gs pos="0">
                <a:schemeClr val="bg1"/>
              </a:gs>
              <a:gs pos="100000">
                <a:srgbClr val="00006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pic>
        <p:nvPicPr>
          <p:cNvPr id="33798" name="Picture 6" descr="bulletsmall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339850"/>
            <a:ext cx="217488" cy="217488"/>
          </a:xfrm>
          <a:prstGeom prst="rect">
            <a:avLst/>
          </a:prstGeom>
          <a:noFill/>
          <a:extLst>
            <a:ext uri="{909E8E84-426E-40DD-AFC4-6F175D3DCCD1}">
              <a14:hiddenFill xmlns:a14="http://schemas.microsoft.com/office/drawing/2010/main">
                <a:solidFill>
                  <a:srgbClr val="FFFFFF"/>
                </a:solidFill>
              </a14:hiddenFill>
            </a:ext>
          </a:extLst>
        </p:spPr>
      </p:pic>
      <p:sp>
        <p:nvSpPr>
          <p:cNvPr id="33804" name="Text Box 12"/>
          <p:cNvSpPr txBox="1">
            <a:spLocks noChangeArrowheads="1"/>
          </p:cNvSpPr>
          <p:nvPr/>
        </p:nvSpPr>
        <p:spPr bwMode="auto">
          <a:xfrm>
            <a:off x="1784350" y="1874838"/>
            <a:ext cx="4371975" cy="529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MX" sz="1700" b="1">
                <a:solidFill>
                  <a:srgbClr val="000066"/>
                </a:solidFill>
                <a:latin typeface="Courier New" panose="02070309020205020404" pitchFamily="49" charset="0"/>
              </a:rPr>
              <a:t>Es una cámara fotográfica normal, pero con muchas ventajas. Entre ellas destacan la mejor calidad de imagen y la posibilidad de almacenar en una memoria una cantidad de imágenes semejante a la que cabe en un carrete. </a:t>
            </a:r>
            <a:endParaRPr lang="es-CL" altLang="es-MX" sz="1700" b="1">
              <a:solidFill>
                <a:srgbClr val="000066"/>
              </a:solidFill>
              <a:latin typeface="Courier New" panose="02070309020205020404" pitchFamily="49" charset="0"/>
            </a:endParaRPr>
          </a:p>
          <a:p>
            <a:r>
              <a:rPr lang="es-ES" altLang="es-MX" sz="1700" b="1">
                <a:solidFill>
                  <a:srgbClr val="000066"/>
                </a:solidFill>
                <a:latin typeface="Courier New" panose="02070309020205020404" pitchFamily="49" charset="0"/>
              </a:rPr>
              <a:t>Posteriormente, las fotos pueden pasarse al ordenador, de este modo, se evita el costo de carretes y revelados. Una vez en el ordenador las posibilidades de retoque de la imagen es infinito: elegir el encuadre, cambiar de color, utilizar diferentes filtros, etc. </a:t>
            </a:r>
            <a:br>
              <a:rPr lang="es-ES" altLang="es-MX" sz="1700" b="1">
                <a:solidFill>
                  <a:srgbClr val="000066"/>
                </a:solidFill>
                <a:latin typeface="Courier New" panose="02070309020205020404" pitchFamily="49" charset="0"/>
              </a:rPr>
            </a:br>
            <a:endParaRPr lang="es-ES" altLang="es-MX" sz="1700" b="1">
              <a:solidFill>
                <a:srgbClr val="000066"/>
              </a:solidFill>
              <a:latin typeface="Courier New" panose="02070309020205020404" pitchFamily="49" charset="0"/>
            </a:endParaRPr>
          </a:p>
          <a:p>
            <a:endParaRPr lang="es-ES" altLang="es-MX" sz="1800" b="1">
              <a:solidFill>
                <a:srgbClr val="000066"/>
              </a:solidFill>
              <a:latin typeface="Courier New" panose="02070309020205020404" pitchFamily="49" charset="0"/>
            </a:endParaRPr>
          </a:p>
          <a:p>
            <a:endParaRPr lang="es-ES" altLang="es-MX" sz="1800" b="1">
              <a:solidFill>
                <a:srgbClr val="000066"/>
              </a:solidFill>
              <a:latin typeface="Courier New" panose="02070309020205020404" pitchFamily="49" charset="0"/>
            </a:endParaRPr>
          </a:p>
        </p:txBody>
      </p:sp>
      <p:grpSp>
        <p:nvGrpSpPr>
          <p:cNvPr id="33810" name="Group 18"/>
          <p:cNvGrpSpPr>
            <a:grpSpLocks/>
          </p:cNvGrpSpPr>
          <p:nvPr/>
        </p:nvGrpSpPr>
        <p:grpSpPr bwMode="auto">
          <a:xfrm>
            <a:off x="6470650" y="1268413"/>
            <a:ext cx="2217738" cy="4824412"/>
            <a:chOff x="3840" y="144"/>
            <a:chExt cx="1920" cy="3830"/>
          </a:xfrm>
        </p:grpSpPr>
        <p:pic>
          <p:nvPicPr>
            <p:cNvPr id="33805" name="Picture 13" descr="L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984" y="2256"/>
              <a:ext cx="1248" cy="1536"/>
            </a:xfrm>
            <a:prstGeom prst="rect">
              <a:avLst/>
            </a:prstGeom>
            <a:noFill/>
            <a:extLst>
              <a:ext uri="{909E8E84-426E-40DD-AFC4-6F175D3DCCD1}">
                <a14:hiddenFill xmlns:a14="http://schemas.microsoft.com/office/drawing/2010/main">
                  <a:solidFill>
                    <a:srgbClr val="FFFFFF"/>
                  </a:solidFill>
                </a14:hiddenFill>
              </a:ext>
            </a:extLst>
          </p:spPr>
        </p:pic>
        <p:pic>
          <p:nvPicPr>
            <p:cNvPr id="33803" name="Picture 11" descr="L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840" y="144"/>
              <a:ext cx="1344" cy="1104"/>
            </a:xfrm>
            <a:prstGeom prst="rect">
              <a:avLst/>
            </a:prstGeom>
            <a:noFill/>
            <a:extLst>
              <a:ext uri="{909E8E84-426E-40DD-AFC4-6F175D3DCCD1}">
                <a14:hiddenFill xmlns:a14="http://schemas.microsoft.com/office/drawing/2010/main">
                  <a:solidFill>
                    <a:srgbClr val="FFFFFF"/>
                  </a:solidFill>
                </a14:hiddenFill>
              </a:ext>
            </a:extLst>
          </p:spPr>
        </p:pic>
        <p:pic>
          <p:nvPicPr>
            <p:cNvPr id="33802" name="Picture 10" descr="L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224" y="1488"/>
              <a:ext cx="1536" cy="960"/>
            </a:xfrm>
            <a:prstGeom prst="rect">
              <a:avLst/>
            </a:prstGeom>
            <a:noFill/>
            <a:extLst>
              <a:ext uri="{909E8E84-426E-40DD-AFC4-6F175D3DCCD1}">
                <a14:hiddenFill xmlns:a14="http://schemas.microsoft.com/office/drawing/2010/main">
                  <a:solidFill>
                    <a:srgbClr val="FFFFFF"/>
                  </a:solidFill>
                </a14:hiddenFill>
              </a:ext>
            </a:extLst>
          </p:spPr>
        </p:pic>
        <p:pic>
          <p:nvPicPr>
            <p:cNvPr id="33809" name="Picture 17" descr="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3" y="210"/>
              <a:ext cx="1543" cy="1299"/>
            </a:xfrm>
            <a:prstGeom prst="rect">
              <a:avLst/>
            </a:prstGeom>
            <a:noFill/>
            <a:extLst>
              <a:ext uri="{909E8E84-426E-40DD-AFC4-6F175D3DCCD1}">
                <a14:hiddenFill xmlns:a14="http://schemas.microsoft.com/office/drawing/2010/main">
                  <a:solidFill>
                    <a:srgbClr val="FFFFFF"/>
                  </a:solidFill>
                </a14:hiddenFill>
              </a:ext>
            </a:extLst>
          </p:spPr>
        </p:pic>
        <p:pic>
          <p:nvPicPr>
            <p:cNvPr id="33808" name="Picture 16" descr="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6" y="1402"/>
              <a:ext cx="1474" cy="1013"/>
            </a:xfrm>
            <a:prstGeom prst="rect">
              <a:avLst/>
            </a:prstGeom>
            <a:noFill/>
            <a:extLst>
              <a:ext uri="{909E8E84-426E-40DD-AFC4-6F175D3DCCD1}">
                <a14:hiddenFill xmlns:a14="http://schemas.microsoft.com/office/drawing/2010/main">
                  <a:solidFill>
                    <a:srgbClr val="FFFFFF"/>
                  </a:solidFill>
                </a14:hiddenFill>
              </a:ext>
            </a:extLst>
          </p:spPr>
        </p:pic>
        <p:pic>
          <p:nvPicPr>
            <p:cNvPr id="33807" name="Picture 15" descr="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59" y="2341"/>
              <a:ext cx="1372" cy="163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3812" name="Group 20"/>
          <p:cNvGrpSpPr>
            <a:grpSpLocks/>
          </p:cNvGrpSpPr>
          <p:nvPr/>
        </p:nvGrpSpPr>
        <p:grpSpPr bwMode="auto">
          <a:xfrm>
            <a:off x="250825" y="2492375"/>
            <a:ext cx="269875" cy="4249738"/>
            <a:chOff x="158" y="1570"/>
            <a:chExt cx="170" cy="2677"/>
          </a:xfrm>
        </p:grpSpPr>
        <p:sp>
          <p:nvSpPr>
            <p:cNvPr id="33813" name="WordArt 21"/>
            <p:cNvSpPr>
              <a:spLocks noChangeArrowheads="1" noChangeShapeType="1" noTextEdit="1"/>
            </p:cNvSpPr>
            <p:nvPr/>
          </p:nvSpPr>
          <p:spPr bwMode="auto">
            <a:xfrm rot="5400000">
              <a:off x="-392" y="2120"/>
              <a:ext cx="1270" cy="170"/>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Hardware</a:t>
              </a:r>
            </a:p>
          </p:txBody>
        </p:sp>
        <p:pic>
          <p:nvPicPr>
            <p:cNvPr id="33814" name="Picture 22" descr="cable_data_transfer_md_wht"/>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rot="16200000">
              <a:off x="-14" y="3920"/>
              <a:ext cx="499" cy="15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122" name="WordArt 2"/>
          <p:cNvSpPr>
            <a:spLocks noChangeArrowheads="1" noChangeShapeType="1" noTextEdit="1"/>
          </p:cNvSpPr>
          <p:nvPr/>
        </p:nvSpPr>
        <p:spPr bwMode="auto">
          <a:xfrm rot="5400000">
            <a:off x="-1261268" y="3933031"/>
            <a:ext cx="3313112" cy="288925"/>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Sistema Operativo</a:t>
            </a:r>
          </a:p>
        </p:txBody>
      </p:sp>
      <p:sp>
        <p:nvSpPr>
          <p:cNvPr id="5123" name="Text Box 3"/>
          <p:cNvSpPr txBox="1">
            <a:spLocks noChangeArrowheads="1"/>
          </p:cNvSpPr>
          <p:nvPr/>
        </p:nvSpPr>
        <p:spPr bwMode="auto">
          <a:xfrm>
            <a:off x="1752600" y="2895600"/>
            <a:ext cx="6705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MX" altLang="es-MX" sz="1800" b="1">
              <a:solidFill>
                <a:srgbClr val="000066"/>
              </a:solidFill>
              <a:latin typeface="Courier New" panose="02070309020205020404" pitchFamily="49" charset="0"/>
            </a:endParaRPr>
          </a:p>
        </p:txBody>
      </p:sp>
      <p:sp>
        <p:nvSpPr>
          <p:cNvPr id="5126" name="Rectangle 6"/>
          <p:cNvSpPr>
            <a:spLocks noChangeArrowheads="1"/>
          </p:cNvSpPr>
          <p:nvPr/>
        </p:nvSpPr>
        <p:spPr bwMode="auto">
          <a:xfrm>
            <a:off x="1692275" y="3573463"/>
            <a:ext cx="7162800"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CL" altLang="es-MX" sz="1800" b="1">
                <a:solidFill>
                  <a:srgbClr val="000066"/>
                </a:solidFill>
                <a:latin typeface="Courier New" panose="02070309020205020404" pitchFamily="49" charset="0"/>
              </a:rPr>
              <a:t>Software básico que controla una computadora. El sistema operativo tiene tres grandes funciones: coordina y manipula el hardware del ordenador o computadora, como la memoria, las impresoras, las unidades de disco, el teclado o el Mouse; organiza los archivos en diversos dispositivos de almacenamiento, como discos flexibles, discos duros, discos compactos o cintas magnéticas, y gestiona los errores de hardware y la pérdida de datos.</a:t>
            </a:r>
            <a:endParaRPr lang="es-ES" altLang="es-MX" sz="1800" b="1">
              <a:solidFill>
                <a:srgbClr val="000066"/>
              </a:solidFill>
              <a:latin typeface="Courier New" panose="02070309020205020404" pitchFamily="49" charset="0"/>
            </a:endParaRPr>
          </a:p>
        </p:txBody>
      </p:sp>
      <p:pic>
        <p:nvPicPr>
          <p:cNvPr id="5128" name="Picture 8"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1196975"/>
            <a:ext cx="3816350" cy="2155825"/>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5130" name="Picture 10" descr="cable_data_transfer_md_wht"/>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098" name="WordArt 2"/>
          <p:cNvSpPr>
            <a:spLocks noChangeArrowheads="1" noChangeShapeType="1" noTextEdit="1"/>
          </p:cNvSpPr>
          <p:nvPr/>
        </p:nvSpPr>
        <p:spPr bwMode="auto">
          <a:xfrm rot="5400000">
            <a:off x="-612775" y="3284538"/>
            <a:ext cx="1944687" cy="217488"/>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MS-DOS</a:t>
            </a:r>
          </a:p>
        </p:txBody>
      </p:sp>
      <p:sp>
        <p:nvSpPr>
          <p:cNvPr id="4100" name="Text Box 4"/>
          <p:cNvSpPr txBox="1">
            <a:spLocks noChangeArrowheads="1"/>
          </p:cNvSpPr>
          <p:nvPr/>
        </p:nvSpPr>
        <p:spPr bwMode="auto">
          <a:xfrm>
            <a:off x="4773613" y="2924175"/>
            <a:ext cx="4191000" cy="349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MX" sz="1400" b="1">
                <a:solidFill>
                  <a:srgbClr val="000066"/>
                </a:solidFill>
                <a:latin typeface="Courier New" panose="02070309020205020404" pitchFamily="49" charset="0"/>
              </a:rPr>
              <a:t>La historia comienza en 1981, con la compra por parte de Microsoft, de un sistema operativo llamado QDOS, que tras realizar unas pocas modificaciones, se convierte en la primera versión del sistema operativo de Microsoft MS-DOS 1.0 (MicroSoft Disk Operating System) </a:t>
            </a:r>
            <a:br>
              <a:rPr lang="es-ES" altLang="es-MX" sz="1400" b="1">
                <a:solidFill>
                  <a:srgbClr val="000066"/>
                </a:solidFill>
                <a:latin typeface="Courier New" panose="02070309020205020404" pitchFamily="49" charset="0"/>
              </a:rPr>
            </a:br>
            <a:br>
              <a:rPr lang="es-ES" altLang="es-MX" sz="1400" b="1">
                <a:solidFill>
                  <a:srgbClr val="000066"/>
                </a:solidFill>
                <a:latin typeface="Courier New" panose="02070309020205020404" pitchFamily="49" charset="0"/>
              </a:rPr>
            </a:br>
            <a:r>
              <a:rPr lang="es-ES" altLang="es-MX" sz="1400" b="1">
                <a:solidFill>
                  <a:srgbClr val="000066"/>
                </a:solidFill>
                <a:latin typeface="Courier New" panose="02070309020205020404" pitchFamily="49" charset="0"/>
              </a:rPr>
              <a:t>A partir de aquí, se suceden una serie de modificaciones del sistema operativo, hasta llegar a la versión 7.1, a partir de la cual MS-DOS deja de existir como tal y se convierte en una parte integrada del sistema operativo Windows.</a:t>
            </a:r>
            <a:endParaRPr lang="es-ES" altLang="es-MX" sz="1800" b="1">
              <a:solidFill>
                <a:srgbClr val="000066"/>
              </a:solidFill>
              <a:latin typeface="Courier New" panose="02070309020205020404" pitchFamily="49" charset="0"/>
            </a:endParaRPr>
          </a:p>
        </p:txBody>
      </p:sp>
      <p:sp>
        <p:nvSpPr>
          <p:cNvPr id="4102" name="WordArt 6"/>
          <p:cNvSpPr>
            <a:spLocks noChangeArrowheads="1" noChangeShapeType="1" noTextEdit="1"/>
          </p:cNvSpPr>
          <p:nvPr/>
        </p:nvSpPr>
        <p:spPr bwMode="auto">
          <a:xfrm>
            <a:off x="6934200" y="1828800"/>
            <a:ext cx="1219200" cy="176213"/>
          </a:xfrm>
          <a:prstGeom prst="rect">
            <a:avLst/>
          </a:prstGeom>
        </p:spPr>
        <p:txBody>
          <a:bodyPr wrap="none" fromWordArt="1">
            <a:prstTxWarp prst="textPlain">
              <a:avLst>
                <a:gd name="adj" fmla="val 50000"/>
              </a:avLst>
            </a:prstTxWarp>
          </a:bodyPr>
          <a:lstStyle/>
          <a:p>
            <a:pPr algn="ctr"/>
            <a:r>
              <a:rPr lang="es-MX" sz="3600" kern="10" spc="720">
                <a:ln w="9525">
                  <a:solidFill>
                    <a:schemeClr val="bg1"/>
                  </a:solidFill>
                  <a:round/>
                  <a:headEnd/>
                  <a:tailEnd/>
                </a:ln>
                <a:gradFill rotWithShape="0">
                  <a:gsLst>
                    <a:gs pos="0">
                      <a:srgbClr val="AAAAAA"/>
                    </a:gs>
                    <a:gs pos="100000">
                      <a:srgbClr val="FFFFFF"/>
                    </a:gs>
                  </a:gsLst>
                  <a:lin ang="5400000" scaled="1"/>
                </a:gradFill>
                <a:effectLst>
                  <a:outerShdw dist="45791" dir="3378596" algn="ctr" rotWithShape="0">
                    <a:srgbClr val="4D4D4D"/>
                  </a:outerShdw>
                </a:effectLst>
                <a:latin typeface="Courier New" panose="02070309020205020404" pitchFamily="49" charset="0"/>
                <a:cs typeface="Courier New" panose="02070309020205020404" pitchFamily="49" charset="0"/>
              </a:rPr>
              <a:t>MS-DOS</a:t>
            </a:r>
          </a:p>
        </p:txBody>
      </p:sp>
      <p:sp>
        <p:nvSpPr>
          <p:cNvPr id="4104" name="Text Box 8"/>
          <p:cNvSpPr txBox="1">
            <a:spLocks noChangeArrowheads="1"/>
          </p:cNvSpPr>
          <p:nvPr/>
        </p:nvSpPr>
        <p:spPr bwMode="auto">
          <a:xfrm>
            <a:off x="1547813" y="1052513"/>
            <a:ext cx="3276600"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ltLang="es-MX" sz="1400" b="1">
              <a:solidFill>
                <a:srgbClr val="000066"/>
              </a:solidFill>
              <a:latin typeface="Courier New" panose="02070309020205020404" pitchFamily="49" charset="0"/>
            </a:endParaRPr>
          </a:p>
          <a:p>
            <a:r>
              <a:rPr lang="es-CL" altLang="es-MX" sz="1400" b="1">
                <a:solidFill>
                  <a:srgbClr val="000066"/>
                </a:solidFill>
                <a:latin typeface="Courier New" panose="02070309020205020404" pitchFamily="49" charset="0"/>
              </a:rPr>
              <a:t> </a:t>
            </a:r>
            <a:r>
              <a:rPr lang="es-ES" altLang="es-MX" sz="1400" b="1">
                <a:solidFill>
                  <a:srgbClr val="000066"/>
                </a:solidFill>
                <a:latin typeface="Courier New" panose="02070309020205020404" pitchFamily="49" charset="0"/>
              </a:rPr>
              <a:t>Como otros sistemas operativos, el MS-DOS supervisa las operaciones </a:t>
            </a:r>
            <a:r>
              <a:rPr lang="es-CL" altLang="es-MX" sz="1400" b="1">
                <a:solidFill>
                  <a:srgbClr val="000066"/>
                </a:solidFill>
                <a:latin typeface="Courier New" panose="02070309020205020404" pitchFamily="49" charset="0"/>
              </a:rPr>
              <a:t>antes descritas</a:t>
            </a:r>
            <a:r>
              <a:rPr lang="es-ES" altLang="es-MX" sz="1400" b="1">
                <a:solidFill>
                  <a:srgbClr val="000066"/>
                </a:solidFill>
                <a:latin typeface="Courier New" panose="02070309020205020404" pitchFamily="49" charset="0"/>
              </a:rPr>
              <a:t>. El MS-DOS es un sistema operativo monotarea y monousuario con una interfaz de línea de comandos.</a:t>
            </a:r>
          </a:p>
          <a:p>
            <a:endParaRPr lang="es-ES" altLang="es-MX" sz="1400" b="1">
              <a:solidFill>
                <a:srgbClr val="000066"/>
              </a:solidFill>
              <a:latin typeface="Courier New" panose="02070309020205020404" pitchFamily="49" charset="0"/>
            </a:endParaRPr>
          </a:p>
        </p:txBody>
      </p:sp>
      <p:pic>
        <p:nvPicPr>
          <p:cNvPr id="4106" name="Picture 10"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3500438"/>
            <a:ext cx="2760663" cy="1946275"/>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4107" name="Picture 11"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5238" y="1112838"/>
            <a:ext cx="3529012" cy="1741487"/>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4109" name="Picture 13" descr="cable_data_transfer_md_wh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82" name="WordArt 10"/>
          <p:cNvSpPr>
            <a:spLocks noChangeArrowheads="1" noChangeShapeType="1" noTextEdit="1"/>
          </p:cNvSpPr>
          <p:nvPr/>
        </p:nvSpPr>
        <p:spPr bwMode="auto">
          <a:xfrm rot="5400000">
            <a:off x="-865187" y="3536950"/>
            <a:ext cx="2520950" cy="288925"/>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WINDOWS</a:t>
            </a:r>
          </a:p>
        </p:txBody>
      </p:sp>
      <p:sp>
        <p:nvSpPr>
          <p:cNvPr id="3084" name="Rectangle 12"/>
          <p:cNvSpPr>
            <a:spLocks noChangeArrowheads="1"/>
          </p:cNvSpPr>
          <p:nvPr/>
        </p:nvSpPr>
        <p:spPr bwMode="auto">
          <a:xfrm>
            <a:off x="1600200" y="1881188"/>
            <a:ext cx="3962400" cy="195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endParaRPr lang="es-MX" altLang="es-MX" sz="1800"/>
          </a:p>
        </p:txBody>
      </p:sp>
      <p:sp>
        <p:nvSpPr>
          <p:cNvPr id="3089" name="Text Box 17"/>
          <p:cNvSpPr txBox="1">
            <a:spLocks noChangeArrowheads="1"/>
          </p:cNvSpPr>
          <p:nvPr/>
        </p:nvSpPr>
        <p:spPr bwMode="auto">
          <a:xfrm>
            <a:off x="1763713" y="1119188"/>
            <a:ext cx="4408487"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CL" altLang="es-MX" sz="2000" b="1">
                <a:solidFill>
                  <a:srgbClr val="000066"/>
                </a:solidFill>
                <a:latin typeface="Courier New" panose="02070309020205020404" pitchFamily="49" charset="0"/>
              </a:rPr>
              <a:t>   N</a:t>
            </a:r>
            <a:r>
              <a:rPr lang="es-ES" altLang="es-MX" sz="2000" b="1">
                <a:solidFill>
                  <a:srgbClr val="000066"/>
                </a:solidFill>
                <a:latin typeface="Courier New" panose="02070309020205020404" pitchFamily="49" charset="0"/>
              </a:rPr>
              <a:t>ombre común o coloquial de Microsoft Windows, un entorno multitarea dotado de una interfaz gráfica de usuario, que se ejecuta en computadoras diseñadas para MS-DOS. Windows proporciona una interfaz estándar basada en menús desplegables, ventanas en pantalla y un dispositivo señalador como el mouse (ratón). Los programas deben estar especialmente diseñados para aprovechar estas características.</a:t>
            </a:r>
          </a:p>
        </p:txBody>
      </p:sp>
      <p:pic>
        <p:nvPicPr>
          <p:cNvPr id="3090" name="Picture 18"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125" y="4367213"/>
            <a:ext cx="1798638" cy="1798637"/>
          </a:xfrm>
          <a:prstGeom prst="rect">
            <a:avLst/>
          </a:prstGeom>
          <a:noFill/>
          <a:ln w="9525">
            <a:solidFill>
              <a:srgbClr val="0000FF"/>
            </a:solidFill>
            <a:miter lim="800000"/>
            <a:headEnd/>
            <a:tailEnd/>
          </a:ln>
          <a:effectLst>
            <a:outerShdw dist="107763" dir="13500000" algn="ctr" rotWithShape="0">
              <a:srgbClr val="000066"/>
            </a:outerShdw>
          </a:effectLst>
          <a:extLst>
            <a:ext uri="{909E8E84-426E-40DD-AFC4-6F175D3DCCD1}">
              <a14:hiddenFill xmlns:a14="http://schemas.microsoft.com/office/drawing/2010/main">
                <a:solidFill>
                  <a:srgbClr val="FFFFFF"/>
                </a:solidFill>
              </a14:hiddenFill>
            </a:ext>
          </a:extLst>
        </p:spPr>
      </p:pic>
      <p:pic>
        <p:nvPicPr>
          <p:cNvPr id="3091" name="Picture 19"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6688" y="1414463"/>
            <a:ext cx="1833562" cy="2232025"/>
          </a:xfrm>
          <a:prstGeom prst="rect">
            <a:avLst/>
          </a:prstGeom>
          <a:noFill/>
          <a:ln w="9525">
            <a:solidFill>
              <a:srgbClr val="0000FF"/>
            </a:solidFill>
            <a:miter lim="800000"/>
            <a:headEnd/>
            <a:tailEnd/>
          </a:ln>
          <a:effectLst>
            <a:outerShdw dist="107763" dir="2700000" algn="ctr" rotWithShape="0">
              <a:srgbClr val="000066"/>
            </a:outerShdw>
          </a:effectLst>
          <a:extLst>
            <a:ext uri="{909E8E84-426E-40DD-AFC4-6F175D3DCCD1}">
              <a14:hiddenFill xmlns:a14="http://schemas.microsoft.com/office/drawing/2010/main">
                <a:solidFill>
                  <a:srgbClr val="FFFFFF"/>
                </a:solidFill>
              </a14:hiddenFill>
            </a:ext>
          </a:extLst>
        </p:spPr>
      </p:pic>
      <p:pic>
        <p:nvPicPr>
          <p:cNvPr id="3093" name="Picture 21" descr="cable_data_transfer_md_wht"/>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1988" name="WordArt 4"/>
          <p:cNvSpPr>
            <a:spLocks noChangeArrowheads="1" noChangeShapeType="1" noTextEdit="1"/>
          </p:cNvSpPr>
          <p:nvPr/>
        </p:nvSpPr>
        <p:spPr bwMode="auto">
          <a:xfrm rot="5400000">
            <a:off x="-469106" y="3212306"/>
            <a:ext cx="1657350" cy="217488"/>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LINUX</a:t>
            </a:r>
          </a:p>
        </p:txBody>
      </p:sp>
      <p:grpSp>
        <p:nvGrpSpPr>
          <p:cNvPr id="41999" name="Group 15"/>
          <p:cNvGrpSpPr>
            <a:grpSpLocks/>
          </p:cNvGrpSpPr>
          <p:nvPr/>
        </p:nvGrpSpPr>
        <p:grpSpPr bwMode="auto">
          <a:xfrm>
            <a:off x="6732588" y="1341438"/>
            <a:ext cx="2051050" cy="4895850"/>
            <a:chOff x="4241" y="618"/>
            <a:chExt cx="1406" cy="3356"/>
          </a:xfrm>
        </p:grpSpPr>
        <p:pic>
          <p:nvPicPr>
            <p:cNvPr id="41992" name="Picture 8"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241" y="618"/>
              <a:ext cx="1224" cy="1134"/>
            </a:xfrm>
            <a:prstGeom prst="rect">
              <a:avLst/>
            </a:prstGeom>
            <a:noFill/>
            <a:extLst>
              <a:ext uri="{909E8E84-426E-40DD-AFC4-6F175D3DCCD1}">
                <a14:hiddenFill xmlns:a14="http://schemas.microsoft.com/office/drawing/2010/main">
                  <a:solidFill>
                    <a:srgbClr val="FFFFFF"/>
                  </a:solidFill>
                </a14:hiddenFill>
              </a:ext>
            </a:extLst>
          </p:spPr>
        </p:pic>
        <p:pic>
          <p:nvPicPr>
            <p:cNvPr id="41991" name="Picture 7" descr="L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242" y="1934"/>
              <a:ext cx="1360" cy="1950"/>
            </a:xfrm>
            <a:prstGeom prst="rect">
              <a:avLst/>
            </a:prstGeom>
            <a:noFill/>
            <a:extLst>
              <a:ext uri="{909E8E84-426E-40DD-AFC4-6F175D3DCCD1}">
                <a14:hiddenFill xmlns:a14="http://schemas.microsoft.com/office/drawing/2010/main">
                  <a:solidFill>
                    <a:srgbClr val="FFFFFF"/>
                  </a:solidFill>
                </a14:hiddenFill>
              </a:ext>
            </a:extLst>
          </p:spPr>
        </p:pic>
        <p:pic>
          <p:nvPicPr>
            <p:cNvPr id="41989" name="Picture 5"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 y="654"/>
              <a:ext cx="1256" cy="1143"/>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41990" name="Picture 6" descr="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9" y="1992"/>
              <a:ext cx="1348" cy="1982"/>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grpSp>
      <p:sp>
        <p:nvSpPr>
          <p:cNvPr id="41997" name="Rectangle 13"/>
          <p:cNvSpPr>
            <a:spLocks noChangeArrowheads="1"/>
          </p:cNvSpPr>
          <p:nvPr/>
        </p:nvSpPr>
        <p:spPr bwMode="auto">
          <a:xfrm>
            <a:off x="1547813" y="1412875"/>
            <a:ext cx="5184775" cy="467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s-ES" altLang="es-MX" sz="1500" b="1">
                <a:solidFill>
                  <a:srgbClr val="000066"/>
                </a:solidFill>
                <a:latin typeface="Courier New" panose="02070309020205020404" pitchFamily="49" charset="0"/>
              </a:rPr>
              <a:t>LINUX es un </a:t>
            </a:r>
            <a:r>
              <a:rPr lang="es-ES" altLang="es-MX" sz="1500" b="1" i="1">
                <a:solidFill>
                  <a:srgbClr val="000066"/>
                </a:solidFill>
                <a:latin typeface="Courier New" panose="02070309020205020404" pitchFamily="49" charset="0"/>
              </a:rPr>
              <a:t>sistema operativo</a:t>
            </a:r>
            <a:r>
              <a:rPr lang="es-ES" altLang="es-MX" sz="1500" b="1">
                <a:solidFill>
                  <a:srgbClr val="000066"/>
                </a:solidFill>
                <a:latin typeface="Courier New" panose="02070309020205020404" pitchFamily="49" charset="0"/>
              </a:rPr>
              <a:t>, compatible Unix. Dos características muy peculiares lo diferencian del resto de los sistemas que podemos encontrar en el mercado, la primera, es que es </a:t>
            </a:r>
            <a:r>
              <a:rPr lang="es-ES" altLang="es-MX" sz="1500" b="1" i="1">
                <a:solidFill>
                  <a:srgbClr val="000066"/>
                </a:solidFill>
                <a:latin typeface="Courier New" panose="02070309020205020404" pitchFamily="49" charset="0"/>
              </a:rPr>
              <a:t>libre</a:t>
            </a:r>
            <a:r>
              <a:rPr lang="es-ES" altLang="es-MX" sz="1500" b="1">
                <a:solidFill>
                  <a:srgbClr val="000066"/>
                </a:solidFill>
                <a:latin typeface="Courier New" panose="02070309020205020404" pitchFamily="49" charset="0"/>
              </a:rPr>
              <a:t>, esto significa que no tenemos que pagar ningún tipo de licencia a ninguna casa desarrolladora de software por el uso del mismo, la segunda, es que el sistema viene acompañado del </a:t>
            </a:r>
            <a:r>
              <a:rPr lang="es-ES" altLang="es-MX" sz="1500" b="1" i="1">
                <a:solidFill>
                  <a:srgbClr val="000066"/>
                </a:solidFill>
                <a:latin typeface="Courier New" panose="02070309020205020404" pitchFamily="49" charset="0"/>
              </a:rPr>
              <a:t>código fuente</a:t>
            </a:r>
            <a:r>
              <a:rPr lang="es-ES" altLang="es-MX" sz="1500" b="1">
                <a:solidFill>
                  <a:srgbClr val="000066"/>
                </a:solidFill>
                <a:latin typeface="Courier New" panose="02070309020205020404" pitchFamily="49" charset="0"/>
              </a:rPr>
              <a:t>. El sistema lo forman el núcleo del sistema (kernel) más un gran numero de programas / librerías que hacen posible su utilización. El sistema ha sido diseñado y programado por multitud de programadores alrededor del mundo. El núcleo del sistema sigue en continuo desarrollo bajo la coordinación de </a:t>
            </a:r>
            <a:r>
              <a:rPr lang="es-ES" altLang="es-MX" sz="1500" b="1" i="1">
                <a:solidFill>
                  <a:srgbClr val="000066"/>
                </a:solidFill>
                <a:latin typeface="Courier New" panose="02070309020205020404" pitchFamily="49" charset="0"/>
              </a:rPr>
              <a:t>Linus Torvalds</a:t>
            </a:r>
            <a:r>
              <a:rPr lang="es-ES" altLang="es-MX" sz="1500" b="1">
                <a:solidFill>
                  <a:srgbClr val="000066"/>
                </a:solidFill>
                <a:latin typeface="Courier New" panose="02070309020205020404" pitchFamily="49" charset="0"/>
              </a:rPr>
              <a:t>, la persona  de la que partió la idea de este proyecto, a principios de la década de los noventa.</a:t>
            </a:r>
            <a:r>
              <a:rPr lang="es-ES" altLang="es-MX" sz="1600">
                <a:solidFill>
                  <a:srgbClr val="000066"/>
                </a:solidFill>
                <a:latin typeface="Courier New" panose="02070309020205020404" pitchFamily="49" charset="0"/>
              </a:rPr>
              <a:t>  </a:t>
            </a:r>
          </a:p>
        </p:txBody>
      </p:sp>
      <p:pic>
        <p:nvPicPr>
          <p:cNvPr id="42000" name="Picture 16" descr="cable_data_transfer_md_wht"/>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0964" name="Rectangle 4"/>
          <p:cNvSpPr>
            <a:spLocks noChangeArrowheads="1"/>
          </p:cNvSpPr>
          <p:nvPr/>
        </p:nvSpPr>
        <p:spPr bwMode="auto">
          <a:xfrm>
            <a:off x="1692275" y="1900238"/>
            <a:ext cx="6480175" cy="3113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Tx/>
              <a:buChar char="•"/>
            </a:pPr>
            <a:r>
              <a:rPr lang="es-ES" altLang="es-MX" sz="1800" b="1">
                <a:solidFill>
                  <a:srgbClr val="000066"/>
                </a:solidFill>
                <a:effectLst>
                  <a:outerShdw blurRad="38100" dist="38100" dir="2700000" algn="tl">
                    <a:srgbClr val="C0C0C0"/>
                  </a:outerShdw>
                </a:effectLst>
                <a:latin typeface="Courier New" panose="02070309020205020404" pitchFamily="49" charset="0"/>
              </a:rPr>
              <a:t>Encarta 2003.</a:t>
            </a:r>
          </a:p>
          <a:p>
            <a:pPr>
              <a:buFontTx/>
              <a:buChar char="•"/>
            </a:pPr>
            <a:endParaRPr lang="es-ES" altLang="es-MX" sz="1800" b="1">
              <a:solidFill>
                <a:srgbClr val="000066"/>
              </a:solidFill>
              <a:effectLst>
                <a:outerShdw blurRad="38100" dist="38100" dir="2700000" algn="tl">
                  <a:srgbClr val="C0C0C0"/>
                </a:outerShdw>
              </a:effectLst>
              <a:latin typeface="Courier New" panose="02070309020205020404" pitchFamily="49" charset="0"/>
            </a:endParaRPr>
          </a:p>
          <a:p>
            <a:pPr>
              <a:buFontTx/>
              <a:buChar char="•"/>
            </a:pPr>
            <a:r>
              <a:rPr lang="es-ES" altLang="es-MX" sz="1800" b="1">
                <a:solidFill>
                  <a:srgbClr val="000066"/>
                </a:solidFill>
                <a:effectLst>
                  <a:outerShdw blurRad="38100" dist="38100" dir="2700000" algn="tl">
                    <a:srgbClr val="C0C0C0"/>
                  </a:outerShdw>
                </a:effectLst>
                <a:latin typeface="Courier New" panose="02070309020205020404" pitchFamily="49" charset="0"/>
              </a:rPr>
              <a:t>http://www.burgos.educa.jcyl.es/upe/w/web/Faq-SIGIE-BU.html#Qué%20es%20un%20Pendrive</a:t>
            </a:r>
          </a:p>
          <a:p>
            <a:endParaRPr lang="es-ES" altLang="es-MX" sz="1800" b="1">
              <a:solidFill>
                <a:srgbClr val="000066"/>
              </a:solidFill>
              <a:effectLst>
                <a:outerShdw blurRad="38100" dist="38100" dir="2700000" algn="tl">
                  <a:srgbClr val="C0C0C0"/>
                </a:outerShdw>
              </a:effectLst>
              <a:latin typeface="Courier New" panose="02070309020205020404" pitchFamily="49" charset="0"/>
            </a:endParaRPr>
          </a:p>
          <a:p>
            <a:pPr>
              <a:buFontTx/>
              <a:buChar char="•"/>
            </a:pPr>
            <a:r>
              <a:rPr lang="es-ES" altLang="es-MX" sz="1800" b="1">
                <a:solidFill>
                  <a:srgbClr val="000066"/>
                </a:solidFill>
                <a:effectLst>
                  <a:outerShdw blurRad="38100" dist="38100" dir="2700000" algn="tl">
                    <a:srgbClr val="C0C0C0"/>
                  </a:outerShdw>
                </a:effectLst>
                <a:latin typeface="Courier New" panose="02070309020205020404" pitchFamily="49" charset="0"/>
              </a:rPr>
              <a:t>http://www.linux-es.org/</a:t>
            </a:r>
          </a:p>
          <a:p>
            <a:pPr>
              <a:buFontTx/>
              <a:buChar char="•"/>
            </a:pPr>
            <a:endParaRPr lang="es-ES" altLang="es-MX" sz="1800" b="1">
              <a:solidFill>
                <a:srgbClr val="000066"/>
              </a:solidFill>
              <a:effectLst>
                <a:outerShdw blurRad="38100" dist="38100" dir="2700000" algn="tl">
                  <a:srgbClr val="C0C0C0"/>
                </a:outerShdw>
              </a:effectLst>
              <a:latin typeface="Courier New" panose="02070309020205020404" pitchFamily="49" charset="0"/>
            </a:endParaRPr>
          </a:p>
          <a:p>
            <a:pPr>
              <a:buFontTx/>
              <a:buChar char="•"/>
            </a:pPr>
            <a:r>
              <a:rPr lang="es-ES" altLang="es-MX" sz="1800" b="1">
                <a:solidFill>
                  <a:srgbClr val="000066"/>
                </a:solidFill>
                <a:effectLst>
                  <a:outerShdw blurRad="38100" dist="38100" dir="2700000" algn="tl">
                    <a:srgbClr val="C0C0C0"/>
                  </a:outerShdw>
                </a:effectLst>
                <a:latin typeface="Courier New" panose="02070309020205020404" pitchFamily="49" charset="0"/>
              </a:rPr>
              <a:t>http://www.eduteka.org/glosario.php3?id=02</a:t>
            </a:r>
          </a:p>
          <a:p>
            <a:pPr>
              <a:buFontTx/>
              <a:buChar char="•"/>
            </a:pPr>
            <a:endParaRPr lang="es-ES" altLang="es-MX" sz="1800" b="1">
              <a:solidFill>
                <a:srgbClr val="000066"/>
              </a:solidFill>
              <a:effectLst>
                <a:outerShdw blurRad="38100" dist="38100" dir="2700000" algn="tl">
                  <a:srgbClr val="C0C0C0"/>
                </a:outerShdw>
              </a:effectLst>
              <a:latin typeface="Courier New" panose="02070309020205020404" pitchFamily="49" charset="0"/>
            </a:endParaRPr>
          </a:p>
          <a:p>
            <a:pPr>
              <a:buFontTx/>
              <a:buChar char="•"/>
            </a:pPr>
            <a:r>
              <a:rPr lang="es-ES" altLang="es-MX" sz="1800" b="1">
                <a:solidFill>
                  <a:srgbClr val="000066"/>
                </a:solidFill>
                <a:effectLst>
                  <a:outerShdw blurRad="38100" dist="38100" dir="2700000" algn="tl">
                    <a:srgbClr val="C0C0C0"/>
                  </a:outerShdw>
                </a:effectLst>
                <a:latin typeface="Courier New" panose="02070309020205020404" pitchFamily="49" charset="0"/>
              </a:rPr>
              <a:t>http://www.virtual.unal.edu.co/cursos/sedes/fundamentacion/uv00008/lecciones/computador.htm</a:t>
            </a:r>
          </a:p>
        </p:txBody>
      </p:sp>
      <p:sp>
        <p:nvSpPr>
          <p:cNvPr id="40965" name="WordArt 5"/>
          <p:cNvSpPr>
            <a:spLocks noChangeArrowheads="1" noChangeShapeType="1" noTextEdit="1"/>
          </p:cNvSpPr>
          <p:nvPr/>
        </p:nvSpPr>
        <p:spPr bwMode="auto">
          <a:xfrm rot="5400000">
            <a:off x="-468312" y="3140075"/>
            <a:ext cx="1655762" cy="217488"/>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bodyPr>
          <a:lstStyle/>
          <a:p>
            <a:pPr algn="ctr" fontAlgn="auto"/>
            <a:r>
              <a:rPr lang="es-MX" sz="3600" kern="10">
                <a:ln w="9525">
                  <a:solidFill>
                    <a:schemeClr val="bg1"/>
                  </a:solidFill>
                  <a:round/>
                  <a:headEnd/>
                  <a:tailEnd/>
                </a:ln>
                <a:latin typeface="Arial Rounded MT Bold" panose="020F0704030504030204" pitchFamily="34" charset="0"/>
              </a:rPr>
              <a:t>FUENTES</a:t>
            </a:r>
          </a:p>
        </p:txBody>
      </p:sp>
      <p:pic>
        <p:nvPicPr>
          <p:cNvPr id="40967" name="Picture 7" descr="cable_data_transfer_md_wht"/>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21432" y="6222207"/>
            <a:ext cx="792163" cy="24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Diseño predeterminado">
  <a:themeElements>
    <a:clrScheme name="Diseño predeterminado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iseño predeterminado">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iseño predeterminado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iseño predeterminado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iseño predeterminado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1128</TotalTime>
  <Words>1396</Words>
  <Application>Microsoft Office PowerPoint</Application>
  <PresentationFormat>Presentación en pantalla (4:3)</PresentationFormat>
  <Paragraphs>132</Paragraphs>
  <Slides>27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27</vt:i4>
      </vt:variant>
    </vt:vector>
  </HeadingPairs>
  <TitlesOfParts>
    <vt:vector size="31" baseType="lpstr">
      <vt:lpstr>Times New Roman</vt:lpstr>
      <vt:lpstr>Courier New</vt:lpstr>
      <vt:lpstr>Verdana</vt:lpstr>
      <vt:lpstr>Diseño predeterminado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Boston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profesores</dc:creator>
  <cp:lastModifiedBy>Jose Alfonso Cuevas Bacab</cp:lastModifiedBy>
  <cp:revision>139</cp:revision>
  <dcterms:created xsi:type="dcterms:W3CDTF">2004-05-10T13:02:56Z</dcterms:created>
  <dcterms:modified xsi:type="dcterms:W3CDTF">2016-09-15T00:14:01Z</dcterms:modified>
</cp:coreProperties>
</file>