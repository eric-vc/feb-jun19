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62" r:id="rId5"/>
    <p:sldId id="265" r:id="rId6"/>
    <p:sldId id="264" r:id="rId7"/>
    <p:sldId id="266" r:id="rId8"/>
    <p:sldId id="267" r:id="rId9"/>
    <p:sldId id="268" r:id="rId10"/>
    <p:sldId id="258" r:id="rId11"/>
    <p:sldId id="259" r:id="rId12"/>
    <p:sldId id="269" r:id="rId13"/>
    <p:sldId id="270" r:id="rId14"/>
    <p:sldId id="271" r:id="rId15"/>
    <p:sldId id="272" r:id="rId1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2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7A847CFC-816F-41D0-AAC0-9BF4FEBC753E}" type="datetimeFigureOut">
              <a:rPr lang="es-ES" smtClean="0"/>
              <a:pPr/>
              <a:t>24/05/2012</a:t>
            </a:fld>
            <a:endParaRPr lang="es-ES"/>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ES"/>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7A847CFC-816F-41D0-AAC0-9BF4FEBC753E}" type="datetimeFigureOut">
              <a:rPr lang="es-ES" smtClean="0"/>
              <a:pPr/>
              <a:t>24/05/2012</a:t>
            </a:fld>
            <a:endParaRPr lang="es-ES"/>
          </a:p>
        </p:txBody>
      </p:sp>
      <p:sp>
        <p:nvSpPr>
          <p:cNvPr id="9" name="8 Marcador de número de diapositiva"/>
          <p:cNvSpPr>
            <a:spLocks noGrp="1"/>
          </p:cNvSpPr>
          <p:nvPr>
            <p:ph type="sldNum" sz="quarter" idx="15"/>
          </p:nvPr>
        </p:nvSpPr>
        <p:spPr/>
        <p:txBody>
          <a:bodyPr rtlCol="0"/>
          <a:lstStyle/>
          <a:p>
            <a:fld id="{132FADFE-3B8F-471C-ABF0-DBC7717ECBBC}" type="slidenum">
              <a:rPr lang="es-ES" smtClean="0"/>
              <a:pPr/>
              <a:t>‹Nº›</a:t>
            </a:fld>
            <a:endParaRPr lang="es-ES"/>
          </a:p>
        </p:txBody>
      </p:sp>
      <p:sp>
        <p:nvSpPr>
          <p:cNvPr id="10" name="9 Marcador de pie de página"/>
          <p:cNvSpPr>
            <a:spLocks noGrp="1"/>
          </p:cNvSpPr>
          <p:nvPr>
            <p:ph type="ftr" sz="quarter" idx="16"/>
          </p:nvPr>
        </p:nvSpPr>
        <p:spPr/>
        <p:txBody>
          <a:bodyPr rtlCol="0"/>
          <a:lstStyle/>
          <a:p>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7A847CFC-816F-41D0-AAC0-9BF4FEBC753E}" type="datetimeFigureOut">
              <a:rPr lang="es-ES" smtClean="0"/>
              <a:pPr/>
              <a:t>24/05/2012</a:t>
            </a:fld>
            <a:endParaRPr lang="es-ES"/>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ES"/>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132FADFE-3B8F-471C-ABF0-DBC7717ECBBC}" type="slidenum">
              <a:rPr lang="es-ES" smtClean="0"/>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24/05/2012</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7A847CFC-816F-41D0-AAC0-9BF4FEBC753E}" type="datetimeFigureOut">
              <a:rPr lang="es-ES" smtClean="0"/>
              <a:pPr/>
              <a:t>24/05/2012</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7A847CFC-816F-41D0-AAC0-9BF4FEBC753E}" type="datetimeFigureOut">
              <a:rPr lang="es-ES" smtClean="0"/>
              <a:pPr/>
              <a:t>24/05/2012</a:t>
            </a:fld>
            <a:endParaRPr lang="es-ES"/>
          </a:p>
        </p:txBody>
      </p:sp>
      <p:sp>
        <p:nvSpPr>
          <p:cNvPr id="7" name="6 Marcador de número de diapositiva"/>
          <p:cNvSpPr>
            <a:spLocks noGrp="1"/>
          </p:cNvSpPr>
          <p:nvPr>
            <p:ph type="sldNum" sz="quarter" idx="11"/>
          </p:nvPr>
        </p:nvSpPr>
        <p:spPr/>
        <p:txBody>
          <a:bodyPr rtlCol="0"/>
          <a:lstStyle/>
          <a:p>
            <a:fld id="{132FADFE-3B8F-471C-ABF0-DBC7717ECBBC}" type="slidenum">
              <a:rPr lang="es-ES" smtClean="0"/>
              <a:pPr/>
              <a:t>‹Nº›</a:t>
            </a:fld>
            <a:endParaRPr lang="es-ES"/>
          </a:p>
        </p:txBody>
      </p:sp>
      <p:sp>
        <p:nvSpPr>
          <p:cNvPr id="8" name="7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24/05/2012</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7A847CFC-816F-41D0-AAC0-9BF4FEBC753E}" type="datetimeFigureOut">
              <a:rPr lang="es-ES" smtClean="0"/>
              <a:pPr/>
              <a:t>24/05/2012</a:t>
            </a:fld>
            <a:endParaRPr lang="es-ES"/>
          </a:p>
        </p:txBody>
      </p:sp>
      <p:sp>
        <p:nvSpPr>
          <p:cNvPr id="22" name="21 Marcador de número de diapositiva"/>
          <p:cNvSpPr>
            <a:spLocks noGrp="1"/>
          </p:cNvSpPr>
          <p:nvPr>
            <p:ph type="sldNum" sz="quarter" idx="15"/>
          </p:nvPr>
        </p:nvSpPr>
        <p:spPr/>
        <p:txBody>
          <a:bodyPr rtlCol="0"/>
          <a:lstStyle/>
          <a:p>
            <a:fld id="{132FADFE-3B8F-471C-ABF0-DBC7717ECBBC}" type="slidenum">
              <a:rPr lang="es-ES" smtClean="0"/>
              <a:pPr/>
              <a:t>‹Nº›</a:t>
            </a:fld>
            <a:endParaRPr lang="es-ES"/>
          </a:p>
        </p:txBody>
      </p:sp>
      <p:sp>
        <p:nvSpPr>
          <p:cNvPr id="23" name="22 Marcador de pie de página"/>
          <p:cNvSpPr>
            <a:spLocks noGrp="1"/>
          </p:cNvSpPr>
          <p:nvPr>
            <p:ph type="ftr" sz="quarter" idx="16"/>
          </p:nvPr>
        </p:nvSpPr>
        <p:spPr/>
        <p:txBody>
          <a:bodyPr rtlCol="0"/>
          <a:lstStyle/>
          <a:p>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7A847CFC-816F-41D0-AAC0-9BF4FEBC753E}" type="datetimeFigureOut">
              <a:rPr lang="es-ES" smtClean="0"/>
              <a:pPr/>
              <a:t>24/05/2012</a:t>
            </a:fld>
            <a:endParaRPr lang="es-ES"/>
          </a:p>
        </p:txBody>
      </p:sp>
      <p:sp>
        <p:nvSpPr>
          <p:cNvPr id="18" name="17 Marcador de número de diapositiva"/>
          <p:cNvSpPr>
            <a:spLocks noGrp="1"/>
          </p:cNvSpPr>
          <p:nvPr>
            <p:ph type="sldNum" sz="quarter" idx="11"/>
          </p:nvPr>
        </p:nvSpPr>
        <p:spPr/>
        <p:txBody>
          <a:bodyPr rtlCol="0"/>
          <a:lstStyle/>
          <a:p>
            <a:fld id="{132FADFE-3B8F-471C-ABF0-DBC7717ECBBC}" type="slidenum">
              <a:rPr lang="es-ES" smtClean="0"/>
              <a:pPr/>
              <a:t>‹Nº›</a:t>
            </a:fld>
            <a:endParaRPr lang="es-ES"/>
          </a:p>
        </p:txBody>
      </p:sp>
      <p:sp>
        <p:nvSpPr>
          <p:cNvPr id="21" name="20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24/05/2012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24/05/2012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A847CFC-816F-41D0-AAC0-9BF4FEBC753E}" type="datetimeFigureOut">
              <a:rPr lang="es-ES" smtClean="0"/>
              <a:pPr/>
              <a:t>24/05/2012</a:t>
            </a:fld>
            <a:endParaRPr lang="es-ES"/>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ES"/>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286000" y="4143380"/>
            <a:ext cx="6643718" cy="1500198"/>
          </a:xfrm>
        </p:spPr>
        <p:txBody>
          <a:bodyPr>
            <a:normAutofit/>
          </a:bodyPr>
          <a:lstStyle/>
          <a:p>
            <a:r>
              <a:rPr lang="es-PE" dirty="0" smtClean="0">
                <a:solidFill>
                  <a:schemeClr val="accent2">
                    <a:lumMod val="75000"/>
                  </a:schemeClr>
                </a:solidFill>
              </a:rPr>
              <a:t>Las tecnologías de la Información y La </a:t>
            </a:r>
            <a:r>
              <a:rPr lang="es-PE" dirty="0" smtClean="0">
                <a:solidFill>
                  <a:schemeClr val="accent2">
                    <a:lumMod val="75000"/>
                  </a:schemeClr>
                </a:solidFill>
              </a:rPr>
              <a:t>Comunicación	</a:t>
            </a:r>
            <a:endParaRPr lang="es-PE" dirty="0">
              <a:solidFill>
                <a:schemeClr val="accent2">
                  <a:lumMod val="75000"/>
                </a:schemeClr>
              </a:solidFill>
            </a:endParaRPr>
          </a:p>
        </p:txBody>
      </p:sp>
      <p:sp>
        <p:nvSpPr>
          <p:cNvPr id="3" name="2 Subtítulo"/>
          <p:cNvSpPr>
            <a:spLocks noGrp="1"/>
          </p:cNvSpPr>
          <p:nvPr>
            <p:ph type="subTitle" idx="1"/>
          </p:nvPr>
        </p:nvSpPr>
        <p:spPr>
          <a:xfrm>
            <a:off x="2285984" y="5072074"/>
            <a:ext cx="6172200" cy="1371600"/>
          </a:xfrm>
        </p:spPr>
        <p:txBody>
          <a:bodyPr/>
          <a:lstStyle/>
          <a:p>
            <a:r>
              <a:rPr lang="es-PE" dirty="0" smtClean="0">
                <a:solidFill>
                  <a:schemeClr val="tx1"/>
                </a:solidFill>
              </a:rPr>
              <a:t>Lic. Guido </a:t>
            </a:r>
            <a:r>
              <a:rPr lang="es-PE" dirty="0" smtClean="0">
                <a:solidFill>
                  <a:schemeClr val="tx1"/>
                </a:solidFill>
              </a:rPr>
              <a:t>Peláez</a:t>
            </a:r>
            <a:endParaRPr lang="es-PE"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solidFill>
                  <a:srgbClr val="FF0000"/>
                </a:solidFill>
              </a:rPr>
              <a:t>Tecnologías</a:t>
            </a:r>
            <a:endParaRPr lang="es-PE" dirty="0">
              <a:solidFill>
                <a:srgbClr val="FF0000"/>
              </a:solidFill>
            </a:endParaRPr>
          </a:p>
        </p:txBody>
      </p:sp>
      <p:sp>
        <p:nvSpPr>
          <p:cNvPr id="3" name="2 Marcador de contenido"/>
          <p:cNvSpPr>
            <a:spLocks noGrp="1"/>
          </p:cNvSpPr>
          <p:nvPr>
            <p:ph sz="quarter" idx="1"/>
          </p:nvPr>
        </p:nvSpPr>
        <p:spPr/>
        <p:txBody>
          <a:bodyPr>
            <a:normAutofit lnSpcReduction="10000"/>
          </a:bodyPr>
          <a:lstStyle/>
          <a:p>
            <a:r>
              <a:rPr lang="es-PE" dirty="0" smtClean="0">
                <a:solidFill>
                  <a:schemeClr val="accent2">
                    <a:lumMod val="75000"/>
                  </a:schemeClr>
                </a:solidFill>
              </a:rPr>
              <a:t>Tecnología de la Comunicación</a:t>
            </a:r>
          </a:p>
          <a:p>
            <a:pPr>
              <a:buNone/>
            </a:pPr>
            <a:r>
              <a:rPr lang="es-PE" dirty="0" smtClean="0"/>
              <a:t>	Permite agrupar herramientas tecnológicas como la transmisión, el tiempo, y la conectividad.</a:t>
            </a:r>
          </a:p>
          <a:p>
            <a:r>
              <a:rPr lang="es-PE" dirty="0" smtClean="0">
                <a:solidFill>
                  <a:schemeClr val="accent2">
                    <a:lumMod val="75000"/>
                  </a:schemeClr>
                </a:solidFill>
              </a:rPr>
              <a:t>Tecnología de la Información</a:t>
            </a:r>
          </a:p>
          <a:p>
            <a:pPr>
              <a:buNone/>
            </a:pPr>
            <a:r>
              <a:rPr lang="es-PE" dirty="0" smtClean="0"/>
              <a:t>	Es el manejo de los datos tecnológicos, compuesto de hardware y software</a:t>
            </a:r>
          </a:p>
          <a:p>
            <a:r>
              <a:rPr lang="es-PE" dirty="0" smtClean="0">
                <a:solidFill>
                  <a:schemeClr val="accent2">
                    <a:lumMod val="75000"/>
                  </a:schemeClr>
                </a:solidFill>
              </a:rPr>
              <a:t>Tecnología de la Información y la comunicación</a:t>
            </a:r>
          </a:p>
          <a:p>
            <a:pPr>
              <a:buNone/>
            </a:pPr>
            <a:r>
              <a:rPr lang="es-PE" dirty="0" smtClean="0"/>
              <a:t>	Es el resultado de estas dos tecnologías.</a:t>
            </a:r>
          </a:p>
          <a:p>
            <a:pPr>
              <a:buNone/>
            </a:pPr>
            <a:r>
              <a:rPr lang="es-PE" dirty="0" smtClean="0"/>
              <a:t>	Según la </a:t>
            </a:r>
            <a:r>
              <a:rPr lang="es-PE" dirty="0" err="1" smtClean="0"/>
              <a:t>Information</a:t>
            </a:r>
            <a:r>
              <a:rPr lang="es-PE" dirty="0" smtClean="0"/>
              <a:t> </a:t>
            </a:r>
            <a:r>
              <a:rPr lang="es-PE" dirty="0" err="1" smtClean="0"/>
              <a:t>Technology</a:t>
            </a:r>
            <a:r>
              <a:rPr lang="es-PE" dirty="0" smtClean="0"/>
              <a:t> </a:t>
            </a:r>
            <a:r>
              <a:rPr lang="es-PE" dirty="0" err="1" smtClean="0"/>
              <a:t>Association</a:t>
            </a:r>
            <a:r>
              <a:rPr lang="es-PE" dirty="0" smtClean="0"/>
              <a:t> of </a:t>
            </a:r>
            <a:r>
              <a:rPr lang="es-PE" dirty="0" err="1" smtClean="0"/>
              <a:t>America</a:t>
            </a:r>
            <a:r>
              <a:rPr lang="es-PE" dirty="0" smtClean="0"/>
              <a:t> es: “El estudio, el diseño, el desarrollo, el fomento, el </a:t>
            </a:r>
            <a:r>
              <a:rPr lang="es-PE" dirty="0" err="1" smtClean="0"/>
              <a:t>matenimiento</a:t>
            </a:r>
            <a:r>
              <a:rPr lang="es-PE" dirty="0" smtClean="0"/>
              <a:t> y la administración de la información por medio de sistemas informáticos”</a:t>
            </a:r>
          </a:p>
          <a:p>
            <a:pPr>
              <a:buNone/>
            </a:pPr>
            <a:endParaRPr lang="es-PE"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solidFill>
                  <a:srgbClr val="FF0000"/>
                </a:solidFill>
                <a:latin typeface="Arial" pitchFamily="34" charset="0"/>
                <a:cs typeface="Arial" pitchFamily="34" charset="0"/>
              </a:rPr>
              <a:t>¿Qué son las </a:t>
            </a:r>
            <a:r>
              <a:rPr lang="es-PE" dirty="0" err="1" smtClean="0">
                <a:solidFill>
                  <a:srgbClr val="FF0000"/>
                </a:solidFill>
                <a:latin typeface="Arial" pitchFamily="34" charset="0"/>
                <a:cs typeface="Arial" pitchFamily="34" charset="0"/>
              </a:rPr>
              <a:t>TIC’s</a:t>
            </a:r>
            <a:r>
              <a:rPr lang="es-PE" dirty="0" smtClean="0">
                <a:solidFill>
                  <a:srgbClr val="FF0000"/>
                </a:solidFill>
                <a:latin typeface="Arial" pitchFamily="34" charset="0"/>
                <a:cs typeface="Arial" pitchFamily="34" charset="0"/>
              </a:rPr>
              <a:t>? </a:t>
            </a:r>
            <a:r>
              <a:rPr lang="es-PE" dirty="0" smtClean="0"/>
              <a:t/>
            </a:r>
            <a:br>
              <a:rPr lang="es-PE" dirty="0" smtClean="0"/>
            </a:br>
            <a:endParaRPr lang="es-PE" dirty="0"/>
          </a:p>
        </p:txBody>
      </p:sp>
      <p:sp>
        <p:nvSpPr>
          <p:cNvPr id="3" name="2 Marcador de contenido"/>
          <p:cNvSpPr>
            <a:spLocks noGrp="1"/>
          </p:cNvSpPr>
          <p:nvPr>
            <p:ph sz="quarter" idx="1"/>
          </p:nvPr>
        </p:nvSpPr>
        <p:spPr>
          <a:xfrm>
            <a:off x="571472" y="1142984"/>
            <a:ext cx="7467600" cy="5143536"/>
          </a:xfrm>
        </p:spPr>
        <p:txBody>
          <a:bodyPr>
            <a:normAutofit/>
          </a:bodyPr>
          <a:lstStyle/>
          <a:p>
            <a:pPr algn="just"/>
            <a:r>
              <a:rPr lang="es-PE" dirty="0" smtClean="0">
                <a:latin typeface="Arial" pitchFamily="34" charset="0"/>
                <a:cs typeface="Arial" pitchFamily="34" charset="0"/>
              </a:rPr>
              <a:t>Son tecnologías de la información y de comunicaciones, constan de equipos de programas informáticos y medios de comunicación para reunir, almacenar, procesar, transmitir y presentar información en cualquier formato es decir voz, datos, textos e imágenes.</a:t>
            </a:r>
          </a:p>
          <a:p>
            <a:pPr algn="just"/>
            <a:endParaRPr lang="es-PE" dirty="0" smtClean="0">
              <a:latin typeface="Arial" pitchFamily="34" charset="0"/>
              <a:cs typeface="Arial" pitchFamily="34" charset="0"/>
            </a:endParaRPr>
          </a:p>
          <a:p>
            <a:pPr algn="just"/>
            <a:r>
              <a:rPr lang="es-PE" dirty="0" smtClean="0">
                <a:latin typeface="Arial" pitchFamily="34" charset="0"/>
                <a:cs typeface="Arial" pitchFamily="34" charset="0"/>
              </a:rPr>
              <a:t>Las TIC son aquellas tecnologías que permiten transmitir, procesar y difundir información de manera instantánea. Son consideradas la base para reducir la Brecha Digital sobre la que se tiene que construir una Sociedad de la Información y una Economía del Conocimiento.</a:t>
            </a:r>
            <a:endParaRPr lang="es-PE"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solidFill>
                  <a:srgbClr val="FF0000"/>
                </a:solidFill>
              </a:rPr>
              <a:t>TIC</a:t>
            </a:r>
            <a:endParaRPr lang="es-CR" dirty="0">
              <a:solidFill>
                <a:srgbClr val="FF0000"/>
              </a:solidFill>
            </a:endParaRPr>
          </a:p>
        </p:txBody>
      </p:sp>
      <p:sp>
        <p:nvSpPr>
          <p:cNvPr id="3" name="2 Marcador de contenido"/>
          <p:cNvSpPr>
            <a:spLocks noGrp="1"/>
          </p:cNvSpPr>
          <p:nvPr>
            <p:ph idx="1"/>
          </p:nvPr>
        </p:nvSpPr>
        <p:spPr/>
        <p:txBody>
          <a:bodyPr/>
          <a:lstStyle/>
          <a:p>
            <a:pPr algn="just"/>
            <a:r>
              <a:rPr lang="es-CR" dirty="0" smtClean="0">
                <a:latin typeface="Arial" pitchFamily="34" charset="0"/>
                <a:cs typeface="Arial" pitchFamily="34" charset="0"/>
              </a:rPr>
              <a:t>Tecnología de la información y la comunicación.</a:t>
            </a:r>
          </a:p>
          <a:p>
            <a:pPr algn="just"/>
            <a:r>
              <a:rPr lang="es-CR" dirty="0" smtClean="0">
                <a:latin typeface="Arial" pitchFamily="34" charset="0"/>
                <a:cs typeface="Arial" pitchFamily="34" charset="0"/>
              </a:rPr>
              <a:t>Son elementos y técnicas usados para la trasmisión  de las informaciones , principalmente  de informática , internet, y telecomunicaciones</a:t>
            </a:r>
            <a:r>
              <a:rPr lang="es-CR" dirty="0" smtClean="0"/>
              <a:t>.</a:t>
            </a:r>
          </a:p>
          <a:p>
            <a:pPr algn="just"/>
            <a:r>
              <a:rPr lang="es-ES" dirty="0" smtClean="0">
                <a:latin typeface="Arial" pitchFamily="34" charset="0"/>
                <a:cs typeface="Arial" pitchFamily="34" charset="0"/>
              </a:rPr>
              <a:t>Técnicas usadas para conseguir, recibir, adquirir, procesar, guardar y diseminar información numérica, textual, pictórica, audible, visible (multimedia) a través de accesorios o dispositivos basados en combinación de la microelectrónica, la computación y las telecomunicaciones</a:t>
            </a:r>
            <a:endParaRPr lang="es-CR" dirty="0" smtClean="0">
              <a:latin typeface="Arial" pitchFamily="34" charset="0"/>
              <a:cs typeface="Arial" pitchFamily="34" charset="0"/>
            </a:endParaRPr>
          </a:p>
          <a:p>
            <a:pPr algn="just"/>
            <a:endParaRPr lang="es-CR" dirty="0" smtClean="0"/>
          </a:p>
          <a:p>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solidFill>
                  <a:srgbClr val="FF0000"/>
                </a:solidFill>
              </a:rPr>
              <a:t>Las redes</a:t>
            </a:r>
            <a:endParaRPr lang="es-CR" dirty="0">
              <a:solidFill>
                <a:srgbClr val="FF0000"/>
              </a:solidFill>
            </a:endParaRPr>
          </a:p>
        </p:txBody>
      </p:sp>
      <p:sp>
        <p:nvSpPr>
          <p:cNvPr id="3" name="2 Marcador de contenido"/>
          <p:cNvSpPr>
            <a:spLocks noGrp="1"/>
          </p:cNvSpPr>
          <p:nvPr>
            <p:ph idx="1"/>
          </p:nvPr>
        </p:nvSpPr>
        <p:spPr/>
        <p:txBody>
          <a:bodyPr/>
          <a:lstStyle/>
          <a:p>
            <a:r>
              <a:rPr lang="es-CR" dirty="0" smtClean="0">
                <a:latin typeface="Arial" pitchFamily="34" charset="0"/>
                <a:cs typeface="Arial" pitchFamily="34" charset="0"/>
              </a:rPr>
              <a:t>Telefonía fija</a:t>
            </a:r>
          </a:p>
          <a:p>
            <a:r>
              <a:rPr lang="es-CR" dirty="0" smtClean="0">
                <a:latin typeface="Arial" pitchFamily="34" charset="0"/>
                <a:cs typeface="Arial" pitchFamily="34" charset="0"/>
              </a:rPr>
              <a:t>Banda ancha</a:t>
            </a:r>
          </a:p>
          <a:p>
            <a:r>
              <a:rPr lang="es-CR" dirty="0" smtClean="0">
                <a:latin typeface="Arial" pitchFamily="34" charset="0"/>
                <a:cs typeface="Arial" pitchFamily="34" charset="0"/>
              </a:rPr>
              <a:t>telefonía móvil</a:t>
            </a:r>
          </a:p>
          <a:p>
            <a:r>
              <a:rPr lang="es-CR" dirty="0" smtClean="0">
                <a:latin typeface="Arial" pitchFamily="34" charset="0"/>
                <a:cs typeface="Arial" pitchFamily="34" charset="0"/>
              </a:rPr>
              <a:t>Redes de televisión</a:t>
            </a:r>
          </a:p>
          <a:p>
            <a:r>
              <a:rPr lang="es-CR" dirty="0" smtClean="0">
                <a:latin typeface="Arial" pitchFamily="34" charset="0"/>
                <a:cs typeface="Arial" pitchFamily="34" charset="0"/>
              </a:rPr>
              <a:t>Redes en el hogar</a:t>
            </a:r>
          </a:p>
          <a:p>
            <a:endParaRPr lang="es-CR" dirty="0" smtClean="0"/>
          </a:p>
          <a:p>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solidFill>
                  <a:srgbClr val="FF0000"/>
                </a:solidFill>
              </a:rPr>
              <a:t>Las tecnologías</a:t>
            </a:r>
            <a:r>
              <a:rPr lang="es-CR" dirty="0" smtClean="0"/>
              <a:t>.</a:t>
            </a:r>
            <a:endParaRPr lang="es-CR" dirty="0"/>
          </a:p>
        </p:txBody>
      </p:sp>
      <p:sp>
        <p:nvSpPr>
          <p:cNvPr id="3" name="2 Marcador de contenido"/>
          <p:cNvSpPr>
            <a:spLocks noGrp="1"/>
          </p:cNvSpPr>
          <p:nvPr>
            <p:ph idx="1"/>
          </p:nvPr>
        </p:nvSpPr>
        <p:spPr/>
        <p:txBody>
          <a:bodyPr/>
          <a:lstStyle/>
          <a:p>
            <a:r>
              <a:rPr lang="es-ES" dirty="0" smtClean="0">
                <a:latin typeface="Arial" pitchFamily="34" charset="0"/>
                <a:cs typeface="Arial" pitchFamily="34" charset="0"/>
              </a:rPr>
              <a:t>Se puede reagrupar las TIC según:</a:t>
            </a:r>
          </a:p>
          <a:p>
            <a:r>
              <a:rPr lang="es-ES" dirty="0" smtClean="0">
                <a:latin typeface="Arial" pitchFamily="34" charset="0"/>
                <a:cs typeface="Arial" pitchFamily="34" charset="0"/>
              </a:rPr>
              <a:t>Las redes.</a:t>
            </a:r>
          </a:p>
          <a:p>
            <a:r>
              <a:rPr lang="es-ES" dirty="0" smtClean="0">
                <a:latin typeface="Arial" pitchFamily="34" charset="0"/>
                <a:cs typeface="Arial" pitchFamily="34" charset="0"/>
              </a:rPr>
              <a:t>Los terminales.</a:t>
            </a:r>
          </a:p>
          <a:p>
            <a:r>
              <a:rPr lang="es-ES" dirty="0" smtClean="0">
                <a:latin typeface="Arial" pitchFamily="34" charset="0"/>
                <a:cs typeface="Arial" pitchFamily="34" charset="0"/>
              </a:rPr>
              <a:t>Los servicios.</a:t>
            </a:r>
          </a:p>
          <a:p>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solidFill>
                  <a:srgbClr val="FF0000"/>
                </a:solidFill>
              </a:rPr>
              <a:t>Las terminales</a:t>
            </a:r>
            <a:endParaRPr lang="es-CR" dirty="0">
              <a:solidFill>
                <a:srgbClr val="FF0000"/>
              </a:solidFill>
            </a:endParaRPr>
          </a:p>
        </p:txBody>
      </p:sp>
      <p:sp>
        <p:nvSpPr>
          <p:cNvPr id="3" name="2 Marcador de contenido"/>
          <p:cNvSpPr>
            <a:spLocks noGrp="1"/>
          </p:cNvSpPr>
          <p:nvPr>
            <p:ph idx="1"/>
          </p:nvPr>
        </p:nvSpPr>
        <p:spPr/>
        <p:txBody>
          <a:bodyPr>
            <a:normAutofit/>
          </a:bodyPr>
          <a:lstStyle/>
          <a:p>
            <a:pPr algn="just"/>
            <a:r>
              <a:rPr lang="es-ES" dirty="0" smtClean="0">
                <a:latin typeface="Arial" pitchFamily="34" charset="0"/>
                <a:cs typeface="Arial" pitchFamily="34" charset="0"/>
              </a:rPr>
              <a:t>Los terminales actúan como punto de acceso de los ciudadanos a la Sociedad de la Información y por eso son de suma importancia y son uno de los elementos que más han evolucionado y evolucionan: es continúa la aparición de terminales que permiten aprovechar la digitalización de la información y la creciente disponibilidad de infraestructuras por intercambio de esta información digital</a:t>
            </a:r>
            <a:endParaRPr lang="es-CR"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solidFill>
                  <a:srgbClr val="FF0000"/>
                </a:solidFill>
              </a:rPr>
              <a:t>Terminales</a:t>
            </a:r>
            <a:endParaRPr lang="es-CR" dirty="0">
              <a:solidFill>
                <a:srgbClr val="FF0000"/>
              </a:solidFill>
            </a:endParaRPr>
          </a:p>
        </p:txBody>
      </p:sp>
      <p:sp>
        <p:nvSpPr>
          <p:cNvPr id="3" name="2 Marcador de contenido"/>
          <p:cNvSpPr>
            <a:spLocks noGrp="1"/>
          </p:cNvSpPr>
          <p:nvPr>
            <p:ph idx="1"/>
          </p:nvPr>
        </p:nvSpPr>
        <p:spPr/>
        <p:txBody>
          <a:bodyPr/>
          <a:lstStyle/>
          <a:p>
            <a:r>
              <a:rPr lang="es-CR" dirty="0" smtClean="0">
                <a:latin typeface="Arial" pitchFamily="34" charset="0"/>
                <a:cs typeface="Arial" pitchFamily="34" charset="0"/>
              </a:rPr>
              <a:t>Ordenador personal.</a:t>
            </a:r>
          </a:p>
          <a:p>
            <a:r>
              <a:rPr lang="es-CR" dirty="0" smtClean="0">
                <a:latin typeface="Arial" pitchFamily="34" charset="0"/>
                <a:cs typeface="Arial" pitchFamily="34" charset="0"/>
              </a:rPr>
              <a:t>Navegador de internet</a:t>
            </a:r>
          </a:p>
          <a:p>
            <a:r>
              <a:rPr lang="es-CR" dirty="0" smtClean="0">
                <a:latin typeface="Arial" pitchFamily="34" charset="0"/>
                <a:cs typeface="Arial" pitchFamily="34" charset="0"/>
              </a:rPr>
              <a:t>Teléfono móvil</a:t>
            </a:r>
          </a:p>
          <a:p>
            <a:r>
              <a:rPr lang="es-CR" dirty="0" smtClean="0">
                <a:latin typeface="Arial" pitchFamily="34" charset="0"/>
                <a:cs typeface="Arial" pitchFamily="34" charset="0"/>
              </a:rPr>
              <a:t>Televisor(LED-LCD)</a:t>
            </a:r>
          </a:p>
          <a:p>
            <a:r>
              <a:rPr lang="es-CR" dirty="0" smtClean="0">
                <a:latin typeface="Arial" pitchFamily="34" charset="0"/>
                <a:cs typeface="Arial" pitchFamily="34" charset="0"/>
              </a:rPr>
              <a:t>Reproductores portátiles de audio y video</a:t>
            </a:r>
          </a:p>
          <a:p>
            <a:r>
              <a:rPr lang="es-CR" dirty="0" smtClean="0">
                <a:latin typeface="Arial" pitchFamily="34" charset="0"/>
                <a:cs typeface="Arial" pitchFamily="34" charset="0"/>
              </a:rPr>
              <a:t>Consolas de juego</a:t>
            </a:r>
          </a:p>
          <a:p>
            <a:endParaRPr lang="es-CR" dirty="0" smtClean="0"/>
          </a:p>
          <a:p>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solidFill>
                  <a:srgbClr val="FF0000"/>
                </a:solidFill>
              </a:rPr>
              <a:t>Servicios de las TIC</a:t>
            </a:r>
            <a:endParaRPr lang="es-CR" dirty="0">
              <a:solidFill>
                <a:srgbClr val="FF0000"/>
              </a:solidFill>
            </a:endParaRPr>
          </a:p>
        </p:txBody>
      </p:sp>
      <p:sp>
        <p:nvSpPr>
          <p:cNvPr id="3" name="2 Marcador de contenido"/>
          <p:cNvSpPr>
            <a:spLocks noGrp="1"/>
          </p:cNvSpPr>
          <p:nvPr>
            <p:ph idx="1"/>
          </p:nvPr>
        </p:nvSpPr>
        <p:spPr/>
        <p:txBody>
          <a:bodyPr/>
          <a:lstStyle/>
          <a:p>
            <a:r>
              <a:rPr lang="es-CR" dirty="0" smtClean="0"/>
              <a:t>Correo electrónico</a:t>
            </a:r>
          </a:p>
          <a:p>
            <a:r>
              <a:rPr lang="es-CR" dirty="0" smtClean="0"/>
              <a:t>Búsqueda de información</a:t>
            </a:r>
          </a:p>
          <a:p>
            <a:r>
              <a:rPr lang="es-CR" dirty="0" smtClean="0"/>
              <a:t>Audio y música</a:t>
            </a:r>
          </a:p>
          <a:p>
            <a:r>
              <a:rPr lang="es-CR" dirty="0" smtClean="0"/>
              <a:t>TV y cine</a:t>
            </a:r>
          </a:p>
          <a:p>
            <a:r>
              <a:rPr lang="es-CR" dirty="0" smtClean="0"/>
              <a:t>Comercio electrónico</a:t>
            </a:r>
          </a:p>
          <a:p>
            <a:r>
              <a:rPr lang="es-CR" dirty="0" smtClean="0"/>
              <a:t>Administración y gobierno</a:t>
            </a:r>
          </a:p>
          <a:p>
            <a:r>
              <a:rPr lang="es-CR" dirty="0" smtClean="0"/>
              <a:t>Educación</a:t>
            </a:r>
          </a:p>
          <a:p>
            <a:endParaRPr lang="es-CR" dirty="0" smtClean="0"/>
          </a:p>
          <a:p>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642926"/>
            <a:ext cx="7467600" cy="1143000"/>
          </a:xfrm>
        </p:spPr>
        <p:txBody>
          <a:bodyPr>
            <a:normAutofit fontScale="90000"/>
          </a:bodyPr>
          <a:lstStyle/>
          <a:p>
            <a:pPr algn="ctr"/>
            <a:r>
              <a:rPr lang="es-PE" dirty="0" smtClean="0">
                <a:solidFill>
                  <a:srgbClr val="FF0000"/>
                </a:solidFill>
              </a:rPr>
              <a:t>¿Que aspecto de la vida humana pueden estar vinculados a las Tic? </a:t>
            </a:r>
            <a:r>
              <a:rPr lang="es-PE" dirty="0" smtClean="0"/>
              <a:t/>
            </a:r>
            <a:br>
              <a:rPr lang="es-PE" dirty="0" smtClean="0"/>
            </a:br>
            <a:endParaRPr lang="es-PE" dirty="0"/>
          </a:p>
        </p:txBody>
      </p:sp>
      <p:sp>
        <p:nvSpPr>
          <p:cNvPr id="3" name="2 Marcador de contenido"/>
          <p:cNvSpPr>
            <a:spLocks noGrp="1"/>
          </p:cNvSpPr>
          <p:nvPr>
            <p:ph sz="quarter" idx="1"/>
          </p:nvPr>
        </p:nvSpPr>
        <p:spPr/>
        <p:txBody>
          <a:bodyPr/>
          <a:lstStyle/>
          <a:p>
            <a:pPr algn="just"/>
            <a:r>
              <a:rPr lang="es-PE" dirty="0" smtClean="0"/>
              <a:t>En todos los ámbitos en que se desarrolla el hombre, especialmente en los entornos estudiantiles, laborales, instituciones y empresas.</a:t>
            </a:r>
          </a:p>
          <a:p>
            <a:endParaRPr lang="es-P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a:r>
              <a:rPr lang="es-PE" dirty="0" smtClean="0">
                <a:solidFill>
                  <a:srgbClr val="FF0000"/>
                </a:solidFill>
                <a:latin typeface="Arial" pitchFamily="34" charset="0"/>
                <a:cs typeface="Arial" pitchFamily="34" charset="0"/>
              </a:rPr>
              <a:t>¿De qué forma puede estar las </a:t>
            </a:r>
            <a:r>
              <a:rPr lang="es-PE" dirty="0" err="1" smtClean="0">
                <a:solidFill>
                  <a:srgbClr val="FF0000"/>
                </a:solidFill>
                <a:latin typeface="Arial" pitchFamily="34" charset="0"/>
                <a:cs typeface="Arial" pitchFamily="34" charset="0"/>
              </a:rPr>
              <a:t>tic’s</a:t>
            </a:r>
            <a:r>
              <a:rPr lang="es-PE" dirty="0" smtClean="0">
                <a:solidFill>
                  <a:srgbClr val="FF0000"/>
                </a:solidFill>
                <a:latin typeface="Arial" pitchFamily="34" charset="0"/>
                <a:cs typeface="Arial" pitchFamily="34" charset="0"/>
              </a:rPr>
              <a:t> vinculada a la educación?</a:t>
            </a:r>
            <a:endParaRPr lang="es-PE" dirty="0">
              <a:solidFill>
                <a:srgbClr val="FF0000"/>
              </a:solidFill>
              <a:latin typeface="Arial" pitchFamily="34" charset="0"/>
              <a:cs typeface="Arial" pitchFamily="34" charset="0"/>
            </a:endParaRPr>
          </a:p>
        </p:txBody>
      </p:sp>
      <p:sp>
        <p:nvSpPr>
          <p:cNvPr id="3" name="2 Marcador de contenido"/>
          <p:cNvSpPr>
            <a:spLocks noGrp="1"/>
          </p:cNvSpPr>
          <p:nvPr>
            <p:ph sz="quarter" idx="1"/>
          </p:nvPr>
        </p:nvSpPr>
        <p:spPr>
          <a:xfrm>
            <a:off x="214282" y="1357298"/>
            <a:ext cx="8358246" cy="5357850"/>
          </a:xfrm>
        </p:spPr>
        <p:txBody>
          <a:bodyPr>
            <a:normAutofit fontScale="62500" lnSpcReduction="20000"/>
          </a:bodyPr>
          <a:lstStyle/>
          <a:p>
            <a:pPr algn="just"/>
            <a:r>
              <a:rPr lang="es-PE" sz="3200" dirty="0" smtClean="0">
                <a:latin typeface="Arial" pitchFamily="34" charset="0"/>
                <a:cs typeface="Arial" pitchFamily="34" charset="0"/>
              </a:rPr>
              <a:t>En la Era Internet exige cambios en el mundo </a:t>
            </a:r>
            <a:r>
              <a:rPr lang="es-PE" sz="3200" dirty="0" err="1" smtClean="0">
                <a:latin typeface="Arial" pitchFamily="34" charset="0"/>
                <a:cs typeface="Arial" pitchFamily="34" charset="0"/>
              </a:rPr>
              <a:t>educativo.Si</a:t>
            </a:r>
            <a:r>
              <a:rPr lang="es-PE" sz="3200" dirty="0" smtClean="0">
                <a:latin typeface="Arial" pitchFamily="34" charset="0"/>
                <a:cs typeface="Arial" pitchFamily="34" charset="0"/>
              </a:rPr>
              <a:t> constituyen poderosas razones para aprovechar las posibilidades de innovación metodológica que ofrecen las Tic para lograr una escuela más eficaz e inclusiva.</a:t>
            </a:r>
          </a:p>
          <a:p>
            <a:pPr algn="just"/>
            <a:r>
              <a:rPr lang="es-PE" sz="3200" dirty="0" smtClean="0">
                <a:latin typeface="Arial" pitchFamily="34" charset="0"/>
                <a:cs typeface="Arial" pitchFamily="34" charset="0"/>
              </a:rPr>
              <a:t>Tres Razones para usar Tic en educación:</a:t>
            </a:r>
          </a:p>
          <a:p>
            <a:pPr algn="just">
              <a:buNone/>
            </a:pPr>
            <a:r>
              <a:rPr lang="es-PE" sz="3200" dirty="0" smtClean="0">
                <a:latin typeface="Arial" pitchFamily="34" charset="0"/>
                <a:cs typeface="Arial" pitchFamily="34" charset="0"/>
              </a:rPr>
              <a:t>	1- Razón Alfabetización digital de los Alumnos: Todos deben adquirir las competencias básicas en el uso del tic.</a:t>
            </a:r>
          </a:p>
          <a:p>
            <a:pPr algn="just">
              <a:buNone/>
            </a:pPr>
            <a:r>
              <a:rPr lang="es-PE" sz="3200" dirty="0" smtClean="0">
                <a:latin typeface="Arial" pitchFamily="34" charset="0"/>
                <a:cs typeface="Arial" pitchFamily="34" charset="0"/>
              </a:rPr>
              <a:t>	2-Razón Productividad: Aprovechar las ventajas que proporcionan al realizar actividades como preparar apuntes y ejercicios, buscar información comunicarnos (e-mail), difundir información (</a:t>
            </a:r>
            <a:r>
              <a:rPr lang="es-PE" sz="3200" dirty="0" err="1" smtClean="0">
                <a:latin typeface="Arial" pitchFamily="34" charset="0"/>
                <a:cs typeface="Arial" pitchFamily="34" charset="0"/>
              </a:rPr>
              <a:t>weblogs</a:t>
            </a:r>
            <a:r>
              <a:rPr lang="es-PE" sz="3200" dirty="0" smtClean="0">
                <a:latin typeface="Arial" pitchFamily="34" charset="0"/>
                <a:cs typeface="Arial" pitchFamily="34" charset="0"/>
              </a:rPr>
              <a:t>, web de centro y docentes), gestión de biblioteca. </a:t>
            </a:r>
          </a:p>
          <a:p>
            <a:pPr algn="just">
              <a:buNone/>
            </a:pPr>
            <a:r>
              <a:rPr lang="es-PE" sz="3200" dirty="0" smtClean="0">
                <a:latin typeface="Arial" pitchFamily="34" charset="0"/>
                <a:cs typeface="Arial" pitchFamily="34" charset="0"/>
              </a:rPr>
              <a:t>	3-Razón Innovación en las Prácticas docentes:</a:t>
            </a:r>
          </a:p>
          <a:p>
            <a:pPr algn="just"/>
            <a:r>
              <a:rPr lang="es-PE" sz="3200" dirty="0" smtClean="0">
                <a:latin typeface="Arial" pitchFamily="34" charset="0"/>
                <a:cs typeface="Arial" pitchFamily="34" charset="0"/>
              </a:rPr>
              <a:t>Aprovechar las nuevas posibilidades didácticas que ofrecen las Tic para lograr que los alumnos realicen mejores aprendizaje.</a:t>
            </a:r>
          </a:p>
          <a:p>
            <a:pPr algn="just"/>
            <a:r>
              <a:rPr lang="es-PE" sz="3200" dirty="0" smtClean="0">
                <a:latin typeface="Arial" pitchFamily="34" charset="0"/>
                <a:cs typeface="Arial" pitchFamily="34" charset="0"/>
              </a:rPr>
              <a:t>En las instituciones educativas formales van incluyendo la alfabetización digital en sus programas, además de utilizar los recursos del Tic para su gestión y como instrumento didáctico. </a:t>
            </a:r>
          </a:p>
          <a:p>
            <a:endParaRPr lang="es-PE"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a:r>
              <a:rPr lang="es-PE" dirty="0" smtClean="0">
                <a:solidFill>
                  <a:srgbClr val="FF0000"/>
                </a:solidFill>
              </a:rPr>
              <a:t>¿qué son medios de comunicación?</a:t>
            </a:r>
            <a:endParaRPr lang="es-PE" dirty="0">
              <a:solidFill>
                <a:srgbClr val="FF0000"/>
              </a:solidFill>
            </a:endParaRPr>
          </a:p>
        </p:txBody>
      </p:sp>
      <p:sp>
        <p:nvSpPr>
          <p:cNvPr id="3" name="2 Marcador de contenido"/>
          <p:cNvSpPr>
            <a:spLocks noGrp="1"/>
          </p:cNvSpPr>
          <p:nvPr>
            <p:ph sz="quarter" idx="1"/>
          </p:nvPr>
        </p:nvSpPr>
        <p:spPr/>
        <p:txBody>
          <a:bodyPr/>
          <a:lstStyle/>
          <a:p>
            <a:pPr algn="just"/>
            <a:r>
              <a:rPr lang="es-PE" dirty="0" smtClean="0">
                <a:latin typeface="Arial" pitchFamily="34" charset="0"/>
                <a:cs typeface="Arial" pitchFamily="34" charset="0"/>
              </a:rPr>
              <a:t>Para </a:t>
            </a:r>
            <a:r>
              <a:rPr lang="es-PE" dirty="0" smtClean="0">
                <a:latin typeface="Arial" pitchFamily="34" charset="0"/>
                <a:cs typeface="Arial" pitchFamily="34" charset="0"/>
              </a:rPr>
              <a:t>algunos, los medios de comunicación son la manera más eficaz y rápida de transmitir un mensaje, para otros, son un vehículo de manipulación social mediante el cual los diferentes poderes de la sociedad se hacen escuchar, así como también hay quienes piensan en los medios de comunicación como si de un reflejo de la sociedad del momento se tratase, como en un medio gracias al cual es posible manifestar lo positivo y lo negativo de una situación o de un contexto </a:t>
            </a:r>
            <a:r>
              <a:rPr lang="es-PE" dirty="0" smtClean="0">
                <a:latin typeface="Arial" pitchFamily="34" charset="0"/>
                <a:cs typeface="Arial" pitchFamily="34" charset="0"/>
              </a:rPr>
              <a:t>determinados.</a:t>
            </a:r>
          </a:p>
          <a:p>
            <a:pPr algn="just"/>
            <a:endParaRPr lang="es-PE" dirty="0" smtClean="0"/>
          </a:p>
          <a:p>
            <a:pPr algn="just"/>
            <a:endParaRPr lang="es-P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a:r>
              <a:rPr lang="es-PE" dirty="0" smtClean="0">
                <a:solidFill>
                  <a:srgbClr val="FF0000"/>
                </a:solidFill>
              </a:rPr>
              <a:t>¿qué son medios de comunicación?</a:t>
            </a:r>
            <a:endParaRPr lang="es-PE" dirty="0">
              <a:solidFill>
                <a:srgbClr val="FF0000"/>
              </a:solidFill>
            </a:endParaRPr>
          </a:p>
        </p:txBody>
      </p:sp>
      <p:sp>
        <p:nvSpPr>
          <p:cNvPr id="3" name="2 Marcador de contenido"/>
          <p:cNvSpPr>
            <a:spLocks noGrp="1"/>
          </p:cNvSpPr>
          <p:nvPr>
            <p:ph sz="quarter" idx="1"/>
          </p:nvPr>
        </p:nvSpPr>
        <p:spPr/>
        <p:txBody>
          <a:bodyPr/>
          <a:lstStyle/>
          <a:p>
            <a:pPr algn="just"/>
            <a:r>
              <a:rPr lang="es-PE" dirty="0" smtClean="0">
                <a:latin typeface="Arial" pitchFamily="34" charset="0"/>
                <a:cs typeface="Arial" pitchFamily="34" charset="0"/>
              </a:rPr>
              <a:t>Los medios de comunicación son los instrumentos mediante los cuales se informa y se comunica de forma masiva; son la manera como las personas, los miembros de una sociedad o de una comunidad se enteran de lo que sucede a su alrededor a nivel económico, político, social, etc. Los medios de comunicación son la representación física de la comunicación en nuestro mundo; es decir, son el canal mediante el cual la información se obtiene, se procesa y, finalmente, se expresa, se comunica.</a:t>
            </a:r>
            <a:endParaRPr lang="es-PE" dirty="0" smtClean="0">
              <a:latin typeface="Arial" pitchFamily="34" charset="0"/>
              <a:cs typeface="Arial" pitchFamily="34" charset="0"/>
            </a:endParaRPr>
          </a:p>
          <a:p>
            <a:pPr algn="just"/>
            <a:endParaRPr lang="es-P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439718"/>
          </a:xfrm>
        </p:spPr>
        <p:txBody>
          <a:bodyPr>
            <a:normAutofit fontScale="90000"/>
          </a:bodyPr>
          <a:lstStyle/>
          <a:p>
            <a:r>
              <a:rPr lang="es-PE" dirty="0" smtClean="0">
                <a:solidFill>
                  <a:srgbClr val="FF0000"/>
                </a:solidFill>
              </a:rPr>
              <a:t>Divisiones</a:t>
            </a:r>
            <a:endParaRPr lang="es-PE" dirty="0">
              <a:solidFill>
                <a:srgbClr val="FF0000"/>
              </a:solidFill>
            </a:endParaRPr>
          </a:p>
        </p:txBody>
      </p:sp>
      <p:sp>
        <p:nvSpPr>
          <p:cNvPr id="3" name="2 Marcador de contenido"/>
          <p:cNvSpPr>
            <a:spLocks noGrp="1"/>
          </p:cNvSpPr>
          <p:nvPr>
            <p:ph sz="quarter" idx="1"/>
          </p:nvPr>
        </p:nvSpPr>
        <p:spPr>
          <a:xfrm>
            <a:off x="285720" y="642918"/>
            <a:ext cx="8358246" cy="5831034"/>
          </a:xfrm>
        </p:spPr>
        <p:txBody>
          <a:bodyPr>
            <a:noAutofit/>
          </a:bodyPr>
          <a:lstStyle/>
          <a:p>
            <a:pPr algn="just"/>
            <a:r>
              <a:rPr lang="es-PE" sz="2300" dirty="0" smtClean="0">
                <a:latin typeface="Arial" pitchFamily="34" charset="0"/>
                <a:cs typeface="Arial" pitchFamily="34" charset="0"/>
              </a:rPr>
              <a:t>Por su estructura física:</a:t>
            </a:r>
          </a:p>
          <a:p>
            <a:pPr algn="just">
              <a:buNone/>
            </a:pPr>
            <a:r>
              <a:rPr lang="es-PE" sz="2300" dirty="0" smtClean="0">
                <a:latin typeface="Arial" pitchFamily="34" charset="0"/>
                <a:cs typeface="Arial" pitchFamily="34" charset="0"/>
              </a:rPr>
              <a:t>	</a:t>
            </a:r>
            <a:r>
              <a:rPr lang="es-PE" sz="2300" b="1" dirty="0" smtClean="0">
                <a:solidFill>
                  <a:schemeClr val="accent2">
                    <a:lumMod val="50000"/>
                  </a:schemeClr>
                </a:solidFill>
                <a:latin typeface="Arial" pitchFamily="34" charset="0"/>
                <a:cs typeface="Arial" pitchFamily="34" charset="0"/>
              </a:rPr>
              <a:t>Medios </a:t>
            </a:r>
            <a:r>
              <a:rPr lang="es-PE" sz="2300" b="1" dirty="0" smtClean="0">
                <a:solidFill>
                  <a:schemeClr val="accent2">
                    <a:lumMod val="50000"/>
                  </a:schemeClr>
                </a:solidFill>
                <a:latin typeface="Arial" pitchFamily="34" charset="0"/>
                <a:cs typeface="Arial" pitchFamily="34" charset="0"/>
              </a:rPr>
              <a:t>audiovisuales</a:t>
            </a:r>
            <a:r>
              <a:rPr lang="es-PE" sz="2300" dirty="0" smtClean="0">
                <a:latin typeface="Arial" pitchFamily="34" charset="0"/>
                <a:cs typeface="Arial" pitchFamily="34" charset="0"/>
              </a:rPr>
              <a:t>.-son los medios que se basan en imágenes y sonidos para expresar la información. Hacen parte de ese grupo la televisión y el </a:t>
            </a:r>
            <a:r>
              <a:rPr lang="es-PE" sz="2300" dirty="0" smtClean="0">
                <a:latin typeface="Arial" pitchFamily="34" charset="0"/>
                <a:cs typeface="Arial" pitchFamily="34" charset="0"/>
              </a:rPr>
              <a:t>cine (</a:t>
            </a:r>
            <a:r>
              <a:rPr lang="es-PE" sz="2300" dirty="0" smtClean="0">
                <a:latin typeface="Arial" pitchFamily="34" charset="0"/>
                <a:cs typeface="Arial" pitchFamily="34" charset="0"/>
              </a:rPr>
              <a:t>Noticieros, documentales, reportajes, entrevistas, programas culturales, científicos y ambientales, etc</a:t>
            </a:r>
            <a:r>
              <a:rPr lang="es-PE" sz="2300" dirty="0" smtClean="0">
                <a:latin typeface="Arial" pitchFamily="34" charset="0"/>
                <a:cs typeface="Arial" pitchFamily="34" charset="0"/>
              </a:rPr>
              <a:t>.)</a:t>
            </a:r>
          </a:p>
          <a:p>
            <a:pPr algn="just"/>
            <a:r>
              <a:rPr lang="es-PE" sz="2300" b="1" dirty="0" smtClean="0">
                <a:solidFill>
                  <a:schemeClr val="accent2">
                    <a:lumMod val="50000"/>
                  </a:schemeClr>
                </a:solidFill>
                <a:latin typeface="Arial" pitchFamily="34" charset="0"/>
                <a:cs typeface="Arial" pitchFamily="34" charset="0"/>
              </a:rPr>
              <a:t>Medios radiofónicos.- </a:t>
            </a:r>
            <a:r>
              <a:rPr lang="es-PE" sz="2300" dirty="0" smtClean="0">
                <a:latin typeface="Arial" pitchFamily="34" charset="0"/>
                <a:cs typeface="Arial" pitchFamily="34" charset="0"/>
              </a:rPr>
              <a:t>Lo constituye la radio</a:t>
            </a:r>
          </a:p>
          <a:p>
            <a:pPr algn="just"/>
            <a:r>
              <a:rPr lang="es-PE" sz="2300" b="1" dirty="0" smtClean="0">
                <a:solidFill>
                  <a:schemeClr val="accent2">
                    <a:lumMod val="50000"/>
                  </a:schemeClr>
                </a:solidFill>
                <a:latin typeface="Arial" pitchFamily="34" charset="0"/>
                <a:cs typeface="Arial" pitchFamily="34" charset="0"/>
              </a:rPr>
              <a:t>Medios impresos.- </a:t>
            </a:r>
            <a:r>
              <a:rPr lang="es-PE" sz="2300" dirty="0" smtClean="0">
                <a:latin typeface="Arial" pitchFamily="34" charset="0"/>
                <a:cs typeface="Arial" pitchFamily="34" charset="0"/>
              </a:rPr>
              <a:t>Éstos son las revistas, los periódicos, los magazines, los folletos y, en general, todas las publicaciones impresas en papel que tengan como objetivo informar</a:t>
            </a:r>
            <a:r>
              <a:rPr lang="es-PE" sz="2300" dirty="0" smtClean="0">
                <a:latin typeface="Arial" pitchFamily="34" charset="0"/>
                <a:cs typeface="Arial" pitchFamily="34" charset="0"/>
              </a:rPr>
              <a:t>.</a:t>
            </a:r>
          </a:p>
          <a:p>
            <a:pPr algn="just"/>
            <a:r>
              <a:rPr lang="es-PE" sz="2300" b="1" dirty="0" smtClean="0">
                <a:solidFill>
                  <a:schemeClr val="accent2">
                    <a:lumMod val="50000"/>
                  </a:schemeClr>
                </a:solidFill>
                <a:latin typeface="Arial" pitchFamily="34" charset="0"/>
                <a:cs typeface="Arial" pitchFamily="34" charset="0"/>
              </a:rPr>
              <a:t>Medios digitales.- </a:t>
            </a:r>
            <a:r>
              <a:rPr lang="es-PE" sz="2300" dirty="0" smtClean="0">
                <a:latin typeface="Arial" pitchFamily="34" charset="0"/>
                <a:cs typeface="Arial" pitchFamily="34" charset="0"/>
              </a:rPr>
              <a:t>También </a:t>
            </a:r>
            <a:r>
              <a:rPr lang="es-PE" sz="2300" dirty="0" smtClean="0">
                <a:latin typeface="Arial" pitchFamily="34" charset="0"/>
                <a:cs typeface="Arial" pitchFamily="34" charset="0"/>
              </a:rPr>
              <a:t>llamados "nuevos medios" o "nuevas tecnologías". Son los medios más usados actualmente por los jóvenes y, en general, por las personas amantes de la tecnología. Habitualmente se accede a ellos a través de internet,</a:t>
            </a:r>
            <a:endParaRPr lang="es-PE" sz="2300" b="1" dirty="0">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725470"/>
          </a:xfrm>
        </p:spPr>
        <p:txBody>
          <a:bodyPr/>
          <a:lstStyle/>
          <a:p>
            <a:r>
              <a:rPr lang="es-PE" dirty="0" smtClean="0">
                <a:solidFill>
                  <a:srgbClr val="FF0000"/>
                </a:solidFill>
              </a:rPr>
              <a:t>Por su carácter</a:t>
            </a:r>
            <a:endParaRPr lang="es-PE" dirty="0">
              <a:solidFill>
                <a:srgbClr val="FF0000"/>
              </a:solidFill>
            </a:endParaRPr>
          </a:p>
        </p:txBody>
      </p:sp>
      <p:sp>
        <p:nvSpPr>
          <p:cNvPr id="3" name="2 Marcador de contenido"/>
          <p:cNvSpPr>
            <a:spLocks noGrp="1"/>
          </p:cNvSpPr>
          <p:nvPr>
            <p:ph sz="quarter" idx="1"/>
          </p:nvPr>
        </p:nvSpPr>
        <p:spPr>
          <a:xfrm>
            <a:off x="457200" y="928670"/>
            <a:ext cx="8186766" cy="5545282"/>
          </a:xfrm>
        </p:spPr>
        <p:txBody>
          <a:bodyPr>
            <a:normAutofit fontScale="92500"/>
          </a:bodyPr>
          <a:lstStyle/>
          <a:p>
            <a:pPr algn="just"/>
            <a:r>
              <a:rPr lang="es-PE" b="1" dirty="0" smtClean="0">
                <a:solidFill>
                  <a:schemeClr val="accent2">
                    <a:lumMod val="50000"/>
                  </a:schemeClr>
                </a:solidFill>
                <a:latin typeface="Arial" pitchFamily="34" charset="0"/>
                <a:cs typeface="Arial" pitchFamily="34" charset="0"/>
              </a:rPr>
              <a:t>Informativos</a:t>
            </a:r>
            <a:r>
              <a:rPr lang="es-PE" b="1" dirty="0" smtClean="0">
                <a:solidFill>
                  <a:schemeClr val="accent2">
                    <a:lumMod val="50000"/>
                  </a:schemeClr>
                </a:solidFill>
                <a:latin typeface="Arial" pitchFamily="34" charset="0"/>
                <a:cs typeface="Arial" pitchFamily="34" charset="0"/>
              </a:rPr>
              <a:t>.-</a:t>
            </a:r>
            <a:r>
              <a:rPr lang="es-PE" dirty="0" smtClean="0">
                <a:latin typeface="Arial" pitchFamily="34" charset="0"/>
                <a:cs typeface="Arial" pitchFamily="34" charset="0"/>
              </a:rPr>
              <a:t>conformado por los noticieros, las </a:t>
            </a:r>
            <a:r>
              <a:rPr lang="es-PE" dirty="0" smtClean="0">
                <a:latin typeface="Arial" pitchFamily="34" charset="0"/>
                <a:cs typeface="Arial" pitchFamily="34" charset="0"/>
              </a:rPr>
              <a:t>emisoras que emiten noticias durante casi todo el día, las revistas de análisis e información y, por supuesto, los periódicos o diarios informativos</a:t>
            </a:r>
            <a:endParaRPr lang="es-PE" dirty="0" smtClean="0">
              <a:latin typeface="Arial" pitchFamily="34" charset="0"/>
              <a:cs typeface="Arial" pitchFamily="34" charset="0"/>
            </a:endParaRPr>
          </a:p>
          <a:p>
            <a:pPr algn="just"/>
            <a:r>
              <a:rPr lang="es-PE" b="1" dirty="0" smtClean="0">
                <a:solidFill>
                  <a:schemeClr val="accent2">
                    <a:lumMod val="50000"/>
                  </a:schemeClr>
                </a:solidFill>
                <a:latin typeface="Arial" pitchFamily="34" charset="0"/>
                <a:cs typeface="Arial" pitchFamily="34" charset="0"/>
              </a:rPr>
              <a:t>De entretenimiento.- </a:t>
            </a:r>
            <a:r>
              <a:rPr lang="es-PE" dirty="0" smtClean="0">
                <a:latin typeface="Arial" pitchFamily="34" charset="0"/>
                <a:cs typeface="Arial" pitchFamily="34" charset="0"/>
              </a:rPr>
              <a:t>buscan divertir, </a:t>
            </a:r>
            <a:r>
              <a:rPr lang="es-PE" dirty="0" err="1" smtClean="0">
                <a:latin typeface="Arial" pitchFamily="34" charset="0"/>
                <a:cs typeface="Arial" pitchFamily="34" charset="0"/>
              </a:rPr>
              <a:t>distensionar</a:t>
            </a:r>
            <a:r>
              <a:rPr lang="es-PE" dirty="0" smtClean="0">
                <a:latin typeface="Arial" pitchFamily="34" charset="0"/>
                <a:cs typeface="Arial" pitchFamily="34" charset="0"/>
              </a:rPr>
              <a:t> o recrear a las personas valiéndose de recursos como el humor, la información sobre farándula, cine o televisión, los concursos, la emisión de música, los dibujos, los deportes, etc. </a:t>
            </a:r>
            <a:endParaRPr lang="es-PE" b="1" dirty="0" smtClean="0">
              <a:solidFill>
                <a:schemeClr val="accent2">
                  <a:lumMod val="50000"/>
                </a:schemeClr>
              </a:solidFill>
              <a:latin typeface="Arial" pitchFamily="34" charset="0"/>
              <a:cs typeface="Arial" pitchFamily="34" charset="0"/>
            </a:endParaRPr>
          </a:p>
          <a:p>
            <a:pPr algn="just"/>
            <a:r>
              <a:rPr lang="es-PE" dirty="0" smtClean="0">
                <a:solidFill>
                  <a:schemeClr val="accent2">
                    <a:lumMod val="50000"/>
                  </a:schemeClr>
                </a:solidFill>
                <a:latin typeface="Arial" pitchFamily="34" charset="0"/>
                <a:cs typeface="Arial" pitchFamily="34" charset="0"/>
              </a:rPr>
              <a:t>De análisis.-</a:t>
            </a:r>
            <a:r>
              <a:rPr lang="es-PE" dirty="0" smtClean="0">
                <a:latin typeface="Arial" pitchFamily="34" charset="0"/>
                <a:cs typeface="Arial" pitchFamily="34" charset="0"/>
              </a:rPr>
              <a:t>Su finalidad esencial es examinar, investigar, explicar y entender lo que está pasando para darle mayor dimensión a una noticia, pero, sobre todo, para que el público entienda las causas y consecuencias de dicha noticia.</a:t>
            </a:r>
            <a:endParaRPr lang="es-PE" dirty="0" smtClean="0">
              <a:latin typeface="Arial" pitchFamily="34" charset="0"/>
              <a:cs typeface="Arial" pitchFamily="34" charset="0"/>
            </a:endParaRPr>
          </a:p>
          <a:p>
            <a:pPr algn="just"/>
            <a:r>
              <a:rPr lang="es-PE" dirty="0" smtClean="0">
                <a:solidFill>
                  <a:schemeClr val="accent2">
                    <a:lumMod val="50000"/>
                  </a:schemeClr>
                </a:solidFill>
                <a:latin typeface="Arial" pitchFamily="34" charset="0"/>
                <a:cs typeface="Arial" pitchFamily="34" charset="0"/>
              </a:rPr>
              <a:t>Especializados.-</a:t>
            </a:r>
            <a:r>
              <a:rPr lang="es-PE" dirty="0" smtClean="0">
                <a:latin typeface="Arial" pitchFamily="34" charset="0"/>
                <a:cs typeface="Arial" pitchFamily="34" charset="0"/>
              </a:rPr>
              <a:t>dentro de este tipo de medios entran lo cultural, lo científico y, en general, todos los temas que le interesan a un sector determinado del público.</a:t>
            </a:r>
            <a:endParaRPr lang="es-PE" dirty="0">
              <a:solidFill>
                <a:schemeClr val="accent2">
                  <a:lumMod val="50000"/>
                </a:schemeClr>
              </a:solidFill>
              <a:latin typeface="Arial" pitchFamily="34" charset="0"/>
              <a:cs typeface="Arial"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57</TotalTime>
  <Words>776</Words>
  <Application>Microsoft Office PowerPoint</Application>
  <PresentationFormat>Presentación en pantalla (4:3)</PresentationFormat>
  <Paragraphs>71</Paragraphs>
  <Slides>15</Slides>
  <Notes>0</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Mirador</vt:lpstr>
      <vt:lpstr>Las tecnologías de la Información y La Comunicación </vt:lpstr>
      <vt:lpstr>Tecnologías</vt:lpstr>
      <vt:lpstr>¿Qué son las TIC’s?  </vt:lpstr>
      <vt:lpstr>TIC</vt:lpstr>
      <vt:lpstr>Las redes</vt:lpstr>
      <vt:lpstr>Las tecnologías.</vt:lpstr>
      <vt:lpstr>Las terminales</vt:lpstr>
      <vt:lpstr>Terminales</vt:lpstr>
      <vt:lpstr>Servicios de las TIC</vt:lpstr>
      <vt:lpstr>¿Que aspecto de la vida humana pueden estar vinculados a las Tic?  </vt:lpstr>
      <vt:lpstr>¿De qué forma puede estar las tic’s vinculada a la educación?</vt:lpstr>
      <vt:lpstr>¿qué son medios de comunicación?</vt:lpstr>
      <vt:lpstr>¿qué son medios de comunicación?</vt:lpstr>
      <vt:lpstr>Divisiones</vt:lpstr>
      <vt:lpstr>Por su carácter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 tecnologías de la Información y Comunicación</dc:title>
  <dc:creator>user</dc:creator>
  <cp:lastModifiedBy>user</cp:lastModifiedBy>
  <cp:revision>11</cp:revision>
  <dcterms:created xsi:type="dcterms:W3CDTF">2012-05-24T22:23:44Z</dcterms:created>
  <dcterms:modified xsi:type="dcterms:W3CDTF">2012-05-24T23:34:39Z</dcterms:modified>
</cp:coreProperties>
</file>