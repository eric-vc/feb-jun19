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80" r:id="rId1"/>
  </p:sldMasterIdLst>
  <p:sldIdLst>
    <p:sldId id="256" r:id="rId2"/>
    <p:sldId id="261" r:id="rId3"/>
    <p:sldId id="257" r:id="rId4"/>
    <p:sldId id="262" r:id="rId5"/>
    <p:sldId id="265" r:id="rId6"/>
    <p:sldId id="264" r:id="rId7"/>
    <p:sldId id="266" r:id="rId8"/>
    <p:sldId id="267" r:id="rId9"/>
    <p:sldId id="268" r:id="rId10"/>
    <p:sldId id="258" r:id="rId11"/>
    <p:sldId id="259" r:id="rId12"/>
    <p:sldId id="273" r:id="rId13"/>
    <p:sldId id="269" r:id="rId14"/>
    <p:sldId id="270" r:id="rId15"/>
    <p:sldId id="271" r:id="rId16"/>
    <p:sldId id="274" r:id="rId17"/>
    <p:sldId id="272" r:id="rId18"/>
    <p:sldId id="275"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8" d="100"/>
          <a:sy n="68" d="100"/>
        </p:scale>
        <p:origin x="1446" y="72"/>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Rectangle 7"/>
          <p:cNvSpPr/>
          <p:nvPr/>
        </p:nvSpPr>
        <p:spPr>
          <a:xfrm>
            <a:off x="8418195" y="0"/>
            <a:ext cx="73152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946404" y="758952"/>
            <a:ext cx="7063740" cy="4041648"/>
          </a:xfrm>
        </p:spPr>
        <p:txBody>
          <a:bodyPr anchor="b">
            <a:normAutofit/>
          </a:bodyPr>
          <a:lstStyle>
            <a:lvl1pPr algn="l">
              <a:lnSpc>
                <a:spcPct val="85000"/>
              </a:lnSpc>
              <a:defRPr sz="66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946404" y="4800600"/>
            <a:ext cx="7063740" cy="1691640"/>
          </a:xfrm>
        </p:spPr>
        <p:txBody>
          <a:bodyPr>
            <a:normAutofit/>
          </a:bodyPr>
          <a:lstStyle>
            <a:lvl1pPr marL="0" indent="0" algn="l">
              <a:buNone/>
              <a:defRPr sz="2000" baseline="0">
                <a:solidFill>
                  <a:schemeClr val="tx1">
                    <a:lumMod val="65000"/>
                  </a:schemeClr>
                </a:solidFill>
              </a:defRPr>
            </a:lvl1pPr>
            <a:lvl2pPr marL="457200" indent="0" algn="ctr">
              <a:buNone/>
              <a:defRPr sz="2000"/>
            </a:lvl2pPr>
            <a:lvl3pPr marL="914400" indent="0" algn="ctr">
              <a:buNone/>
              <a:defRPr sz="20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7" name="Rectangle 6"/>
          <p:cNvSpPr/>
          <p:nvPr/>
        </p:nvSpPr>
        <p:spPr>
          <a:xfrm>
            <a:off x="0" y="0"/>
            <a:ext cx="3429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4" name="Date Placeholder 3"/>
          <p:cNvSpPr>
            <a:spLocks noGrp="1"/>
          </p:cNvSpPr>
          <p:nvPr>
            <p:ph type="dt" sz="half" idx="10"/>
          </p:nvPr>
        </p:nvSpPr>
        <p:spPr/>
        <p:txBody>
          <a:bodyPr/>
          <a:lstStyle/>
          <a:p>
            <a:fld id="{7A847CFC-816F-41D0-AAC0-9BF4FEBC753E}" type="datetimeFigureOut">
              <a:rPr lang="es-ES" smtClean="0"/>
              <a:pPr/>
              <a:t>19/02/2019</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132FADFE-3B8F-471C-ABF0-DBC7717ECBBC}" type="slidenum">
              <a:rPr lang="es-ES" smtClean="0"/>
              <a:pPr/>
              <a:t>‹#›</a:t>
            </a:fld>
            <a:endParaRPr lang="es-ES"/>
          </a:p>
        </p:txBody>
      </p:sp>
    </p:spTree>
    <p:extLst>
      <p:ext uri="{BB962C8B-B14F-4D97-AF65-F5344CB8AC3E}">
        <p14:creationId xmlns:p14="http://schemas.microsoft.com/office/powerpoint/2010/main" val="1772551554"/>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A847CFC-816F-41D0-AAC0-9BF4FEBC753E}" type="datetimeFigureOut">
              <a:rPr lang="es-ES" smtClean="0"/>
              <a:pPr/>
              <a:t>19/02/2019</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132FADFE-3B8F-471C-ABF0-DBC7717ECBBC}" type="slidenum">
              <a:rPr lang="es-ES" smtClean="0"/>
              <a:pPr/>
              <a:t>‹#›</a:t>
            </a:fld>
            <a:endParaRPr lang="es-ES"/>
          </a:p>
        </p:txBody>
      </p:sp>
    </p:spTree>
    <p:extLst>
      <p:ext uri="{BB962C8B-B14F-4D97-AF65-F5344CB8AC3E}">
        <p14:creationId xmlns:p14="http://schemas.microsoft.com/office/powerpoint/2010/main" val="17372546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46404" y="758952"/>
            <a:ext cx="7063740" cy="4041648"/>
          </a:xfrm>
        </p:spPr>
        <p:txBody>
          <a:bodyPr anchor="b">
            <a:normAutofit/>
          </a:bodyPr>
          <a:lstStyle>
            <a:lvl1pPr>
              <a:lnSpc>
                <a:spcPct val="85000"/>
              </a:lnSpc>
              <a:defRPr sz="6600" b="0"/>
            </a:lvl1pPr>
          </a:lstStyle>
          <a:p>
            <a:r>
              <a:rPr lang="en-US"/>
              <a:t>Click to edit Master title style</a:t>
            </a:r>
            <a:endParaRPr lang="en-US" dirty="0"/>
          </a:p>
        </p:txBody>
      </p:sp>
      <p:sp>
        <p:nvSpPr>
          <p:cNvPr id="3" name="Text Placeholder 2"/>
          <p:cNvSpPr>
            <a:spLocks noGrp="1"/>
          </p:cNvSpPr>
          <p:nvPr>
            <p:ph type="body" idx="1"/>
          </p:nvPr>
        </p:nvSpPr>
        <p:spPr>
          <a:xfrm>
            <a:off x="946404" y="4800600"/>
            <a:ext cx="7063740" cy="1691640"/>
          </a:xfrm>
        </p:spPr>
        <p:txBody>
          <a:bodyPr anchor="t">
            <a:normAutofit/>
          </a:bodyPr>
          <a:lstStyle>
            <a:lvl1pPr marL="0" indent="0">
              <a:buNone/>
              <a:defRPr sz="2000">
                <a:solidFill>
                  <a:schemeClr val="tx1">
                    <a:lumMod val="6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A847CFC-816F-41D0-AAC0-9BF4FEBC753E}" type="datetimeFigureOut">
              <a:rPr lang="es-ES" smtClean="0"/>
              <a:pPr/>
              <a:t>19/02/2019</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132FADFE-3B8F-471C-ABF0-DBC7717ECBBC}" type="slidenum">
              <a:rPr lang="es-ES" smtClean="0"/>
              <a:pPr/>
              <a:t>‹#›</a:t>
            </a:fld>
            <a:endParaRPr lang="es-ES"/>
          </a:p>
        </p:txBody>
      </p:sp>
      <p:sp>
        <p:nvSpPr>
          <p:cNvPr id="7" name="Rectangle 6"/>
          <p:cNvSpPr/>
          <p:nvPr/>
        </p:nvSpPr>
        <p:spPr>
          <a:xfrm>
            <a:off x="0" y="0"/>
            <a:ext cx="3429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5331354"/>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46404" y="1828801"/>
            <a:ext cx="336042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594860" y="1828801"/>
            <a:ext cx="336042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A847CFC-816F-41D0-AAC0-9BF4FEBC753E}" type="datetimeFigureOut">
              <a:rPr lang="es-ES" smtClean="0"/>
              <a:pPr/>
              <a:t>19/02/2019</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132FADFE-3B8F-471C-ABF0-DBC7717ECBBC}" type="slidenum">
              <a:rPr lang="es-ES" smtClean="0"/>
              <a:pPr/>
              <a:t>‹#›</a:t>
            </a:fld>
            <a:endParaRPr lang="es-ES"/>
          </a:p>
        </p:txBody>
      </p:sp>
    </p:spTree>
    <p:extLst>
      <p:ext uri="{BB962C8B-B14F-4D97-AF65-F5344CB8AC3E}">
        <p14:creationId xmlns:p14="http://schemas.microsoft.com/office/powerpoint/2010/main" val="31327280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946404" y="1717185"/>
            <a:ext cx="3360420" cy="731520"/>
          </a:xfrm>
        </p:spPr>
        <p:txBody>
          <a:bodyPr anchor="b">
            <a:normAutofit/>
          </a:bodyPr>
          <a:lstStyle>
            <a:lvl1pPr marL="0" indent="0">
              <a:spcBef>
                <a:spcPts val="0"/>
              </a:spcBef>
              <a:buNone/>
              <a:defRPr sz="1800" b="0">
                <a:solidFill>
                  <a:schemeClr val="tx1">
                    <a:lumMod val="65000"/>
                  </a:schemeClr>
                </a:solidFill>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946404" y="2507550"/>
            <a:ext cx="336042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0"/>
          <p:cNvSpPr>
            <a:spLocks noGrp="1"/>
          </p:cNvSpPr>
          <p:nvPr>
            <p:ph type="body" sz="quarter" idx="13"/>
          </p:nvPr>
        </p:nvSpPr>
        <p:spPr>
          <a:xfrm>
            <a:off x="4599432" y="1717185"/>
            <a:ext cx="3364992" cy="731520"/>
          </a:xfrm>
        </p:spPr>
        <p:txBody>
          <a:bodyPr anchor="b">
            <a:normAutofit/>
          </a:bodyPr>
          <a:lstStyle>
            <a:lvl1pPr marL="0" indent="0">
              <a:spcBef>
                <a:spcPts val="0"/>
              </a:spcBef>
              <a:buFontTx/>
              <a:buNone/>
              <a:defRPr sz="1800">
                <a:solidFill>
                  <a:schemeClr val="tx1">
                    <a:lumMod val="65000"/>
                  </a:schemeClr>
                </a:solidFill>
              </a:defRPr>
            </a:lvl1pPr>
          </a:lstStyle>
          <a:p>
            <a:pPr lvl="0"/>
            <a:r>
              <a:rPr lang="en-US"/>
              <a:t>Edit Master text styles</a:t>
            </a:r>
          </a:p>
        </p:txBody>
      </p:sp>
      <p:sp>
        <p:nvSpPr>
          <p:cNvPr id="6" name="Content Placeholder 5"/>
          <p:cNvSpPr>
            <a:spLocks noGrp="1"/>
          </p:cNvSpPr>
          <p:nvPr>
            <p:ph sz="quarter" idx="4"/>
          </p:nvPr>
        </p:nvSpPr>
        <p:spPr>
          <a:xfrm>
            <a:off x="4594860" y="2507550"/>
            <a:ext cx="336042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A847CFC-816F-41D0-AAC0-9BF4FEBC753E}" type="datetimeFigureOut">
              <a:rPr lang="es-ES" smtClean="0"/>
              <a:pPr/>
              <a:t>19/02/2019</a:t>
            </a:fld>
            <a:endParaRPr lang="es-ES"/>
          </a:p>
        </p:txBody>
      </p:sp>
      <p:sp>
        <p:nvSpPr>
          <p:cNvPr id="8" name="Footer Placeholder 7"/>
          <p:cNvSpPr>
            <a:spLocks noGrp="1"/>
          </p:cNvSpPr>
          <p:nvPr>
            <p:ph type="ftr" sz="quarter" idx="11"/>
          </p:nvPr>
        </p:nvSpPr>
        <p:spPr/>
        <p:txBody>
          <a:bodyPr/>
          <a:lstStyle/>
          <a:p>
            <a:endParaRPr lang="es-ES"/>
          </a:p>
        </p:txBody>
      </p:sp>
      <p:sp>
        <p:nvSpPr>
          <p:cNvPr id="9" name="Slide Number Placeholder 8"/>
          <p:cNvSpPr>
            <a:spLocks noGrp="1"/>
          </p:cNvSpPr>
          <p:nvPr>
            <p:ph type="sldNum" sz="quarter" idx="12"/>
          </p:nvPr>
        </p:nvSpPr>
        <p:spPr/>
        <p:txBody>
          <a:bodyPr/>
          <a:lstStyle/>
          <a:p>
            <a:fld id="{132FADFE-3B8F-471C-ABF0-DBC7717ECBBC}" type="slidenum">
              <a:rPr lang="es-ES" smtClean="0"/>
              <a:pPr/>
              <a:t>‹#›</a:t>
            </a:fld>
            <a:endParaRPr lang="es-ES"/>
          </a:p>
        </p:txBody>
      </p:sp>
    </p:spTree>
    <p:extLst>
      <p:ext uri="{BB962C8B-B14F-4D97-AF65-F5344CB8AC3E}">
        <p14:creationId xmlns:p14="http://schemas.microsoft.com/office/powerpoint/2010/main" val="27823431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A847CFC-816F-41D0-AAC0-9BF4FEBC753E}" type="datetimeFigureOut">
              <a:rPr lang="es-ES" smtClean="0"/>
              <a:pPr/>
              <a:t>19/02/2019</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132FADFE-3B8F-471C-ABF0-DBC7717ECBBC}" type="slidenum">
              <a:rPr lang="es-ES" smtClean="0"/>
              <a:pPr/>
              <a:t>‹#›</a:t>
            </a:fld>
            <a:endParaRPr lang="es-ES"/>
          </a:p>
        </p:txBody>
      </p:sp>
    </p:spTree>
    <p:extLst>
      <p:ext uri="{BB962C8B-B14F-4D97-AF65-F5344CB8AC3E}">
        <p14:creationId xmlns:p14="http://schemas.microsoft.com/office/powerpoint/2010/main" val="38331609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A847CFC-816F-41D0-AAC0-9BF4FEBC753E}" type="datetimeFigureOut">
              <a:rPr lang="es-ES" smtClean="0"/>
              <a:pPr/>
              <a:t>19/02/2019</a:t>
            </a:fld>
            <a:endParaRPr lang="es-ES"/>
          </a:p>
        </p:txBody>
      </p:sp>
      <p:sp>
        <p:nvSpPr>
          <p:cNvPr id="3" name="Footer Placeholder 2"/>
          <p:cNvSpPr>
            <a:spLocks noGrp="1"/>
          </p:cNvSpPr>
          <p:nvPr>
            <p:ph type="ftr" sz="quarter" idx="11"/>
          </p:nvPr>
        </p:nvSpPr>
        <p:spPr/>
        <p:txBody>
          <a:bodyPr/>
          <a:lstStyle/>
          <a:p>
            <a:endParaRPr lang="es-ES"/>
          </a:p>
        </p:txBody>
      </p:sp>
      <p:sp>
        <p:nvSpPr>
          <p:cNvPr id="4" name="Slide Number Placeholder 3"/>
          <p:cNvSpPr>
            <a:spLocks noGrp="1"/>
          </p:cNvSpPr>
          <p:nvPr>
            <p:ph type="sldNum" sz="quarter" idx="12"/>
          </p:nvPr>
        </p:nvSpPr>
        <p:spPr/>
        <p:txBody>
          <a:bodyPr/>
          <a:lstStyle/>
          <a:p>
            <a:fld id="{132FADFE-3B8F-471C-ABF0-DBC7717ECBBC}" type="slidenum">
              <a:rPr lang="es-ES" smtClean="0"/>
              <a:pPr/>
              <a:t>‹#›</a:t>
            </a:fld>
            <a:endParaRPr lang="es-ES"/>
          </a:p>
        </p:txBody>
      </p:sp>
    </p:spTree>
    <p:extLst>
      <p:ext uri="{BB962C8B-B14F-4D97-AF65-F5344CB8AC3E}">
        <p14:creationId xmlns:p14="http://schemas.microsoft.com/office/powerpoint/2010/main" val="23123912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936" y="457201"/>
            <a:ext cx="2400300" cy="1600197"/>
          </a:xfrm>
        </p:spPr>
        <p:txBody>
          <a:bodyPr anchor="b">
            <a:normAutofit/>
          </a:bodyPr>
          <a:lstStyle>
            <a:lvl1pPr>
              <a:defRPr sz="2800" b="0" baseline="0"/>
            </a:lvl1pPr>
          </a:lstStyle>
          <a:p>
            <a:r>
              <a:rPr lang="en-US"/>
              <a:t>Click to edit Master title style</a:t>
            </a:r>
            <a:endParaRPr lang="en-US" dirty="0"/>
          </a:p>
        </p:txBody>
      </p:sp>
      <p:sp>
        <p:nvSpPr>
          <p:cNvPr id="3" name="Content Placeholder 2"/>
          <p:cNvSpPr>
            <a:spLocks noGrp="1"/>
          </p:cNvSpPr>
          <p:nvPr>
            <p:ph idx="1"/>
          </p:nvPr>
        </p:nvSpPr>
        <p:spPr>
          <a:xfrm>
            <a:off x="3378200" y="685800"/>
            <a:ext cx="4559300" cy="54864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30936" y="2099735"/>
            <a:ext cx="24003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A847CFC-816F-41D0-AAC0-9BF4FEBC753E}" type="datetimeFigureOut">
              <a:rPr lang="es-ES" smtClean="0"/>
              <a:pPr/>
              <a:t>19/02/2019</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132FADFE-3B8F-471C-ABF0-DBC7717ECBBC}" type="slidenum">
              <a:rPr lang="es-ES" smtClean="0"/>
              <a:pPr/>
              <a:t>‹#›</a:t>
            </a:fld>
            <a:endParaRPr lang="es-ES"/>
          </a:p>
        </p:txBody>
      </p:sp>
    </p:spTree>
    <p:extLst>
      <p:ext uri="{BB962C8B-B14F-4D97-AF65-F5344CB8AC3E}">
        <p14:creationId xmlns:p14="http://schemas.microsoft.com/office/powerpoint/2010/main" val="16305235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846963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5800" y="5257800"/>
            <a:ext cx="7486650" cy="914400"/>
          </a:xfrm>
        </p:spPr>
        <p:txBody>
          <a:bodyPr anchor="b">
            <a:normAutofit/>
          </a:bodyPr>
          <a:lstStyle>
            <a:lvl1pPr>
              <a:defRPr sz="2800" b="0">
                <a:solidFill>
                  <a:schemeClr val="tx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8469630" cy="512892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6108590"/>
            <a:ext cx="7486650" cy="597011"/>
          </a:xfrm>
        </p:spPr>
        <p:txBody>
          <a:bodyPr>
            <a:normAutofit/>
          </a:bodyPr>
          <a:lstStyle>
            <a:lvl1pPr marL="0" indent="0">
              <a:lnSpc>
                <a:spcPct val="100000"/>
              </a:lnSpc>
              <a:spcBef>
                <a:spcPts val="800"/>
              </a:spcBef>
              <a:buNone/>
              <a:defRPr sz="1300">
                <a:solidFill>
                  <a:schemeClr val="tx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A847CFC-816F-41D0-AAC0-9BF4FEBC753E}" type="datetimeFigureOut">
              <a:rPr lang="es-ES" smtClean="0"/>
              <a:pPr/>
              <a:t>19/02/2019</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132FADFE-3B8F-471C-ABF0-DBC7717ECBBC}" type="slidenum">
              <a:rPr lang="es-ES" smtClean="0"/>
              <a:pPr/>
              <a:t>‹#›</a:t>
            </a:fld>
            <a:endParaRPr lang="es-ES"/>
          </a:p>
        </p:txBody>
      </p:sp>
    </p:spTree>
    <p:extLst>
      <p:ext uri="{BB962C8B-B14F-4D97-AF65-F5344CB8AC3E}">
        <p14:creationId xmlns:p14="http://schemas.microsoft.com/office/powerpoint/2010/main" val="24418204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A847CFC-816F-41D0-AAC0-9BF4FEBC753E}" type="datetimeFigureOut">
              <a:rPr lang="es-ES" smtClean="0"/>
              <a:pPr/>
              <a:t>19/02/2019</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132FADFE-3B8F-471C-ABF0-DBC7717ECBBC}" type="slidenum">
              <a:rPr lang="es-ES" smtClean="0"/>
              <a:pPr/>
              <a:t>‹#›</a:t>
            </a:fld>
            <a:endParaRPr lang="es-ES"/>
          </a:p>
        </p:txBody>
      </p:sp>
    </p:spTree>
    <p:extLst>
      <p:ext uri="{BB962C8B-B14F-4D97-AF65-F5344CB8AC3E}">
        <p14:creationId xmlns:p14="http://schemas.microsoft.com/office/powerpoint/2010/main" val="99035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486525" y="381000"/>
            <a:ext cx="1857375"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571500" y="381000"/>
            <a:ext cx="5800725" cy="5897562"/>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A847CFC-816F-41D0-AAC0-9BF4FEBC753E}" type="datetimeFigureOut">
              <a:rPr lang="es-ES" smtClean="0"/>
              <a:pPr/>
              <a:t>19/02/2019</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132FADFE-3B8F-471C-ABF0-DBC7717ECBBC}" type="slidenum">
              <a:rPr lang="es-ES" smtClean="0"/>
              <a:pPr/>
              <a:t>‹#›</a:t>
            </a:fld>
            <a:endParaRPr lang="es-ES"/>
          </a:p>
        </p:txBody>
      </p:sp>
    </p:spTree>
    <p:extLst>
      <p:ext uri="{BB962C8B-B14F-4D97-AF65-F5344CB8AC3E}">
        <p14:creationId xmlns:p14="http://schemas.microsoft.com/office/powerpoint/2010/main" val="872753046"/>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8418195" y="0"/>
            <a:ext cx="73152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946404" y="365760"/>
            <a:ext cx="726948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946404" y="1828801"/>
            <a:ext cx="6446520" cy="4351337"/>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7831456" y="1044178"/>
            <a:ext cx="1904999" cy="273844"/>
          </a:xfrm>
          <a:prstGeom prst="rect">
            <a:avLst/>
          </a:prstGeom>
        </p:spPr>
        <p:txBody>
          <a:bodyPr vert="horz" lIns="91440" tIns="45720" rIns="91440" bIns="45720" rtlCol="0" anchor="ctr"/>
          <a:lstStyle>
            <a:lvl1pPr algn="r">
              <a:defRPr sz="1050" b="0">
                <a:solidFill>
                  <a:srgbClr val="969696"/>
                </a:solidFill>
              </a:defRPr>
            </a:lvl1pPr>
          </a:lstStyle>
          <a:p>
            <a:fld id="{7A847CFC-816F-41D0-AAC0-9BF4FEBC753E}" type="datetimeFigureOut">
              <a:rPr lang="es-ES" smtClean="0"/>
              <a:pPr/>
              <a:t>19/02/2019</a:t>
            </a:fld>
            <a:endParaRPr lang="es-ES"/>
          </a:p>
        </p:txBody>
      </p:sp>
      <p:sp>
        <p:nvSpPr>
          <p:cNvPr id="5" name="Footer Placeholder 4"/>
          <p:cNvSpPr>
            <a:spLocks noGrp="1"/>
          </p:cNvSpPr>
          <p:nvPr>
            <p:ph type="ftr" sz="quarter" idx="3"/>
          </p:nvPr>
        </p:nvSpPr>
        <p:spPr>
          <a:xfrm rot="16200000">
            <a:off x="6993255" y="4092178"/>
            <a:ext cx="3581400" cy="273844"/>
          </a:xfrm>
          <a:prstGeom prst="rect">
            <a:avLst/>
          </a:prstGeom>
        </p:spPr>
        <p:txBody>
          <a:bodyPr vert="horz" lIns="91440" tIns="45720" rIns="91440" bIns="45720" rtlCol="0" anchor="ctr"/>
          <a:lstStyle>
            <a:lvl1pPr algn="l">
              <a:defRPr sz="1050">
                <a:solidFill>
                  <a:schemeClr val="tx1">
                    <a:lumMod val="65000"/>
                  </a:schemeClr>
                </a:solidFill>
              </a:defRPr>
            </a:lvl1pPr>
          </a:lstStyle>
          <a:p>
            <a:endParaRPr lang="es-ES"/>
          </a:p>
        </p:txBody>
      </p:sp>
      <p:sp>
        <p:nvSpPr>
          <p:cNvPr id="6" name="Slide Number Placeholder 5"/>
          <p:cNvSpPr>
            <a:spLocks noGrp="1"/>
          </p:cNvSpPr>
          <p:nvPr>
            <p:ph type="sldNum" sz="quarter" idx="4"/>
          </p:nvPr>
        </p:nvSpPr>
        <p:spPr>
          <a:xfrm>
            <a:off x="8441055" y="6172201"/>
            <a:ext cx="685800" cy="593725"/>
          </a:xfrm>
          <a:prstGeom prst="rect">
            <a:avLst/>
          </a:prstGeom>
        </p:spPr>
        <p:txBody>
          <a:bodyPr vert="horz" lIns="27432" tIns="45720" rIns="27432" bIns="45720" rtlCol="0" anchor="ctr">
            <a:normAutofit/>
          </a:bodyPr>
          <a:lstStyle>
            <a:lvl1pPr algn="ctr">
              <a:defRPr sz="3200">
                <a:solidFill>
                  <a:srgbClr val="777777"/>
                </a:solidFill>
              </a:defRPr>
            </a:lvl1pPr>
          </a:lstStyle>
          <a:p>
            <a:fld id="{132FADFE-3B8F-471C-ABF0-DBC7717ECBBC}" type="slidenum">
              <a:rPr lang="es-ES" smtClean="0"/>
              <a:pPr/>
              <a:t>‹#›</a:t>
            </a:fld>
            <a:endParaRPr lang="es-ES"/>
          </a:p>
        </p:txBody>
      </p:sp>
    </p:spTree>
    <p:extLst>
      <p:ext uri="{BB962C8B-B14F-4D97-AF65-F5344CB8AC3E}">
        <p14:creationId xmlns:p14="http://schemas.microsoft.com/office/powerpoint/2010/main" val="2776957067"/>
      </p:ext>
    </p:extLst>
  </p:cSld>
  <p:clrMap bg1="dk1" tx1="lt1" bg2="dk2" tx2="lt2" accent1="accent1" accent2="accent2" accent3="accent3" accent4="accent4" accent5="accent5" accent6="accent6" hlink="hlink" folHlink="folHlink"/>
  <p:sldLayoutIdLst>
    <p:sldLayoutId id="2147483781" r:id="rId1"/>
    <p:sldLayoutId id="2147483782" r:id="rId2"/>
    <p:sldLayoutId id="2147483783" r:id="rId3"/>
    <p:sldLayoutId id="2147483784" r:id="rId4"/>
    <p:sldLayoutId id="2147483785" r:id="rId5"/>
    <p:sldLayoutId id="2147483786" r:id="rId6"/>
    <p:sldLayoutId id="2147483787" r:id="rId7"/>
    <p:sldLayoutId id="2147483788" r:id="rId8"/>
    <p:sldLayoutId id="2147483789" r:id="rId9"/>
    <p:sldLayoutId id="2147483790" r:id="rId10"/>
    <p:sldLayoutId id="2147483791" r:id="rId11"/>
  </p:sldLayoutIdLst>
  <p:txStyles>
    <p:titleStyle>
      <a:lvl1pPr algn="l" defTabSz="914400" rtl="0" eaLnBrk="1" latinLnBrk="0" hangingPunct="1">
        <a:lnSpc>
          <a:spcPct val="90000"/>
        </a:lnSpc>
        <a:spcBef>
          <a:spcPct val="0"/>
        </a:spcBef>
        <a:buNone/>
        <a:defRPr sz="40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ctrTitle"/>
          </p:nvPr>
        </p:nvSpPr>
        <p:spPr>
          <a:xfrm>
            <a:off x="2286000" y="4143380"/>
            <a:ext cx="6643718" cy="1500198"/>
          </a:xfrm>
        </p:spPr>
        <p:txBody>
          <a:bodyPr>
            <a:normAutofit fontScale="90000"/>
          </a:bodyPr>
          <a:lstStyle/>
          <a:p>
            <a:r>
              <a:rPr lang="es-PE" dirty="0"/>
              <a:t>Las tecnologías de la Información y La Comunicación</a:t>
            </a:r>
            <a:r>
              <a:rPr lang="es-PE" dirty="0">
                <a:solidFill>
                  <a:schemeClr val="accent2">
                    <a:lumMod val="75000"/>
                  </a:schemeClr>
                </a:solidFill>
              </a:rPr>
              <a:t>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PE" dirty="0">
                <a:solidFill>
                  <a:srgbClr val="FF0000"/>
                </a:solidFill>
              </a:rPr>
              <a:t>Tecnologías</a:t>
            </a:r>
          </a:p>
        </p:txBody>
      </p:sp>
      <p:sp>
        <p:nvSpPr>
          <p:cNvPr id="3" name="2 Marcador de contenido"/>
          <p:cNvSpPr>
            <a:spLocks noGrp="1"/>
          </p:cNvSpPr>
          <p:nvPr>
            <p:ph idx="1"/>
          </p:nvPr>
        </p:nvSpPr>
        <p:spPr/>
        <p:txBody>
          <a:bodyPr>
            <a:normAutofit lnSpcReduction="10000"/>
          </a:bodyPr>
          <a:lstStyle/>
          <a:p>
            <a:r>
              <a:rPr lang="es-PE" dirty="0">
                <a:solidFill>
                  <a:schemeClr val="accent2">
                    <a:lumMod val="75000"/>
                  </a:schemeClr>
                </a:solidFill>
              </a:rPr>
              <a:t>Tecnología de la Comunicación</a:t>
            </a:r>
          </a:p>
          <a:p>
            <a:pPr>
              <a:buNone/>
            </a:pPr>
            <a:r>
              <a:rPr lang="es-PE" dirty="0"/>
              <a:t>	Permite agrupar herramientas tecnológicas como la transmisión, el tiempo, y la conectividad.</a:t>
            </a:r>
          </a:p>
          <a:p>
            <a:r>
              <a:rPr lang="es-PE" dirty="0">
                <a:solidFill>
                  <a:schemeClr val="accent2">
                    <a:lumMod val="75000"/>
                  </a:schemeClr>
                </a:solidFill>
              </a:rPr>
              <a:t>Tecnología de la Información</a:t>
            </a:r>
          </a:p>
          <a:p>
            <a:pPr>
              <a:buNone/>
            </a:pPr>
            <a:r>
              <a:rPr lang="es-PE" dirty="0"/>
              <a:t>	Es el manejo de los datos tecnológicos, compuesto de hardware y software</a:t>
            </a:r>
          </a:p>
          <a:p>
            <a:r>
              <a:rPr lang="es-PE" dirty="0">
                <a:solidFill>
                  <a:schemeClr val="accent2">
                    <a:lumMod val="75000"/>
                  </a:schemeClr>
                </a:solidFill>
              </a:rPr>
              <a:t>Tecnología de la Información y la comunicación</a:t>
            </a:r>
          </a:p>
          <a:p>
            <a:pPr>
              <a:buNone/>
            </a:pPr>
            <a:r>
              <a:rPr lang="es-PE" dirty="0"/>
              <a:t>	Es el resultado de estas dos tecnologías.</a:t>
            </a:r>
          </a:p>
          <a:p>
            <a:pPr>
              <a:buNone/>
            </a:pPr>
            <a:r>
              <a:rPr lang="es-PE" dirty="0"/>
              <a:t>	Según la </a:t>
            </a:r>
            <a:r>
              <a:rPr lang="es-PE" dirty="0" err="1"/>
              <a:t>Information</a:t>
            </a:r>
            <a:r>
              <a:rPr lang="es-PE" dirty="0"/>
              <a:t> </a:t>
            </a:r>
            <a:r>
              <a:rPr lang="es-PE" dirty="0" err="1"/>
              <a:t>Technology</a:t>
            </a:r>
            <a:r>
              <a:rPr lang="es-PE" dirty="0"/>
              <a:t> </a:t>
            </a:r>
            <a:r>
              <a:rPr lang="es-PE" dirty="0" err="1"/>
              <a:t>Association</a:t>
            </a:r>
            <a:r>
              <a:rPr lang="es-PE" dirty="0"/>
              <a:t> of </a:t>
            </a:r>
            <a:r>
              <a:rPr lang="es-PE" dirty="0" err="1"/>
              <a:t>America</a:t>
            </a:r>
            <a:r>
              <a:rPr lang="es-PE" dirty="0"/>
              <a:t> es: “El estudio, el diseño, el desarrollo, el fomento, el </a:t>
            </a:r>
            <a:r>
              <a:rPr lang="es-PE" dirty="0" err="1"/>
              <a:t>matenimiento</a:t>
            </a:r>
            <a:r>
              <a:rPr lang="es-PE" dirty="0"/>
              <a:t> y la administración de la información por medio de sistemas informáticos”</a:t>
            </a:r>
          </a:p>
          <a:p>
            <a:pPr>
              <a:buNone/>
            </a:pPr>
            <a:endParaRPr lang="es-PE" dirty="0">
              <a:solidFill>
                <a:schemeClr val="accent2">
                  <a:lumMod val="75000"/>
                </a:schemeClr>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20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normAutofit/>
          </a:bodyPr>
          <a:lstStyle/>
          <a:p>
            <a:r>
              <a:rPr lang="es-PE" dirty="0">
                <a:solidFill>
                  <a:srgbClr val="FF0000"/>
                </a:solidFill>
                <a:latin typeface="Arial" pitchFamily="34" charset="0"/>
                <a:cs typeface="Arial" pitchFamily="34" charset="0"/>
              </a:rPr>
              <a:t>¿Qué son las </a:t>
            </a:r>
            <a:r>
              <a:rPr lang="es-PE" dirty="0" err="1">
                <a:solidFill>
                  <a:srgbClr val="FF0000"/>
                </a:solidFill>
                <a:latin typeface="Arial" pitchFamily="34" charset="0"/>
                <a:cs typeface="Arial" pitchFamily="34" charset="0"/>
              </a:rPr>
              <a:t>TIC’s</a:t>
            </a:r>
            <a:r>
              <a:rPr lang="es-PE" dirty="0">
                <a:solidFill>
                  <a:srgbClr val="FF0000"/>
                </a:solidFill>
                <a:latin typeface="Arial" pitchFamily="34" charset="0"/>
                <a:cs typeface="Arial" pitchFamily="34" charset="0"/>
              </a:rPr>
              <a:t>? </a:t>
            </a:r>
            <a:br>
              <a:rPr lang="es-PE" dirty="0"/>
            </a:br>
            <a:endParaRPr lang="es-PE" dirty="0"/>
          </a:p>
        </p:txBody>
      </p:sp>
      <p:sp>
        <p:nvSpPr>
          <p:cNvPr id="3" name="2 Marcador de contenido"/>
          <p:cNvSpPr>
            <a:spLocks noGrp="1"/>
          </p:cNvSpPr>
          <p:nvPr>
            <p:ph idx="1"/>
          </p:nvPr>
        </p:nvSpPr>
        <p:spPr>
          <a:xfrm>
            <a:off x="571472" y="1142984"/>
            <a:ext cx="7467600" cy="5143536"/>
          </a:xfrm>
        </p:spPr>
        <p:txBody>
          <a:bodyPr>
            <a:normAutofit/>
          </a:bodyPr>
          <a:lstStyle/>
          <a:p>
            <a:pPr algn="just"/>
            <a:r>
              <a:rPr lang="es-PE" sz="2400" dirty="0">
                <a:latin typeface="Arial" pitchFamily="34" charset="0"/>
                <a:cs typeface="Arial" pitchFamily="34" charset="0"/>
              </a:rPr>
              <a:t>Son tecnologías de la información y de comunicaciones, constan de equipos de programas informáticos y medios de comunicación para reunir, almacenar, procesar, transmitir y presentar información en cualquier formato es decir voz, datos, textos e imágenes.</a:t>
            </a:r>
          </a:p>
          <a:p>
            <a:pPr algn="just"/>
            <a:endParaRPr lang="es-PE" sz="2400" dirty="0">
              <a:latin typeface="Arial" pitchFamily="34" charset="0"/>
              <a:cs typeface="Arial" pitchFamily="34" charset="0"/>
            </a:endParaRPr>
          </a:p>
          <a:p>
            <a:pPr algn="just"/>
            <a:r>
              <a:rPr lang="es-PE" sz="2400" dirty="0">
                <a:latin typeface="Arial" pitchFamily="34" charset="0"/>
                <a:cs typeface="Arial" pitchFamily="34" charset="0"/>
              </a:rPr>
              <a:t>Las TIC son aquellas tecnologías que permiten transmitir, procesar y difundir información de manera instantánea. Son consideradas la base para reducir la Brecha Digital sobre la que se tiene que construir una Sociedad de la Información y una Economía del Conocimiento.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2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CR" dirty="0">
                <a:solidFill>
                  <a:srgbClr val="FF0000"/>
                </a:solidFill>
              </a:rPr>
              <a:t>TIC</a:t>
            </a:r>
          </a:p>
        </p:txBody>
      </p:sp>
      <p:sp>
        <p:nvSpPr>
          <p:cNvPr id="3" name="2 Marcador de contenido"/>
          <p:cNvSpPr>
            <a:spLocks noGrp="1"/>
          </p:cNvSpPr>
          <p:nvPr>
            <p:ph idx="1"/>
          </p:nvPr>
        </p:nvSpPr>
        <p:spPr/>
        <p:txBody>
          <a:bodyPr>
            <a:normAutofit/>
          </a:bodyPr>
          <a:lstStyle/>
          <a:p>
            <a:pPr algn="just"/>
            <a:r>
              <a:rPr lang="es-CR" sz="2200" dirty="0">
                <a:latin typeface="Arial" pitchFamily="34" charset="0"/>
                <a:cs typeface="Arial" pitchFamily="34" charset="0"/>
              </a:rPr>
              <a:t>Tecnología de la información y la comunicación.</a:t>
            </a:r>
          </a:p>
          <a:p>
            <a:pPr algn="just"/>
            <a:r>
              <a:rPr lang="es-CR" sz="2200" dirty="0">
                <a:latin typeface="Arial" pitchFamily="34" charset="0"/>
                <a:cs typeface="Arial" pitchFamily="34" charset="0"/>
              </a:rPr>
              <a:t>Son elementos y técnicas usados para la trasmisión  de las informaciones , principalmente  de informática , internet, y telecomunicaciones</a:t>
            </a:r>
            <a:r>
              <a:rPr lang="es-CR" sz="2200" dirty="0"/>
              <a:t>.</a:t>
            </a:r>
          </a:p>
          <a:p>
            <a:pPr algn="just"/>
            <a:r>
              <a:rPr lang="es-ES" sz="2200" dirty="0">
                <a:latin typeface="Arial" pitchFamily="34" charset="0"/>
                <a:cs typeface="Arial" pitchFamily="34" charset="0"/>
              </a:rPr>
              <a:t>Técnicas usadas para conseguir, recibir, adquirir, procesar, guardar y diseminar información numérica, textual, pictórica, audible, visible (multimedia) a través de accesorios o dispositivos basados en combinación de la microelectrónica, la computación y las telecomunicaciones</a:t>
            </a:r>
            <a:endParaRPr lang="es-CR" sz="2200" dirty="0">
              <a:latin typeface="Arial" pitchFamily="34" charset="0"/>
              <a:cs typeface="Arial" pitchFamily="34" charset="0"/>
            </a:endParaRPr>
          </a:p>
          <a:p>
            <a:pPr algn="just"/>
            <a:endParaRPr lang="es-CR" dirty="0"/>
          </a:p>
          <a:p>
            <a:endParaRPr lang="es-C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CR" dirty="0">
                <a:solidFill>
                  <a:srgbClr val="FF0000"/>
                </a:solidFill>
              </a:rPr>
              <a:t>Las redes</a:t>
            </a:r>
          </a:p>
        </p:txBody>
      </p:sp>
      <p:sp>
        <p:nvSpPr>
          <p:cNvPr id="3" name="2 Marcador de contenido"/>
          <p:cNvSpPr>
            <a:spLocks noGrp="1"/>
          </p:cNvSpPr>
          <p:nvPr>
            <p:ph idx="1"/>
          </p:nvPr>
        </p:nvSpPr>
        <p:spPr/>
        <p:txBody>
          <a:bodyPr/>
          <a:lstStyle/>
          <a:p>
            <a:r>
              <a:rPr lang="es-CR" sz="2400" dirty="0">
                <a:latin typeface="Arial" pitchFamily="34" charset="0"/>
                <a:cs typeface="Arial" pitchFamily="34" charset="0"/>
              </a:rPr>
              <a:t>Telefonía fija</a:t>
            </a:r>
          </a:p>
          <a:p>
            <a:r>
              <a:rPr lang="es-CR" sz="2400" dirty="0">
                <a:latin typeface="Arial" pitchFamily="34" charset="0"/>
                <a:cs typeface="Arial" pitchFamily="34" charset="0"/>
              </a:rPr>
              <a:t>Banda ancha</a:t>
            </a:r>
          </a:p>
          <a:p>
            <a:r>
              <a:rPr lang="es-CR" sz="2400" dirty="0">
                <a:latin typeface="Arial" pitchFamily="34" charset="0"/>
                <a:cs typeface="Arial" pitchFamily="34" charset="0"/>
              </a:rPr>
              <a:t>telefonía móvil</a:t>
            </a:r>
          </a:p>
          <a:p>
            <a:r>
              <a:rPr lang="es-CR" sz="2400" dirty="0">
                <a:latin typeface="Arial" pitchFamily="34" charset="0"/>
                <a:cs typeface="Arial" pitchFamily="34" charset="0"/>
              </a:rPr>
              <a:t>Redes de televisión</a:t>
            </a:r>
          </a:p>
          <a:p>
            <a:r>
              <a:rPr lang="es-CR" sz="2400" dirty="0">
                <a:latin typeface="Arial" pitchFamily="34" charset="0"/>
                <a:cs typeface="Arial" pitchFamily="34" charset="0"/>
              </a:rPr>
              <a:t>Redes en el hogar</a:t>
            </a:r>
          </a:p>
          <a:p>
            <a:endParaRPr lang="es-CR" dirty="0"/>
          </a:p>
          <a:p>
            <a:endParaRPr lang="es-C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CR" dirty="0">
                <a:solidFill>
                  <a:srgbClr val="FF0000"/>
                </a:solidFill>
              </a:rPr>
              <a:t>Las tecnologías</a:t>
            </a:r>
            <a:r>
              <a:rPr lang="es-CR" dirty="0"/>
              <a:t>.</a:t>
            </a:r>
          </a:p>
        </p:txBody>
      </p:sp>
      <p:sp>
        <p:nvSpPr>
          <p:cNvPr id="3" name="2 Marcador de contenido"/>
          <p:cNvSpPr>
            <a:spLocks noGrp="1"/>
          </p:cNvSpPr>
          <p:nvPr>
            <p:ph idx="1"/>
          </p:nvPr>
        </p:nvSpPr>
        <p:spPr/>
        <p:txBody>
          <a:bodyPr/>
          <a:lstStyle/>
          <a:p>
            <a:r>
              <a:rPr lang="es-ES" sz="2400" dirty="0">
                <a:latin typeface="Arial" pitchFamily="34" charset="0"/>
                <a:cs typeface="Arial" pitchFamily="34" charset="0"/>
              </a:rPr>
              <a:t>Se puede reagrupar las TIC según:</a:t>
            </a:r>
          </a:p>
          <a:p>
            <a:r>
              <a:rPr lang="es-ES" sz="2400" dirty="0">
                <a:latin typeface="Arial" pitchFamily="34" charset="0"/>
                <a:cs typeface="Arial" pitchFamily="34" charset="0"/>
              </a:rPr>
              <a:t>Las redes.</a:t>
            </a:r>
          </a:p>
          <a:p>
            <a:r>
              <a:rPr lang="es-ES" sz="2400" dirty="0">
                <a:latin typeface="Arial" pitchFamily="34" charset="0"/>
                <a:cs typeface="Arial" pitchFamily="34" charset="0"/>
              </a:rPr>
              <a:t>Los terminales.</a:t>
            </a:r>
          </a:p>
          <a:p>
            <a:r>
              <a:rPr lang="es-ES" sz="2400" dirty="0">
                <a:latin typeface="Arial" pitchFamily="34" charset="0"/>
                <a:cs typeface="Arial" pitchFamily="34" charset="0"/>
              </a:rPr>
              <a:t>Los servicios.</a:t>
            </a:r>
          </a:p>
          <a:p>
            <a:endParaRPr lang="es-C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CR" dirty="0">
                <a:solidFill>
                  <a:srgbClr val="FF0000"/>
                </a:solidFill>
              </a:rPr>
              <a:t>Las terminales</a:t>
            </a:r>
          </a:p>
        </p:txBody>
      </p:sp>
      <p:sp>
        <p:nvSpPr>
          <p:cNvPr id="3" name="2 Marcador de contenido"/>
          <p:cNvSpPr>
            <a:spLocks noGrp="1"/>
          </p:cNvSpPr>
          <p:nvPr>
            <p:ph idx="1"/>
          </p:nvPr>
        </p:nvSpPr>
        <p:spPr/>
        <p:txBody>
          <a:bodyPr>
            <a:normAutofit/>
          </a:bodyPr>
          <a:lstStyle/>
          <a:p>
            <a:pPr algn="just"/>
            <a:r>
              <a:rPr lang="es-ES" sz="2400" dirty="0">
                <a:latin typeface="Arial" pitchFamily="34" charset="0"/>
                <a:cs typeface="Arial" pitchFamily="34" charset="0"/>
              </a:rPr>
              <a:t>Los terminales actúan como punto de acceso de los ciudadanos a la Sociedad de la Información y por eso son de suma importancia y son uno de los elementos que más han evolucionado y evolucionan: es continúa la aparición de terminales que permiten aprovechar la digitalización de la información y la creciente disponibilidad de infraestructuras por intercambio de esta información digital</a:t>
            </a:r>
            <a:endParaRPr lang="es-CR" sz="2400" dirty="0">
              <a:latin typeface="Arial" pitchFamily="34" charset="0"/>
              <a:cs typeface="Arial"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CR" dirty="0">
                <a:solidFill>
                  <a:srgbClr val="FF0000"/>
                </a:solidFill>
              </a:rPr>
              <a:t>Terminales</a:t>
            </a:r>
          </a:p>
        </p:txBody>
      </p:sp>
      <p:sp>
        <p:nvSpPr>
          <p:cNvPr id="3" name="2 Marcador de contenido"/>
          <p:cNvSpPr>
            <a:spLocks noGrp="1"/>
          </p:cNvSpPr>
          <p:nvPr>
            <p:ph idx="1"/>
          </p:nvPr>
        </p:nvSpPr>
        <p:spPr/>
        <p:txBody>
          <a:bodyPr/>
          <a:lstStyle/>
          <a:p>
            <a:r>
              <a:rPr lang="es-CR" sz="2400" dirty="0">
                <a:latin typeface="Arial" pitchFamily="34" charset="0"/>
                <a:cs typeface="Arial" pitchFamily="34" charset="0"/>
              </a:rPr>
              <a:t>Ordenador personal.</a:t>
            </a:r>
          </a:p>
          <a:p>
            <a:r>
              <a:rPr lang="es-CR" sz="2400" dirty="0">
                <a:latin typeface="Arial" pitchFamily="34" charset="0"/>
                <a:cs typeface="Arial" pitchFamily="34" charset="0"/>
              </a:rPr>
              <a:t>Navegador de internet</a:t>
            </a:r>
          </a:p>
          <a:p>
            <a:r>
              <a:rPr lang="es-CR" sz="2400" dirty="0">
                <a:latin typeface="Arial" pitchFamily="34" charset="0"/>
                <a:cs typeface="Arial" pitchFamily="34" charset="0"/>
              </a:rPr>
              <a:t>Teléfono móvil</a:t>
            </a:r>
          </a:p>
          <a:p>
            <a:r>
              <a:rPr lang="es-CR" sz="2400" dirty="0">
                <a:latin typeface="Arial" pitchFamily="34" charset="0"/>
                <a:cs typeface="Arial" pitchFamily="34" charset="0"/>
              </a:rPr>
              <a:t>Televisor(LED-LCD)</a:t>
            </a:r>
          </a:p>
          <a:p>
            <a:r>
              <a:rPr lang="es-CR" sz="2400" dirty="0">
                <a:latin typeface="Arial" pitchFamily="34" charset="0"/>
                <a:cs typeface="Arial" pitchFamily="34" charset="0"/>
              </a:rPr>
              <a:t>Reproductores portátiles de audio y video</a:t>
            </a:r>
          </a:p>
          <a:p>
            <a:r>
              <a:rPr lang="es-CR" sz="2400" dirty="0">
                <a:latin typeface="Arial" pitchFamily="34" charset="0"/>
                <a:cs typeface="Arial" pitchFamily="34" charset="0"/>
              </a:rPr>
              <a:t>Consolas de juego</a:t>
            </a:r>
          </a:p>
          <a:p>
            <a:endParaRPr lang="es-CR" dirty="0"/>
          </a:p>
          <a:p>
            <a:endParaRPr lang="es-C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CR" dirty="0">
                <a:solidFill>
                  <a:srgbClr val="FF0000"/>
                </a:solidFill>
              </a:rPr>
              <a:t>Servicios de las TIC</a:t>
            </a:r>
          </a:p>
        </p:txBody>
      </p:sp>
      <p:sp>
        <p:nvSpPr>
          <p:cNvPr id="3" name="2 Marcador de contenido"/>
          <p:cNvSpPr>
            <a:spLocks noGrp="1"/>
          </p:cNvSpPr>
          <p:nvPr>
            <p:ph idx="1"/>
          </p:nvPr>
        </p:nvSpPr>
        <p:spPr/>
        <p:txBody>
          <a:bodyPr/>
          <a:lstStyle/>
          <a:p>
            <a:r>
              <a:rPr lang="es-CR" sz="2400" dirty="0"/>
              <a:t>Correo electrónico</a:t>
            </a:r>
          </a:p>
          <a:p>
            <a:r>
              <a:rPr lang="es-CR" sz="2400" dirty="0"/>
              <a:t>Búsqueda de información</a:t>
            </a:r>
          </a:p>
          <a:p>
            <a:r>
              <a:rPr lang="es-CR" sz="2400" dirty="0"/>
              <a:t>Audio y música</a:t>
            </a:r>
          </a:p>
          <a:p>
            <a:r>
              <a:rPr lang="es-CR" sz="2400" dirty="0"/>
              <a:t>TV y cine</a:t>
            </a:r>
          </a:p>
          <a:p>
            <a:r>
              <a:rPr lang="es-CR" sz="2400" dirty="0"/>
              <a:t>Comercio electrónico</a:t>
            </a:r>
          </a:p>
          <a:p>
            <a:r>
              <a:rPr lang="es-CR" sz="2400" dirty="0"/>
              <a:t>Administración y gobierno</a:t>
            </a:r>
          </a:p>
          <a:p>
            <a:r>
              <a:rPr lang="es-CR" sz="2400" dirty="0"/>
              <a:t>Educación</a:t>
            </a:r>
          </a:p>
          <a:p>
            <a:endParaRPr lang="es-CR" dirty="0"/>
          </a:p>
          <a:p>
            <a:endParaRPr lang="es-C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20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457200" y="642926"/>
            <a:ext cx="7467600" cy="1143000"/>
          </a:xfrm>
        </p:spPr>
        <p:txBody>
          <a:bodyPr>
            <a:normAutofit fontScale="90000"/>
          </a:bodyPr>
          <a:lstStyle/>
          <a:p>
            <a:pPr algn="ctr"/>
            <a:r>
              <a:rPr lang="es-PE" dirty="0">
                <a:solidFill>
                  <a:srgbClr val="FF0000"/>
                </a:solidFill>
              </a:rPr>
              <a:t>¿Que aspecto de la vida humana pueden estar vinculados a las Tic? </a:t>
            </a:r>
            <a:br>
              <a:rPr lang="es-PE" dirty="0"/>
            </a:br>
            <a:endParaRPr lang="es-PE" dirty="0"/>
          </a:p>
        </p:txBody>
      </p:sp>
      <p:sp>
        <p:nvSpPr>
          <p:cNvPr id="3" name="2 Marcador de contenido"/>
          <p:cNvSpPr>
            <a:spLocks noGrp="1"/>
          </p:cNvSpPr>
          <p:nvPr>
            <p:ph idx="1"/>
          </p:nvPr>
        </p:nvSpPr>
        <p:spPr/>
        <p:txBody>
          <a:bodyPr/>
          <a:lstStyle/>
          <a:p>
            <a:pPr algn="just"/>
            <a:r>
              <a:rPr lang="es-PE" sz="2400" dirty="0"/>
              <a:t>En todos los ámbitos en que se desarrolla el hombre, especialmente en los entornos estudiantiles, laborales, instituciones y empresas.</a:t>
            </a:r>
          </a:p>
          <a:p>
            <a:endParaRPr lang="es-PE"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normAutofit/>
          </a:bodyPr>
          <a:lstStyle/>
          <a:p>
            <a:pPr algn="ctr"/>
            <a:r>
              <a:rPr lang="es-PE" dirty="0">
                <a:solidFill>
                  <a:srgbClr val="FF0000"/>
                </a:solidFill>
                <a:latin typeface="Arial" pitchFamily="34" charset="0"/>
                <a:cs typeface="Arial" pitchFamily="34" charset="0"/>
              </a:rPr>
              <a:t>¿De qué forma puede estar las </a:t>
            </a:r>
            <a:r>
              <a:rPr lang="es-PE" dirty="0" err="1">
                <a:solidFill>
                  <a:srgbClr val="FF0000"/>
                </a:solidFill>
                <a:latin typeface="Arial" pitchFamily="34" charset="0"/>
                <a:cs typeface="Arial" pitchFamily="34" charset="0"/>
              </a:rPr>
              <a:t>tic’s</a:t>
            </a:r>
            <a:r>
              <a:rPr lang="es-PE" dirty="0">
                <a:solidFill>
                  <a:srgbClr val="FF0000"/>
                </a:solidFill>
                <a:latin typeface="Arial" pitchFamily="34" charset="0"/>
                <a:cs typeface="Arial" pitchFamily="34" charset="0"/>
              </a:rPr>
              <a:t> vinculada a la educación?</a:t>
            </a:r>
          </a:p>
        </p:txBody>
      </p:sp>
      <p:sp>
        <p:nvSpPr>
          <p:cNvPr id="3" name="2 Marcador de contenido"/>
          <p:cNvSpPr>
            <a:spLocks noGrp="1"/>
          </p:cNvSpPr>
          <p:nvPr>
            <p:ph idx="1"/>
          </p:nvPr>
        </p:nvSpPr>
        <p:spPr>
          <a:xfrm>
            <a:off x="214282" y="1844824"/>
            <a:ext cx="8358246" cy="4870324"/>
          </a:xfrm>
        </p:spPr>
        <p:txBody>
          <a:bodyPr>
            <a:normAutofit/>
          </a:bodyPr>
          <a:lstStyle/>
          <a:p>
            <a:pPr algn="just"/>
            <a:r>
              <a:rPr lang="es-PE" sz="2800" dirty="0">
                <a:latin typeface="Arial" pitchFamily="34" charset="0"/>
                <a:cs typeface="Arial" pitchFamily="34" charset="0"/>
              </a:rPr>
              <a:t>En la Era Internet exige cambios en el mundo </a:t>
            </a:r>
            <a:r>
              <a:rPr lang="es-PE" sz="2800" dirty="0" err="1">
                <a:latin typeface="Arial" pitchFamily="34" charset="0"/>
                <a:cs typeface="Arial" pitchFamily="34" charset="0"/>
              </a:rPr>
              <a:t>educativo.Si</a:t>
            </a:r>
            <a:r>
              <a:rPr lang="es-PE" sz="2800" dirty="0">
                <a:latin typeface="Arial" pitchFamily="34" charset="0"/>
                <a:cs typeface="Arial" pitchFamily="34" charset="0"/>
              </a:rPr>
              <a:t> constituyen poderosas razones para aprovechar las posibilidades de innovación metodológica que ofrecen las Tic para lograr una escuela más eficaz e inclusiva.</a:t>
            </a:r>
          </a:p>
          <a:p>
            <a:pPr algn="just"/>
            <a:r>
              <a:rPr lang="es-PE" sz="2800" dirty="0">
                <a:latin typeface="Arial" pitchFamily="34" charset="0"/>
                <a:cs typeface="Arial" pitchFamily="34" charset="0"/>
              </a:rPr>
              <a:t>Tres Razones para usar Tic en educación:</a:t>
            </a:r>
          </a:p>
          <a:p>
            <a:pPr algn="just">
              <a:buNone/>
            </a:pPr>
            <a:r>
              <a:rPr lang="es-PE" sz="2800" dirty="0">
                <a:latin typeface="Arial" pitchFamily="34" charset="0"/>
                <a:cs typeface="Arial" pitchFamily="34" charset="0"/>
              </a:rPr>
              <a:t>	1- Razón Alfabetización digital de los Alumnos: Todos deben adquirir las competencias básicas en el uso del tic.</a:t>
            </a:r>
          </a:p>
          <a:p>
            <a:endParaRPr lang="es-PE" dirty="0">
              <a:latin typeface="Arial" pitchFamily="34" charset="0"/>
              <a:cs typeface="Arial"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normAutofit/>
          </a:bodyPr>
          <a:lstStyle/>
          <a:p>
            <a:pPr algn="ctr"/>
            <a:r>
              <a:rPr lang="es-PE" dirty="0">
                <a:solidFill>
                  <a:srgbClr val="FF0000"/>
                </a:solidFill>
                <a:latin typeface="Arial" pitchFamily="34" charset="0"/>
                <a:cs typeface="Arial" pitchFamily="34" charset="0"/>
              </a:rPr>
              <a:t>¿De qué forma puede estar las </a:t>
            </a:r>
            <a:r>
              <a:rPr lang="es-PE" dirty="0" err="1">
                <a:solidFill>
                  <a:srgbClr val="FF0000"/>
                </a:solidFill>
                <a:latin typeface="Arial" pitchFamily="34" charset="0"/>
                <a:cs typeface="Arial" pitchFamily="34" charset="0"/>
              </a:rPr>
              <a:t>tic’s</a:t>
            </a:r>
            <a:r>
              <a:rPr lang="es-PE" dirty="0">
                <a:solidFill>
                  <a:srgbClr val="FF0000"/>
                </a:solidFill>
                <a:latin typeface="Arial" pitchFamily="34" charset="0"/>
                <a:cs typeface="Arial" pitchFamily="34" charset="0"/>
              </a:rPr>
              <a:t> vinculada a la educación?</a:t>
            </a:r>
          </a:p>
        </p:txBody>
      </p:sp>
      <p:sp>
        <p:nvSpPr>
          <p:cNvPr id="3" name="2 Marcador de contenido"/>
          <p:cNvSpPr>
            <a:spLocks noGrp="1"/>
          </p:cNvSpPr>
          <p:nvPr>
            <p:ph idx="1"/>
          </p:nvPr>
        </p:nvSpPr>
        <p:spPr>
          <a:xfrm>
            <a:off x="214282" y="1691322"/>
            <a:ext cx="8358246" cy="5023826"/>
          </a:xfrm>
        </p:spPr>
        <p:txBody>
          <a:bodyPr>
            <a:normAutofit fontScale="85000" lnSpcReduction="20000"/>
          </a:bodyPr>
          <a:lstStyle/>
          <a:p>
            <a:pPr algn="just">
              <a:buNone/>
            </a:pPr>
            <a:r>
              <a:rPr lang="es-PE" sz="3200" dirty="0">
                <a:latin typeface="Arial" pitchFamily="34" charset="0"/>
                <a:cs typeface="Arial" pitchFamily="34" charset="0"/>
              </a:rPr>
              <a:t>	2-Razón Productividad: Aprovechar las ventajas que proporcionan al realizar actividades como preparar apuntes y ejercicios, buscar información comunicarnos (e-mail), difundir información (</a:t>
            </a:r>
            <a:r>
              <a:rPr lang="es-PE" sz="3200" dirty="0" err="1">
                <a:latin typeface="Arial" pitchFamily="34" charset="0"/>
                <a:cs typeface="Arial" pitchFamily="34" charset="0"/>
              </a:rPr>
              <a:t>weblogs</a:t>
            </a:r>
            <a:r>
              <a:rPr lang="es-PE" sz="3200" dirty="0">
                <a:latin typeface="Arial" pitchFamily="34" charset="0"/>
                <a:cs typeface="Arial" pitchFamily="34" charset="0"/>
              </a:rPr>
              <a:t>, web de centro y docentes), gestión de biblioteca. </a:t>
            </a:r>
          </a:p>
          <a:p>
            <a:pPr algn="just">
              <a:buNone/>
            </a:pPr>
            <a:r>
              <a:rPr lang="es-PE" sz="3200" dirty="0">
                <a:latin typeface="Arial" pitchFamily="34" charset="0"/>
                <a:cs typeface="Arial" pitchFamily="34" charset="0"/>
              </a:rPr>
              <a:t>	3-Razón Innovación en las Prácticas docentes:</a:t>
            </a:r>
          </a:p>
          <a:p>
            <a:pPr algn="just"/>
            <a:r>
              <a:rPr lang="es-PE" sz="3200" dirty="0">
                <a:latin typeface="Arial" pitchFamily="34" charset="0"/>
                <a:cs typeface="Arial" pitchFamily="34" charset="0"/>
              </a:rPr>
              <a:t>Aprovechar las nuevas posibilidades didácticas que ofrecen las Tic para lograr que los alumnos realicen mejores aprendizaje.</a:t>
            </a:r>
          </a:p>
          <a:p>
            <a:pPr algn="just"/>
            <a:r>
              <a:rPr lang="es-PE" sz="3200" dirty="0">
                <a:latin typeface="Arial" pitchFamily="34" charset="0"/>
                <a:cs typeface="Arial" pitchFamily="34" charset="0"/>
              </a:rPr>
              <a:t>En las instituciones educativas formales van incluyendo la alfabetización digital en sus programas, además de utilizar los recursos del Tic para su gestión y como instrumento didáctico. </a:t>
            </a:r>
          </a:p>
        </p:txBody>
      </p:sp>
    </p:spTree>
    <p:extLst>
      <p:ext uri="{BB962C8B-B14F-4D97-AF65-F5344CB8AC3E}">
        <p14:creationId xmlns:p14="http://schemas.microsoft.com/office/powerpoint/2010/main" val="3153469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pPr algn="ctr"/>
            <a:r>
              <a:rPr lang="es-PE" dirty="0">
                <a:solidFill>
                  <a:srgbClr val="FF0000"/>
                </a:solidFill>
              </a:rPr>
              <a:t>¿qué son medios de comunicación?</a:t>
            </a:r>
          </a:p>
        </p:txBody>
      </p:sp>
      <p:sp>
        <p:nvSpPr>
          <p:cNvPr id="3" name="2 Marcador de contenido"/>
          <p:cNvSpPr>
            <a:spLocks noGrp="1"/>
          </p:cNvSpPr>
          <p:nvPr>
            <p:ph idx="1"/>
          </p:nvPr>
        </p:nvSpPr>
        <p:spPr/>
        <p:txBody>
          <a:bodyPr/>
          <a:lstStyle/>
          <a:p>
            <a:pPr algn="just"/>
            <a:r>
              <a:rPr lang="es-PE" sz="2400" dirty="0">
                <a:latin typeface="Arial" pitchFamily="34" charset="0"/>
                <a:cs typeface="Arial" pitchFamily="34" charset="0"/>
              </a:rPr>
              <a:t>Para algunos, los medios de comunicación son la manera más eficaz y rápida de transmitir un mensaje, para otros, son un vehículo de manipulación social mediante el cual los diferentes poderes de la sociedad se hacen escuchar, así como también hay quienes piensan en los medios de comunicación como si de un reflejo de la sociedad del momento se tratase, como en un medio gracias al cual es posible manifestar lo positivo y lo negativo de una situación o de un contexto determinados.</a:t>
            </a:r>
          </a:p>
          <a:p>
            <a:pPr algn="just"/>
            <a:endParaRPr lang="es-PE" dirty="0"/>
          </a:p>
          <a:p>
            <a:pPr algn="just"/>
            <a:endParaRPr lang="es-PE"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pPr algn="ctr"/>
            <a:r>
              <a:rPr lang="es-PE" dirty="0">
                <a:solidFill>
                  <a:srgbClr val="FF0000"/>
                </a:solidFill>
              </a:rPr>
              <a:t>¿qué son medios de comunicación?</a:t>
            </a:r>
          </a:p>
        </p:txBody>
      </p:sp>
      <p:sp>
        <p:nvSpPr>
          <p:cNvPr id="3" name="2 Marcador de contenido"/>
          <p:cNvSpPr>
            <a:spLocks noGrp="1"/>
          </p:cNvSpPr>
          <p:nvPr>
            <p:ph idx="1"/>
          </p:nvPr>
        </p:nvSpPr>
        <p:spPr/>
        <p:txBody>
          <a:bodyPr>
            <a:normAutofit lnSpcReduction="10000"/>
          </a:bodyPr>
          <a:lstStyle/>
          <a:p>
            <a:pPr algn="just"/>
            <a:r>
              <a:rPr lang="es-PE" sz="2400" dirty="0">
                <a:latin typeface="Arial" pitchFamily="34" charset="0"/>
                <a:cs typeface="Arial" pitchFamily="34" charset="0"/>
              </a:rPr>
              <a:t>Los medios de comunicación son los instrumentos mediante los cuales se informa y se comunica de forma masiva; son la manera como las personas, los miembros de una sociedad o de una comunidad se enteran de lo que sucede a su alrededor a nivel económico, político, social, etc. Los medios de comunicación son la representación física de la comunicación en nuestro mundo; es decir, son el canal mediante el cual la información se obtiene, se procesa y, finalmente, se expresa, se comunica.</a:t>
            </a:r>
          </a:p>
          <a:p>
            <a:pPr algn="just"/>
            <a:endParaRPr lang="es-PE"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457200" y="274638"/>
            <a:ext cx="7467600" cy="439718"/>
          </a:xfrm>
        </p:spPr>
        <p:txBody>
          <a:bodyPr>
            <a:normAutofit fontScale="90000"/>
          </a:bodyPr>
          <a:lstStyle/>
          <a:p>
            <a:r>
              <a:rPr lang="es-PE" dirty="0">
                <a:solidFill>
                  <a:srgbClr val="FF0000"/>
                </a:solidFill>
              </a:rPr>
              <a:t>Divisiones</a:t>
            </a:r>
          </a:p>
        </p:txBody>
      </p:sp>
      <p:sp>
        <p:nvSpPr>
          <p:cNvPr id="3" name="2 Marcador de contenido"/>
          <p:cNvSpPr>
            <a:spLocks noGrp="1"/>
          </p:cNvSpPr>
          <p:nvPr>
            <p:ph idx="1"/>
          </p:nvPr>
        </p:nvSpPr>
        <p:spPr>
          <a:xfrm>
            <a:off x="285720" y="1268760"/>
            <a:ext cx="8358246" cy="5205192"/>
          </a:xfrm>
        </p:spPr>
        <p:txBody>
          <a:bodyPr>
            <a:noAutofit/>
          </a:bodyPr>
          <a:lstStyle/>
          <a:p>
            <a:pPr algn="just"/>
            <a:r>
              <a:rPr lang="es-PE" sz="2400" dirty="0">
                <a:latin typeface="Arial" pitchFamily="34" charset="0"/>
                <a:cs typeface="Arial" pitchFamily="34" charset="0"/>
              </a:rPr>
              <a:t>Por su estructura física:</a:t>
            </a:r>
          </a:p>
          <a:p>
            <a:pPr algn="just">
              <a:buNone/>
            </a:pPr>
            <a:r>
              <a:rPr lang="es-PE" sz="2400" dirty="0">
                <a:latin typeface="Arial" pitchFamily="34" charset="0"/>
                <a:cs typeface="Arial" pitchFamily="34" charset="0"/>
              </a:rPr>
              <a:t>	</a:t>
            </a:r>
            <a:r>
              <a:rPr lang="es-PE" sz="2400" b="1" dirty="0">
                <a:solidFill>
                  <a:schemeClr val="accent2">
                    <a:lumMod val="50000"/>
                  </a:schemeClr>
                </a:solidFill>
                <a:latin typeface="Arial" pitchFamily="34" charset="0"/>
                <a:cs typeface="Arial" pitchFamily="34" charset="0"/>
              </a:rPr>
              <a:t>Medios audiovisuales</a:t>
            </a:r>
            <a:r>
              <a:rPr lang="es-PE" sz="2400" dirty="0">
                <a:latin typeface="Arial" pitchFamily="34" charset="0"/>
                <a:cs typeface="Arial" pitchFamily="34" charset="0"/>
              </a:rPr>
              <a:t>.-son los medios que se basan en imágenes y sonidos para expresar la información. Hacen parte de ese grupo la televisión y el cine (Noticieros, documentales, reportajes, entrevistas, programas culturales, científicos y ambientales, etc.)</a:t>
            </a:r>
          </a:p>
          <a:p>
            <a:pPr algn="just"/>
            <a:r>
              <a:rPr lang="es-PE" sz="2400" b="1" dirty="0">
                <a:solidFill>
                  <a:schemeClr val="accent2">
                    <a:lumMod val="50000"/>
                  </a:schemeClr>
                </a:solidFill>
                <a:latin typeface="Arial" pitchFamily="34" charset="0"/>
                <a:cs typeface="Arial" pitchFamily="34" charset="0"/>
              </a:rPr>
              <a:t>Medios radiofónicos.- </a:t>
            </a:r>
            <a:r>
              <a:rPr lang="es-PE" sz="2400" dirty="0">
                <a:latin typeface="Arial" pitchFamily="34" charset="0"/>
                <a:cs typeface="Arial" pitchFamily="34" charset="0"/>
              </a:rPr>
              <a:t>Lo constituye la radio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457200" y="274638"/>
            <a:ext cx="7467600" cy="439718"/>
          </a:xfrm>
        </p:spPr>
        <p:txBody>
          <a:bodyPr>
            <a:normAutofit fontScale="90000"/>
          </a:bodyPr>
          <a:lstStyle/>
          <a:p>
            <a:r>
              <a:rPr lang="es-PE" dirty="0">
                <a:solidFill>
                  <a:srgbClr val="FF0000"/>
                </a:solidFill>
              </a:rPr>
              <a:t>Divisiones</a:t>
            </a:r>
          </a:p>
        </p:txBody>
      </p:sp>
      <p:sp>
        <p:nvSpPr>
          <p:cNvPr id="3" name="2 Marcador de contenido"/>
          <p:cNvSpPr>
            <a:spLocks noGrp="1"/>
          </p:cNvSpPr>
          <p:nvPr>
            <p:ph idx="1"/>
          </p:nvPr>
        </p:nvSpPr>
        <p:spPr>
          <a:xfrm>
            <a:off x="285720" y="1124744"/>
            <a:ext cx="8358246" cy="5349208"/>
          </a:xfrm>
        </p:spPr>
        <p:txBody>
          <a:bodyPr>
            <a:noAutofit/>
          </a:bodyPr>
          <a:lstStyle/>
          <a:p>
            <a:pPr algn="just"/>
            <a:r>
              <a:rPr lang="es-PE" sz="2300" dirty="0">
                <a:latin typeface="Arial" pitchFamily="34" charset="0"/>
                <a:cs typeface="Arial" pitchFamily="34" charset="0"/>
              </a:rPr>
              <a:t>Por su estructura física:</a:t>
            </a:r>
          </a:p>
          <a:p>
            <a:pPr algn="just">
              <a:buNone/>
            </a:pPr>
            <a:r>
              <a:rPr lang="es-PE" sz="2300" dirty="0">
                <a:latin typeface="Arial" pitchFamily="34" charset="0"/>
                <a:cs typeface="Arial" pitchFamily="34" charset="0"/>
              </a:rPr>
              <a:t>	</a:t>
            </a:r>
            <a:r>
              <a:rPr lang="es-PE" sz="2300" b="1" dirty="0">
                <a:solidFill>
                  <a:schemeClr val="accent2">
                    <a:lumMod val="50000"/>
                  </a:schemeClr>
                </a:solidFill>
                <a:latin typeface="Arial" pitchFamily="34" charset="0"/>
                <a:cs typeface="Arial" pitchFamily="34" charset="0"/>
              </a:rPr>
              <a:t>Medios impresos.- </a:t>
            </a:r>
            <a:r>
              <a:rPr lang="es-PE" sz="2300" dirty="0">
                <a:latin typeface="Arial" pitchFamily="34" charset="0"/>
                <a:cs typeface="Arial" pitchFamily="34" charset="0"/>
              </a:rPr>
              <a:t>Éstos son las revistas, los periódicos, los magazines, los folletos y, en general, todas las publicaciones impresas en papel que tengan como objetivo informar.</a:t>
            </a:r>
          </a:p>
          <a:p>
            <a:pPr algn="just"/>
            <a:r>
              <a:rPr lang="es-PE" sz="2300" b="1" dirty="0">
                <a:solidFill>
                  <a:schemeClr val="accent2">
                    <a:lumMod val="50000"/>
                  </a:schemeClr>
                </a:solidFill>
                <a:latin typeface="Arial" pitchFamily="34" charset="0"/>
                <a:cs typeface="Arial" pitchFamily="34" charset="0"/>
              </a:rPr>
              <a:t>Medios digitales.- </a:t>
            </a:r>
            <a:r>
              <a:rPr lang="es-PE" sz="2300" dirty="0">
                <a:latin typeface="Arial" pitchFamily="34" charset="0"/>
                <a:cs typeface="Arial" pitchFamily="34" charset="0"/>
              </a:rPr>
              <a:t>También llamados "nuevos medios" o "nuevas tecnologías". Son los medios más usados actualmente por los jóvenes y, en general, por las personas amantes de la tecnología. Habitualmente se accede a ellos a través de internet,</a:t>
            </a:r>
            <a:endParaRPr lang="es-PE" sz="2300" b="1" dirty="0">
              <a:latin typeface="Arial" pitchFamily="34" charset="0"/>
              <a:cs typeface="Arial" pitchFamily="34" charset="0"/>
            </a:endParaRPr>
          </a:p>
        </p:txBody>
      </p:sp>
    </p:spTree>
    <p:extLst>
      <p:ext uri="{BB962C8B-B14F-4D97-AF65-F5344CB8AC3E}">
        <p14:creationId xmlns:p14="http://schemas.microsoft.com/office/powerpoint/2010/main" val="6905475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457200" y="274638"/>
            <a:ext cx="7467600" cy="725470"/>
          </a:xfrm>
        </p:spPr>
        <p:txBody>
          <a:bodyPr/>
          <a:lstStyle/>
          <a:p>
            <a:r>
              <a:rPr lang="es-PE" dirty="0">
                <a:solidFill>
                  <a:srgbClr val="FF0000"/>
                </a:solidFill>
              </a:rPr>
              <a:t>Por su carácter</a:t>
            </a:r>
          </a:p>
        </p:txBody>
      </p:sp>
      <p:sp>
        <p:nvSpPr>
          <p:cNvPr id="3" name="2 Marcador de contenido"/>
          <p:cNvSpPr>
            <a:spLocks noGrp="1"/>
          </p:cNvSpPr>
          <p:nvPr>
            <p:ph idx="1"/>
          </p:nvPr>
        </p:nvSpPr>
        <p:spPr>
          <a:xfrm>
            <a:off x="457200" y="1412776"/>
            <a:ext cx="8186766" cy="5061176"/>
          </a:xfrm>
        </p:spPr>
        <p:txBody>
          <a:bodyPr>
            <a:normAutofit/>
          </a:bodyPr>
          <a:lstStyle/>
          <a:p>
            <a:pPr algn="just"/>
            <a:r>
              <a:rPr lang="es-PE" sz="2400" b="1" dirty="0">
                <a:solidFill>
                  <a:schemeClr val="accent2">
                    <a:lumMod val="50000"/>
                  </a:schemeClr>
                </a:solidFill>
                <a:latin typeface="Arial" pitchFamily="34" charset="0"/>
                <a:cs typeface="Arial" pitchFamily="34" charset="0"/>
              </a:rPr>
              <a:t>Informativos.-</a:t>
            </a:r>
            <a:r>
              <a:rPr lang="es-PE" sz="2400" dirty="0">
                <a:latin typeface="Arial" pitchFamily="34" charset="0"/>
                <a:cs typeface="Arial" pitchFamily="34" charset="0"/>
              </a:rPr>
              <a:t>conformado por los noticieros, las emisoras que emiten noticias durante casi todo el día, las revistas de análisis e información y, por supuesto, los periódicos o diarios informativos</a:t>
            </a:r>
          </a:p>
          <a:p>
            <a:pPr algn="just"/>
            <a:r>
              <a:rPr lang="es-PE" sz="2400" b="1" dirty="0">
                <a:solidFill>
                  <a:schemeClr val="accent2">
                    <a:lumMod val="50000"/>
                  </a:schemeClr>
                </a:solidFill>
                <a:latin typeface="Arial" pitchFamily="34" charset="0"/>
                <a:cs typeface="Arial" pitchFamily="34" charset="0"/>
              </a:rPr>
              <a:t>De entretenimiento.- </a:t>
            </a:r>
            <a:r>
              <a:rPr lang="es-PE" sz="2400" dirty="0">
                <a:latin typeface="Arial" pitchFamily="34" charset="0"/>
                <a:cs typeface="Arial" pitchFamily="34" charset="0"/>
              </a:rPr>
              <a:t>buscan divertir, </a:t>
            </a:r>
            <a:r>
              <a:rPr lang="es-PE" sz="2400" dirty="0" err="1">
                <a:latin typeface="Arial" pitchFamily="34" charset="0"/>
                <a:cs typeface="Arial" pitchFamily="34" charset="0"/>
              </a:rPr>
              <a:t>distensionar</a:t>
            </a:r>
            <a:r>
              <a:rPr lang="es-PE" sz="2400" dirty="0">
                <a:latin typeface="Arial" pitchFamily="34" charset="0"/>
                <a:cs typeface="Arial" pitchFamily="34" charset="0"/>
              </a:rPr>
              <a:t> o recrear a las personas valiéndose de recursos como el humor, la información sobre farándula, cine o televisión, los concursos, la emisión de música, los dibujos, los deportes, etc. </a:t>
            </a:r>
            <a:endParaRPr lang="es-PE" sz="2400" b="1" dirty="0">
              <a:solidFill>
                <a:schemeClr val="accent2">
                  <a:lumMod val="50000"/>
                </a:schemeClr>
              </a:solidFill>
              <a:latin typeface="Arial" pitchFamily="34" charset="0"/>
              <a:cs typeface="Arial"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457200" y="274638"/>
            <a:ext cx="7467600" cy="725470"/>
          </a:xfrm>
        </p:spPr>
        <p:txBody>
          <a:bodyPr/>
          <a:lstStyle/>
          <a:p>
            <a:r>
              <a:rPr lang="es-PE" dirty="0">
                <a:solidFill>
                  <a:srgbClr val="FF0000"/>
                </a:solidFill>
              </a:rPr>
              <a:t>Por su carácter</a:t>
            </a:r>
          </a:p>
        </p:txBody>
      </p:sp>
      <p:sp>
        <p:nvSpPr>
          <p:cNvPr id="3" name="2 Marcador de contenido"/>
          <p:cNvSpPr>
            <a:spLocks noGrp="1"/>
          </p:cNvSpPr>
          <p:nvPr>
            <p:ph idx="1"/>
          </p:nvPr>
        </p:nvSpPr>
        <p:spPr>
          <a:xfrm>
            <a:off x="457200" y="1484784"/>
            <a:ext cx="8186766" cy="4989168"/>
          </a:xfrm>
        </p:spPr>
        <p:txBody>
          <a:bodyPr>
            <a:normAutofit/>
          </a:bodyPr>
          <a:lstStyle/>
          <a:p>
            <a:pPr algn="just"/>
            <a:r>
              <a:rPr lang="es-PE" sz="2400" dirty="0">
                <a:solidFill>
                  <a:schemeClr val="accent2">
                    <a:lumMod val="50000"/>
                  </a:schemeClr>
                </a:solidFill>
                <a:latin typeface="Arial" pitchFamily="34" charset="0"/>
                <a:cs typeface="Arial" pitchFamily="34" charset="0"/>
              </a:rPr>
              <a:t>De análisis.-</a:t>
            </a:r>
            <a:r>
              <a:rPr lang="es-PE" sz="2400" dirty="0">
                <a:latin typeface="Arial" pitchFamily="34" charset="0"/>
                <a:cs typeface="Arial" pitchFamily="34" charset="0"/>
              </a:rPr>
              <a:t>Su finalidad esencial es examinar, investigar, explicar y entender lo que está pasando para darle mayor dimensión a una noticia, pero, sobre todo, para que el público entienda las causas y consecuencias de dicha noticia.</a:t>
            </a:r>
          </a:p>
          <a:p>
            <a:pPr algn="just"/>
            <a:r>
              <a:rPr lang="es-PE" sz="2400" dirty="0">
                <a:solidFill>
                  <a:schemeClr val="accent2">
                    <a:lumMod val="50000"/>
                  </a:schemeClr>
                </a:solidFill>
                <a:latin typeface="Arial" pitchFamily="34" charset="0"/>
                <a:cs typeface="Arial" pitchFamily="34" charset="0"/>
              </a:rPr>
              <a:t>Especializados.-</a:t>
            </a:r>
            <a:r>
              <a:rPr lang="es-PE" sz="2400" dirty="0">
                <a:latin typeface="Arial" pitchFamily="34" charset="0"/>
                <a:cs typeface="Arial" pitchFamily="34" charset="0"/>
              </a:rPr>
              <a:t>dentro de este tipo de medios entran lo cultural, lo científico y, en general, todos los temas que le interesan a un sector determinado del público.</a:t>
            </a:r>
            <a:endParaRPr lang="es-PE" sz="2400" dirty="0">
              <a:solidFill>
                <a:schemeClr val="accent2">
                  <a:lumMod val="50000"/>
                </a:schemeClr>
              </a:solidFill>
              <a:latin typeface="Arial" pitchFamily="34" charset="0"/>
              <a:cs typeface="Arial" pitchFamily="34" charset="0"/>
            </a:endParaRPr>
          </a:p>
        </p:txBody>
      </p:sp>
    </p:spTree>
    <p:extLst>
      <p:ext uri="{BB962C8B-B14F-4D97-AF65-F5344CB8AC3E}">
        <p14:creationId xmlns:p14="http://schemas.microsoft.com/office/powerpoint/2010/main" val="3002634114"/>
      </p:ext>
    </p:extLst>
  </p:cSld>
  <p:clrMapOvr>
    <a:masterClrMapping/>
  </p:clrMapOvr>
</p:sld>
</file>

<file path=ppt/theme/theme1.xml><?xml version="1.0" encoding="utf-8"?>
<a:theme xmlns:a="http://schemas.openxmlformats.org/drawingml/2006/main" name="View">
  <a:themeElements>
    <a:clrScheme name="View">
      <a:dk1>
        <a:sysClr val="windowText" lastClr="000000"/>
      </a:dk1>
      <a:lt1>
        <a:sysClr val="window" lastClr="FFFFFF"/>
      </a:lt1>
      <a:dk2>
        <a:srgbClr val="564B3C"/>
      </a:dk2>
      <a:lt2>
        <a:srgbClr val="ECEDD1"/>
      </a:lt2>
      <a:accent1>
        <a:srgbClr val="93A299"/>
      </a:accent1>
      <a:accent2>
        <a:srgbClr val="CB4B30"/>
      </a:accent2>
      <a:accent3>
        <a:srgbClr val="B5AE53"/>
      </a:accent3>
      <a:accent4>
        <a:srgbClr val="6F6A7A"/>
      </a:accent4>
      <a:accent5>
        <a:srgbClr val="E8B54D"/>
      </a:accent5>
      <a:accent6>
        <a:srgbClr val="8A7952"/>
      </a:accent6>
      <a:hlink>
        <a:srgbClr val="9F9F0B"/>
      </a:hlink>
      <a:folHlink>
        <a:srgbClr val="B2B2B2"/>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3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3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866257B-E5CE-4C43-9210-F2DE76BE10B5}"/>
    </a:ext>
  </a:extLst>
</a:theme>
</file>

<file path=docProps/app.xml><?xml version="1.0" encoding="utf-8"?>
<Properties xmlns="http://schemas.openxmlformats.org/officeDocument/2006/extended-properties" xmlns:vt="http://schemas.openxmlformats.org/officeDocument/2006/docPropsVTypes">
  <Template>TM03457515[[fn=View]]</Template>
  <TotalTime>69</TotalTime>
  <Words>798</Words>
  <Application>Microsoft Office PowerPoint</Application>
  <PresentationFormat>On-screen Show (4:3)</PresentationFormat>
  <Paragraphs>74</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Century Schoolbook</vt:lpstr>
      <vt:lpstr>Wingdings 2</vt:lpstr>
      <vt:lpstr>View</vt:lpstr>
      <vt:lpstr>Las tecnologías de la Información y La Comunicación </vt:lpstr>
      <vt:lpstr>Tecnologías</vt:lpstr>
      <vt:lpstr>¿Qué son las TIC’s?  </vt:lpstr>
      <vt:lpstr>TIC</vt:lpstr>
      <vt:lpstr>Las redes</vt:lpstr>
      <vt:lpstr>Las tecnologías.</vt:lpstr>
      <vt:lpstr>Las terminales</vt:lpstr>
      <vt:lpstr>Terminales</vt:lpstr>
      <vt:lpstr>Servicios de las TIC</vt:lpstr>
      <vt:lpstr>¿Que aspecto de la vida humana pueden estar vinculados a las Tic?  </vt:lpstr>
      <vt:lpstr>¿De qué forma puede estar las tic’s vinculada a la educación?</vt:lpstr>
      <vt:lpstr>¿De qué forma puede estar las tic’s vinculada a la educación?</vt:lpstr>
      <vt:lpstr>¿qué son medios de comunicación?</vt:lpstr>
      <vt:lpstr>¿qué son medios de comunicación?</vt:lpstr>
      <vt:lpstr>Divisiones</vt:lpstr>
      <vt:lpstr>Divisiones</vt:lpstr>
      <vt:lpstr>Por su carácter</vt:lpstr>
      <vt:lpstr>Por su carácter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Las tecnologías de la Información y Comunicación</dc:title>
  <dc:creator>user</dc:creator>
  <cp:lastModifiedBy>Eric Velazquez</cp:lastModifiedBy>
  <cp:revision>13</cp:revision>
  <dcterms:created xsi:type="dcterms:W3CDTF">2012-05-24T22:23:44Z</dcterms:created>
  <dcterms:modified xsi:type="dcterms:W3CDTF">2019-02-19T11:49:59Z</dcterms:modified>
</cp:coreProperties>
</file>